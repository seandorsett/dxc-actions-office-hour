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3.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948" r:id="rId4"/>
  </p:sldMasterIdLst>
  <p:notesMasterIdLst>
    <p:notesMasterId r:id="rId13"/>
  </p:notesMasterIdLst>
  <p:handoutMasterIdLst>
    <p:handoutMasterId r:id="rId14"/>
  </p:handoutMasterIdLst>
  <p:sldIdLst>
    <p:sldId id="256" r:id="rId12"/>
    <p:sldId id="257" r:id="rId11"/>
    <p:sldId id="258" r:id="rId10"/>
    <p:sldId id="259" r:id="rId9"/>
    <p:sldId id="260" r:id="rId8"/>
    <p:sldId id="261" r:id="rId7"/>
    <p:sldId id="262" r:id="rId6"/>
    <p:sldId id="263" r:id="rId5"/>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Lst>
  <p:sldSz cx="14630400" cy="8229600"/>
  <p:notesSz cx="7772400" cy="14173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8" userDrawn="1">
          <p15:clr>
            <a:srgbClr val="A4A3A4"/>
          </p15:clr>
        </p15:guide>
        <p15:guide id="2" orient="horz" pos="2592" userDrawn="1">
          <p15:clr>
            <a:srgbClr val="A4A3A4"/>
          </p15:clr>
        </p15:guide>
        <p15:guide id="3" orient="horz" pos="4512" userDrawn="1">
          <p15:clr>
            <a:srgbClr val="A4A3A4"/>
          </p15:clr>
        </p15:guide>
        <p15:guide id="4" orient="horz" pos="4896" userDrawn="1">
          <p15:clr>
            <a:srgbClr val="A4A3A4"/>
          </p15:clr>
        </p15:guide>
        <p15:guide id="5" pos="7488" userDrawn="1">
          <p15:clr>
            <a:srgbClr val="A4A3A4"/>
          </p15:clr>
        </p15:guide>
        <p15:guide id="6" pos="432" userDrawn="1">
          <p15:clr>
            <a:srgbClr val="A4A3A4"/>
          </p15:clr>
        </p15:guide>
        <p15:guide id="7" pos="3024" userDrawn="1">
          <p15:clr>
            <a:srgbClr val="A4A3A4"/>
          </p15:clr>
        </p15:guide>
        <p15:guide id="8" pos="3312" userDrawn="1">
          <p15:clr>
            <a:srgbClr val="A4A3A4"/>
          </p15:clr>
        </p15:guide>
        <p15:guide id="9" pos="4464" userDrawn="1">
          <p15:clr>
            <a:srgbClr val="A4A3A4"/>
          </p15:clr>
        </p15:guide>
        <p15:guide id="10" pos="4608" userDrawn="1">
          <p15:clr>
            <a:srgbClr val="A4A3A4"/>
          </p15:clr>
        </p15:guide>
        <p15:guide id="11" pos="4752" userDrawn="1">
          <p15:clr>
            <a:srgbClr val="A4A3A4"/>
          </p15:clr>
        </p15:guide>
        <p15:guide id="12" pos="5904" userDrawn="1">
          <p15:clr>
            <a:srgbClr val="A4A3A4"/>
          </p15:clr>
        </p15:guide>
        <p15:guide id="13" pos="6192" userDrawn="1">
          <p15:clr>
            <a:srgbClr val="A4A3A4"/>
          </p15:clr>
        </p15:guide>
        <p15:guide id="14" pos="8784" userDrawn="1">
          <p15:clr>
            <a:srgbClr val="A4A3A4"/>
          </p15:clr>
        </p15:guide>
      </p15:sldGuideLst>
    </p:ext>
    <p:ext uri="{2D200454-40CA-4A62-9FC3-DE9A4176ACB9}">
      <p15:notesGuideLst xmlns:p15="http://schemas.microsoft.com/office/powerpoint/2012/main">
        <p15:guide id="1" orient="horz" pos="4464" userDrawn="1">
          <p15:clr>
            <a:srgbClr val="A4A3A4"/>
          </p15:clr>
        </p15:guide>
        <p15:guide id="2" pos="244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69696"/>
    <a:srgbClr val="63666A"/>
    <a:srgbClr val="F9F048"/>
    <a:srgbClr val="FFCD00"/>
    <a:srgbClr val="D9DF23"/>
    <a:srgbClr val="666666"/>
    <a:srgbClr val="330072"/>
    <a:srgbClr val="60249E"/>
    <a:srgbClr val="1870B9"/>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C91A58-9503-43A0-B2AA-26A62EB3BDAD}" v="2" dt="2026-06-01T13:44:04.556"/>
  </p1510:revLst>
</p1510:revInfo>
</file>

<file path=ppt/tableStyles.xml><?xml version="1.0" encoding="utf-8"?>
<a:tblStyleLst xmlns:a="http://schemas.openxmlformats.org/drawingml/2006/main" def="{45BD5076-5073-49C7-9E08-65982F3C9860}">
  <a:tblStyle styleId="{45BD5076-5073-49C7-9E08-65982F3C9860}" styleName="DXC Table">
    <a:wholeTbl>
      <a:tcTxStyle>
        <a:fontRef idx="minor"/>
        <a:srgbClr val="000000"/>
      </a:tcTxStyle>
      <a:tcStyle>
        <a:tcBdr>
          <a:left>
            <a:ln>
              <a:noFill/>
            </a:ln>
          </a:left>
          <a:right>
            <a:ln>
              <a:noFill/>
            </a:ln>
          </a:right>
          <a:top>
            <a:ln w="6350">
              <a:solidFill>
                <a:srgbClr val="000000"/>
              </a:solidFill>
            </a:ln>
          </a:top>
          <a:bottom>
            <a:ln w="6350">
              <a:solidFill>
                <a:srgbClr val="000000"/>
              </a:solidFill>
            </a:ln>
          </a:bottom>
          <a:insideH>
            <a:ln w="6350">
              <a:solidFill>
                <a:srgbClr val="000000"/>
              </a:solidFill>
            </a:ln>
          </a:insideH>
          <a:insideV>
            <a:ln>
              <a:noFill/>
            </a:ln>
          </a:insideV>
        </a:tcBdr>
        <a:fill>
          <a:noFill/>
        </a:fill>
      </a:tcStyle>
    </a:wholeTbl>
    <a:lastCol>
      <a:tcTxStyle b="on">
        <a:fontRef idx="major"/>
        <a:srgbClr val="000000"/>
      </a:tcTxStyle>
      <a:tcStyle>
        <a:tcBdr/>
      </a:tcStyle>
    </a:lastCol>
    <a:firstCol>
      <a:tcTxStyle b="on">
        <a:fontRef idx="major"/>
        <a:srgbClr val="000000"/>
      </a:tcTxStyle>
      <a:tcStyle>
        <a:tcBdr/>
      </a:tcStyle>
    </a:firstCol>
    <a:lastRow>
      <a:tcTxStyle b="on">
        <a:fontRef idx="major"/>
        <a:srgbClr val="000000"/>
      </a:tcTxStyle>
      <a:tcStyle>
        <a:tcBdr>
          <a:top>
            <a:ln w="19050">
              <a:solidFill>
                <a:srgbClr val="000000"/>
              </a:solidFill>
            </a:ln>
          </a:top>
          <a:bottom>
            <a:ln>
              <a:noFill/>
            </a:ln>
          </a:bottom>
        </a:tcBdr>
        <a:fill>
          <a:noFill/>
        </a:fill>
      </a:tcStyle>
    </a:lastRow>
    <a:firstRow>
      <a:tcTxStyle b="on">
        <a:fontRef idx="major"/>
        <a:srgbClr val="000000"/>
      </a:tcTxStyle>
      <a:tcStyle>
        <a:tcBdr>
          <a:top>
            <a:ln>
              <a:noFill/>
            </a:ln>
          </a:top>
          <a:bottom>
            <a:ln w="19050">
              <a:solidFill>
                <a:srgbClr val="000000"/>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828" y="84"/>
      </p:cViewPr>
      <p:guideLst>
        <p:guide orient="horz" pos="408"/>
        <p:guide orient="horz" pos="2592"/>
        <p:guide orient="horz" pos="4512"/>
        <p:guide orient="horz" pos="4896"/>
        <p:guide pos="7488"/>
        <p:guide pos="432"/>
        <p:guide pos="3024"/>
        <p:guide pos="3312"/>
        <p:guide pos="4464"/>
        <p:guide pos="4608"/>
        <p:guide pos="4752"/>
        <p:guide pos="5904"/>
        <p:guide pos="6192"/>
        <p:guide pos="8784"/>
      </p:guideLst>
    </p:cSldViewPr>
  </p:slideViewPr>
  <p:notesTextViewPr>
    <p:cViewPr>
      <p:scale>
        <a:sx n="1" d="1"/>
        <a:sy n="1" d="1"/>
      </p:scale>
      <p:origin x="0" y="0"/>
    </p:cViewPr>
  </p:notesTextViewPr>
  <p:notesViewPr>
    <p:cSldViewPr snapToGrid="0">
      <p:cViewPr>
        <p:scale>
          <a:sx n="1" d="2"/>
          <a:sy n="1" d="2"/>
        </p:scale>
        <p:origin x="0" y="0"/>
      </p:cViewPr>
      <p:guideLst>
        <p:guide orient="horz" pos="4464"/>
        <p:guide pos="2448"/>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5.xml"/><Relationship Id="rId9" Type="http://schemas.openxmlformats.org/officeDocument/2006/relationships/slide" Target="slides/slide4.xml"/><Relationship Id="rId10" Type="http://schemas.openxmlformats.org/officeDocument/2006/relationships/slide" Target="slides/slide3.xml"/><Relationship Id="rId11" Type="http://schemas.openxmlformats.org/officeDocument/2006/relationships/slide" Target="slides/slide2.xml"/><Relationship Id="rId12" Type="http://schemas.openxmlformats.org/officeDocument/2006/relationships/slide" Target="slides/slide1.xml"/><Relationship Id="rId13" Type="http://schemas.openxmlformats.org/officeDocument/2006/relationships/notesMaster" Target="notesMasters/notesMaster1.xml"/><Relationship Id="rId14" Type="http://schemas.openxmlformats.org/officeDocument/2006/relationships/handoutMaster" Target="handoutMasters/handoutMaster1.xml"/><Relationship Id="rId15" Type="http://schemas.openxmlformats.org/officeDocument/2006/relationships/commentAuthors" Target="commentAuthors.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microsoft.com/office/2015/10/relationships/revisionInfo" Target="revisionInfo.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040" cy="708660"/>
          </a:xfrm>
          <a:prstGeom prst="rect">
            <a:avLst/>
          </a:prstGeom>
        </p:spPr>
        <p:txBody>
          <a:bodyPr vert="horz" lIns="125401" tIns="62700" rIns="125401" bIns="62700" rtlCol="0"/>
          <a:lstStyle>
            <a:lvl1pPr algn="l">
              <a:defRPr sz="1600"/>
            </a:lvl1pPr>
          </a:lstStyle>
          <a:p>
            <a:endParaRPr lang="en-US">
              <a:latin typeface="Arial"/>
              <a:cs typeface="Arial"/>
            </a:endParaRPr>
          </a:p>
        </p:txBody>
      </p:sp>
      <p:sp>
        <p:nvSpPr>
          <p:cNvPr id="4" name="Footer Placeholder 3"/>
          <p:cNvSpPr>
            <a:spLocks noGrp="1"/>
          </p:cNvSpPr>
          <p:nvPr>
            <p:ph type="ftr" sz="quarter" idx="2"/>
          </p:nvPr>
        </p:nvSpPr>
        <p:spPr>
          <a:xfrm>
            <a:off x="0" y="13462080"/>
            <a:ext cx="3368040" cy="708660"/>
          </a:xfrm>
          <a:prstGeom prst="rect">
            <a:avLst/>
          </a:prstGeom>
        </p:spPr>
        <p:txBody>
          <a:bodyPr vert="horz" lIns="125401" tIns="62700" rIns="125401" bIns="62700" rtlCol="0" anchor="b"/>
          <a:lstStyle>
            <a:lvl1pPr algn="l">
              <a:defRPr sz="1600"/>
            </a:lvl1pPr>
          </a:lstStyle>
          <a:p>
            <a:endParaRPr lang="en-US">
              <a:latin typeface="Arial"/>
              <a:cs typeface="Arial"/>
            </a:endParaRPr>
          </a:p>
        </p:txBody>
      </p:sp>
      <p:sp>
        <p:nvSpPr>
          <p:cNvPr id="5" name="Slide Number Placeholder 4"/>
          <p:cNvSpPr>
            <a:spLocks noGrp="1"/>
          </p:cNvSpPr>
          <p:nvPr>
            <p:ph type="sldNum" sz="quarter" idx="3"/>
          </p:nvPr>
        </p:nvSpPr>
        <p:spPr>
          <a:xfrm>
            <a:off x="4402561" y="13462080"/>
            <a:ext cx="3368040" cy="708660"/>
          </a:xfrm>
          <a:prstGeom prst="rect">
            <a:avLst/>
          </a:prstGeom>
        </p:spPr>
        <p:txBody>
          <a:bodyPr vert="horz" lIns="125401" tIns="62700" rIns="125401" bIns="62700" rtlCol="0" anchor="b"/>
          <a:lstStyle>
            <a:lvl1pPr algn="r">
              <a:defRPr sz="1600"/>
            </a:lvl1pPr>
          </a:lstStyle>
          <a:p>
            <a:fld id="{70AC7428-30A9-FD43-A0D8-DB91B17088EC}" type="slidenum">
              <a:rPr lang="en-US" smtClean="0">
                <a:latin typeface="Arial"/>
                <a:cs typeface="Arial"/>
              </a:rPr>
              <a:t>‹#›</a:t>
            </a:fld>
            <a:endParaRPr lang="en-US">
              <a:latin typeface="Arial"/>
              <a:cs typeface="Arial"/>
            </a:endParaRPr>
          </a:p>
        </p:txBody>
      </p:sp>
    </p:spTree>
    <p:extLst>
      <p:ext uri="{BB962C8B-B14F-4D97-AF65-F5344CB8AC3E}">
        <p14:creationId xmlns:p14="http://schemas.microsoft.com/office/powerpoint/2010/main" val="13476491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040" cy="708660"/>
          </a:xfrm>
          <a:prstGeom prst="rect">
            <a:avLst/>
          </a:prstGeom>
        </p:spPr>
        <p:txBody>
          <a:bodyPr vert="horz" lIns="125401" tIns="62700" rIns="125401" bIns="62700" rtlCol="0"/>
          <a:lstStyle>
            <a:lvl1pPr algn="l">
              <a:defRPr sz="1600">
                <a:latin typeface="Arial"/>
                <a:cs typeface="Arial"/>
              </a:defRPr>
            </a:lvl1pPr>
          </a:lstStyle>
          <a:p>
            <a:endParaRPr lang="en-US"/>
          </a:p>
        </p:txBody>
      </p:sp>
      <p:sp>
        <p:nvSpPr>
          <p:cNvPr id="3" name="Date Placeholder 2"/>
          <p:cNvSpPr>
            <a:spLocks noGrp="1"/>
          </p:cNvSpPr>
          <p:nvPr>
            <p:ph type="dt" idx="1"/>
          </p:nvPr>
        </p:nvSpPr>
        <p:spPr>
          <a:xfrm>
            <a:off x="4402561" y="0"/>
            <a:ext cx="3368040" cy="708660"/>
          </a:xfrm>
          <a:prstGeom prst="rect">
            <a:avLst/>
          </a:prstGeom>
        </p:spPr>
        <p:txBody>
          <a:bodyPr vert="horz" lIns="125401" tIns="62700" rIns="125401" bIns="62700" rtlCol="0"/>
          <a:lstStyle>
            <a:lvl1pPr algn="r">
              <a:defRPr sz="1600">
                <a:latin typeface="Arial"/>
                <a:cs typeface="Arial"/>
              </a:defRPr>
            </a:lvl1pPr>
          </a:lstStyle>
          <a:p>
            <a:fld id="{73B26A0F-F4D6-9B4F-A87B-D8948CDE3BB4}" type="datetimeFigureOut">
              <a:rPr lang="en-US" smtClean="0"/>
              <a:pPr/>
              <a:t>10/9/2026</a:t>
            </a:fld>
            <a:endParaRPr lang="en-US"/>
          </a:p>
        </p:txBody>
      </p:sp>
      <p:sp>
        <p:nvSpPr>
          <p:cNvPr id="4" name="Slide Image Placeholder 3"/>
          <p:cNvSpPr>
            <a:spLocks noGrp="1" noRot="1" noChangeAspect="1"/>
          </p:cNvSpPr>
          <p:nvPr>
            <p:ph type="sldImg" idx="2"/>
          </p:nvPr>
        </p:nvSpPr>
        <p:spPr>
          <a:xfrm>
            <a:off x="-838200" y="1063625"/>
            <a:ext cx="9448800" cy="5314950"/>
          </a:xfrm>
          <a:prstGeom prst="rect">
            <a:avLst/>
          </a:prstGeom>
          <a:noFill/>
          <a:ln w="12700">
            <a:solidFill>
              <a:prstClr val="black"/>
            </a:solidFill>
          </a:ln>
        </p:spPr>
        <p:txBody>
          <a:bodyPr vert="horz" lIns="125401" tIns="62700" rIns="125401" bIns="62700" rtlCol="0" anchor="ctr"/>
          <a:lstStyle/>
          <a:p>
            <a:endParaRPr lang="en-US"/>
          </a:p>
        </p:txBody>
      </p:sp>
      <p:sp>
        <p:nvSpPr>
          <p:cNvPr id="5" name="Notes Placeholder 4"/>
          <p:cNvSpPr>
            <a:spLocks noGrp="1"/>
          </p:cNvSpPr>
          <p:nvPr>
            <p:ph type="body" sz="quarter" idx="3"/>
          </p:nvPr>
        </p:nvSpPr>
        <p:spPr>
          <a:xfrm>
            <a:off x="431800" y="6732270"/>
            <a:ext cx="6908800" cy="637794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3462080"/>
            <a:ext cx="3368040" cy="708660"/>
          </a:xfrm>
          <a:prstGeom prst="rect">
            <a:avLst/>
          </a:prstGeom>
        </p:spPr>
        <p:txBody>
          <a:bodyPr vert="horz" lIns="125401" tIns="62700" rIns="125401" bIns="62700" rtlCol="0" anchor="b"/>
          <a:lstStyle>
            <a:lvl1pPr algn="l">
              <a:defRPr sz="1600">
                <a:latin typeface="Arial"/>
                <a:cs typeface="Arial"/>
              </a:defRPr>
            </a:lvl1pPr>
          </a:lstStyle>
          <a:p>
            <a:endParaRPr lang="en-US"/>
          </a:p>
        </p:txBody>
      </p:sp>
      <p:sp>
        <p:nvSpPr>
          <p:cNvPr id="7" name="Slide Number Placeholder 6"/>
          <p:cNvSpPr>
            <a:spLocks noGrp="1"/>
          </p:cNvSpPr>
          <p:nvPr>
            <p:ph type="sldNum" sz="quarter" idx="5"/>
          </p:nvPr>
        </p:nvSpPr>
        <p:spPr>
          <a:xfrm>
            <a:off x="4402561" y="13462080"/>
            <a:ext cx="3368040" cy="708660"/>
          </a:xfrm>
          <a:prstGeom prst="rect">
            <a:avLst/>
          </a:prstGeom>
        </p:spPr>
        <p:txBody>
          <a:bodyPr vert="horz" lIns="125401" tIns="62700" rIns="125401" bIns="62700" rtlCol="0" anchor="b"/>
          <a:lstStyle>
            <a:lvl1pPr algn="r">
              <a:defRPr sz="1600">
                <a:latin typeface="Arial"/>
                <a:cs typeface="Arial"/>
              </a:defRPr>
            </a:lvl1pPr>
          </a:lstStyle>
          <a:p>
            <a:fld id="{7DE2E8FF-3D0C-9D4D-B4D1-3089215958A5}" type="slidenum">
              <a:rPr lang="en-US" smtClean="0"/>
              <a:pPr/>
              <a:t>‹#›</a:t>
            </a:fld>
            <a:endParaRPr lang="en-US"/>
          </a:p>
        </p:txBody>
      </p:sp>
    </p:spTree>
    <p:extLst>
      <p:ext uri="{BB962C8B-B14F-4D97-AF65-F5344CB8AC3E}">
        <p14:creationId xmlns:p14="http://schemas.microsoft.com/office/powerpoint/2010/main" val="3274134959"/>
      </p:ext>
    </p:extLst>
  </p:cSld>
  <p:clrMap bg1="lt1" tx1="dk1" bg2="lt2" tx2="dk2" accent1="accent1" accent2="accent2" accent3="accent3" accent4="accent4" accent5="accent5" accent6="accent6" hlink="hlink" folHlink="folHlink"/>
  <p:hf hdr="0" ftr="0" dt="0"/>
  <p:notesStyle>
    <a:lvl1pPr marL="0" algn="l" defTabSz="731520" rtl="0" eaLnBrk="1" latinLnBrk="0" hangingPunct="1">
      <a:defRPr sz="1920" kern="1200">
        <a:solidFill>
          <a:schemeClr val="tx1"/>
        </a:solidFill>
        <a:latin typeface="Arial"/>
        <a:ea typeface="+mn-ea"/>
        <a:cs typeface="Arial"/>
      </a:defRPr>
    </a:lvl1pPr>
    <a:lvl2pPr marL="731520" algn="l" defTabSz="731520" rtl="0" eaLnBrk="1" latinLnBrk="0" hangingPunct="1">
      <a:defRPr sz="1920" kern="1200">
        <a:solidFill>
          <a:schemeClr val="tx1"/>
        </a:solidFill>
        <a:latin typeface="Arial"/>
        <a:ea typeface="+mn-ea"/>
        <a:cs typeface="+mn-cs"/>
      </a:defRPr>
    </a:lvl2pPr>
    <a:lvl3pPr marL="1463040" algn="l" defTabSz="731520" rtl="0" eaLnBrk="1" latinLnBrk="0" hangingPunct="1">
      <a:defRPr sz="1920" kern="1200">
        <a:solidFill>
          <a:schemeClr val="tx1"/>
        </a:solidFill>
        <a:latin typeface="Arial"/>
        <a:ea typeface="+mn-ea"/>
        <a:cs typeface="+mn-cs"/>
      </a:defRPr>
    </a:lvl3pPr>
    <a:lvl4pPr marL="2194560" algn="l" defTabSz="731520" rtl="0" eaLnBrk="1" latinLnBrk="0" hangingPunct="1">
      <a:defRPr sz="1920" kern="1200">
        <a:solidFill>
          <a:schemeClr val="tx1"/>
        </a:solidFill>
        <a:latin typeface="Arial"/>
        <a:ea typeface="+mn-ea"/>
        <a:cs typeface="+mn-cs"/>
      </a:defRPr>
    </a:lvl4pPr>
    <a:lvl5pPr marL="2926080" algn="l" defTabSz="731520" rtl="0" eaLnBrk="1" latinLnBrk="0" hangingPunct="1">
      <a:defRPr sz="1920" kern="1200">
        <a:solidFill>
          <a:schemeClr val="tx1"/>
        </a:solidFill>
        <a:latin typeface="Arial"/>
        <a:ea typeface="+mn-ea"/>
        <a:cs typeface="+mn-cs"/>
      </a:defRPr>
    </a:lvl5pPr>
    <a:lvl6pPr marL="3657600" algn="l" defTabSz="731520" rtl="0" eaLnBrk="1" latinLnBrk="0" hangingPunct="1">
      <a:defRPr sz="1920" kern="1200">
        <a:solidFill>
          <a:schemeClr val="tx1"/>
        </a:solidFill>
        <a:latin typeface="+mn-lt"/>
        <a:ea typeface="+mn-ea"/>
        <a:cs typeface="+mn-cs"/>
      </a:defRPr>
    </a:lvl6pPr>
    <a:lvl7pPr marL="4389120" algn="l" defTabSz="731520" rtl="0" eaLnBrk="1" latinLnBrk="0" hangingPunct="1">
      <a:defRPr sz="1920" kern="1200">
        <a:solidFill>
          <a:schemeClr val="tx1"/>
        </a:solidFill>
        <a:latin typeface="+mn-lt"/>
        <a:ea typeface="+mn-ea"/>
        <a:cs typeface="+mn-cs"/>
      </a:defRPr>
    </a:lvl7pPr>
    <a:lvl8pPr marL="5120640" algn="l" defTabSz="731520" rtl="0" eaLnBrk="1" latinLnBrk="0" hangingPunct="1">
      <a:defRPr sz="1920" kern="1200">
        <a:solidFill>
          <a:schemeClr val="tx1"/>
        </a:solidFill>
        <a:latin typeface="+mn-lt"/>
        <a:ea typeface="+mn-ea"/>
        <a:cs typeface="+mn-cs"/>
      </a:defRPr>
    </a:lvl8pPr>
    <a:lvl9pPr marL="5852160" algn="l" defTabSz="731520" rtl="0" eaLnBrk="1" latinLnBrk="0" hangingPunct="1">
      <a:defRPr sz="192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our October GitHub Actions Office Hour. Today we are focusing on five updates selected for their practical impact on DXC delivery: cache access controls, workflow execution protections, expired artifact visibility, bounded workflow reporting, and self-hosted runner enforcement. Our research window is September 10 through October 9, 2026. We will distinguish new capabilities from operational changes, and distinguish published behavior from what we actually observe in our demo repository. The first fifty minutes are for the presentation and demonstrations. At minute fifty we will stop and reserve the final ten minutes for questions. Everything demonstrated is designed to run from a GitHub repository using Actions workflows. We will not modify production runner fleets or apply organization-wide policies as part of this session.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run of show. Cache controls get the first deep dive, followed by execution protections. We then move from security to operational evidence: artifact expiry and reporting limits. We finish the technical content with a read-only runner readiness audit. The final four minutes before Q&amp;A are for an actionable adoption checklist and any short runner-queue buffer. The demo budgets are presenter budgets, not a promise that GitHub will provision every hosted runner instantly. I will use rehearsed runs if a live queue threatens the schedule. That keeps the full ten-minute question period intact.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rules will guide the demos. First, execution is workflow-driven with harmless data and narrow scopes. Second, we inspect observable evidence rather than relying on green step colors. Third, we state limitations explicitly. Policy administration and runner administration need separate approved credentials. Natural artifact expiry needs preparation before the live session. A small repository does not demonstrate a two-thousand-five-hundred-run threshold merely because a unit test covers it. If a prerequisite is unavailable, I will show genuine rehearsal evidence or an explanatory example and label it accordingly. That distinction is important when we turn a demonstration into an enterprise adoption decision.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September tenth release introduces cache-mode as a generally available control on github.com across GitHub plans. It can be declared for the whole workflow or for an individual job. Its value determines whether a job may restore, save, both, or neither. This is not merely a convention in our YAML: the cache service enforces the scoped access. A job-level value overrides the workflow-level setting. For DXC, the design question is which jobs produce trusted cache content and which jobs should only consume it. A test job may need restore access without needing permission to publish a cache. A trusted build job may need both. The important warning is that an explicit write or write-only declaration on a low-trust trigger can override a secure read-only default. We must choose the trust boundary deliberately rather than treating an explicit setting as automatically safer. Our demo avoids untrusted pull request checkout entirely.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means restore only. Write permits both restore and save. Write-only permits publishing without restoring existing content. None disables both operations. These are access modes, not cache hit guarantees: an allowed restore can still miss because the key does not exist. Also, when the effective mode denies an operation, the cache step can log an informational message and continue without failing the job. A denied restore behaves like a miss and a denied save simply does not happen. That is why a green Actions step is not sufficient verification. Our workflow first seeds known content, checks whether the marker really appeared, and then uses a separate API-based verifier to determine whether candidate cache entries were actually created. This turns the abstract permission matrix into directly inspectable results.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part I want platform teams to notice. A repository can call a reusable workflow while limiting the cache access granted to it. In this example the caller grants read. The called workflow requests write, but that declaration cannot increase access above what the caller allowed. In our package, the same reusable helper is called four times with the four different modes. This makes the trust ceiling easy to see without duplicating four different implementations. We expect the read caller to restore the trusted seed while failing to publish its candidate cache. The service-side cache inventory is the final evidence for that second claim. When adopting this pattern, document both the reusable workflow's requirements and the caller's trust assumptions so that the limit is intentional rather than an unexplained cache miss.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the GitHub demo repository. Open the cache-mode workflow and its reusable helper, then launch the workflow on the default branch, or open the already-running rehearsal if queue time is significant. Explain the trusted seed and unique run-specific keys. Open each probe summary to show the asserted restore outcome. Then open the verifier summary, which checks actual cache records through the API. The two save-capable modes should have candidate entries and the two other modes should not. The called helper requested write throughout, demonstrating the caller ceiling at the same time. If a result does not match, say that the observed behavior is unresolved and inspect the actual logs; do not call it successful because all cache steps are green. Keep this segment to five minutes. If the live run is queued, show a real successful rehearsal run with its timestamp and transition. We have controlled what a running job may do with cache content; next we control whether a workflow may execute.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September seventeenth general availability announcement adds three important capabilities: targeting specific workflow files, policy insights, and REST administration at repository, organization, and enterprise levels. Actor rules answer who may trigger execution. Event rules answer which events are permitted. File targeting answers which workflows the policy applies to. Together these let a platform team distinguish ordinary contribution access from the ability to execute a sensitive workflow. Evaluate mode is useful for observing would-block impact before enforcement, but it requires Enterprise Cloud. Policies layer across account levels, so a repository demo does not override a broader enterprise restriction. Also, the announced default protection for pull_request_target on affected public repositories has a November second enforcement date. We should not claim that every repository is already actively blocked on October thirteenth.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excerpt shows the core policy body used by the demo. The management script supplies a unique demo name and scopes the policy to one exact file. That file has two harmless triggers: manual workflow dispatch and a specifically named repository dispatch. The policy permits only the first. The control workflow is not targeted, so we retain a recovery and cleanup path. In a real deployment, actor rules can be layered with event rules, but we are deliberately keeping the live example small and observable. Policy writes use an approved administrator credential stored in a protected Actions environment. The ordinary GITHUB_TOKEN should not be assumed to have these administrative privileges. If our account lacks evaluate mode, we can use active mode directly in the disposable repository and explain the missing evaluate capability honestly.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the policy-control workflow. Start with inspect to show that inherited policies remain visible. Create the demo policy in evaluate mode if supported, otherwise use the already-approved active-mode path. Record the returned policy ID. Submit the allowed and disallowed probes and find the generated labels in the harmless target workflow. In evaluate mode, the disallowed event may still execute while insights record the would-block result. Activate the policy with its ID and repeat the probes. Show the actual policy error for the repository-dispatch attempt and the successful permitted manual execution. Do not treat an HTTP acceptance response as proof of enforcement; dispatch is asynchronous and the actual target result matters. Run cleanup using the recorded ID. If credentials, plan entitlement, or an inherited policy prevent this demo, state the blocker and show real rehearsal evidence or the configuration without simulating success. Finish by noting that no production or organization-wide policy was weakened.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September twenty-fourth update removes expired artifacts from the workflow run summary and the REST API. Previously the interface could retain an expired entry even after the artifact files were already deleted. That made it easy to confuse a visible record with actual retained content, and it created ambiguity around storage billing. The update removes that stale visibility. It does not change retention settings or billing rules. Integrations therefore need to handle a record being absent rather than depending on an expired flag remaining in a list. The original run logs can still show what the workflow produced while those logs are themselves retained. Our demonstration separates the artifact from a longer-lived receipt so we can inspect disappearance against its original identity and expiry time.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cannot faithfully accelerate a day-based retention policy into a few minutes by deleting the artifact ourselves. The seed workflow must run before delivery. It uploads a one-day artifact and reads its actual identity and expiration from GitHub. It then stores a separate receipt for fourteen days. On inspection, we verify that the selected seed run succeeded and that the original expiry has passed. Only then do we check the run artifact list and direct artifact endpoint. If the artifact remains visible while cleanup is pending, the workflow reports not ready and fails explicitly. We also have to be precise about attribution: absence alone cannot prove natural expiry rather than manual deletion. In this prepared demo we intentionally do not delete the target, and we retain the original upload logs and receipt as provenance.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earlier seed run first, not a new run. Point out the target artifact's original ID, creation time, and expiry, and the separately retained receipt. Launch inspect mode using that seed run ID or open the completed inspection rehearsal. Show the inspector's two observations: the target is absent from the run artifact list, and the direct GET returns 404. Keep the receipt and original upload step nearby so the audience can connect absence to a known artifact. State that no manual deletion occurred and that the result is consistent with natural expiry. If the seed has not expired or service cleanup is incomplete, the correct result is not ready; do not change timestamps or delete the artifact to manufacture a success. Connect the outcome to DXC delivery integrations: handle absent records and plan evidence retention explicitly, without inferring billing changes from UI behavior.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reporting update addresses broad queries that previously timed out and could return misleading counts. The announcement says that counts beyond two thousand five hundred are reported as two thousand five hundred plus instead of an attempted exact count. Separately, a filtered workflow-run search still returns up to one thousand items. Those are different limits. A bounded count is not an exact activity total, and requesting more pages does not overcome the filtered retrieval cap. Also, the REST schema and the UI label need not have identical representations. Our client examines the actual returned value instead of blindly requiring the UI's string format. In a small repository we will demonstrate the query pattern and pagination, but we will not claim to have observed the large-volume threshold.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client queries a specific UTC time window and looks at the returned count before trying to enumerate it. If the count is bounded or reaches the one-thousand-item filtered cap, it divides the window into adjacent ranges with no gaps or overlap. Smaller windows can then be paginated, and the collected run IDs are deduplicated. A request budget and a smallest-window guard prevent unbounded API traffic or silent truncation. If the result cannot be enumerated safely, the script fails rather than writing a success-shaped complete report. This is still not an atomic snapshot: creation or deletion during the requests can change what the API returns.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reporting workflow with dates that cover our rehearsal runs and page size two. This makes ordinary pagination visible without generating thousands of workflows. Open its summary and JSON to show the actual returned counts, distinct run IDs, and request count. Point to the explicit statement about whether a count requiring splitting was observed. If it says false, state clearly that we did not observe the large-volume threshold in this repository. Then show the unit test that feeds a synthetic bounded-count response to the splitting algorithm. Identify this as an offline fixture, not a real GitHub response. It proves the client's branch behavior and adjacent-window calculation, while a genuine threshold observation would require an approved high-volume repository. For production, use page size one hundred and a sensible date range.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September twenty-eighth notice moved the full enforcement start on Enterprise Cloud to September twenty-ninth. It did not change the requirements themselves. Runners below version two-point-three-two-nine-zero cannot register or reregister. The minimum required to execute jobs is higher, so passing the registration threshold must not be presented as passing runtime support. Existing registered runners can stop accepting jobs when they fall below the required runtime version. This notice does not affect Enterprise Server; enforcement for Enterprise Cloud with Data Residency began July thirty-first. The deprecation API we use to inspect dates was announced September third, outside our selected publication window. It is supporting functionality for this new enforcement notice, not a newly released September twenty-eighth endpoint.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runner-readiness workflow. Use repository scope and the default explicit versions unless an organization inventory was approved and rehearsed. The job runs on a hosted runner and only performs read operations against the administrative endpoint. Show registration and runtime dates in separate columns. Explain that a null date is reported as no date returned, not as a supported-version guarantee. If we enable inventory, visible runner versions are added to the lookups and missing versions remain an explicit data-quality issue. The audit does not register, stop, downgrade, upgrade, or delete runners. If administrator access is unavailable, state that the live endpoint is blocked and use a clearly identified rehearsal or the API shape rather than fabricated dates. Keep the demo brief and move to the adoption checklist at minute forty-six.</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five practical follow-through actions I recommend. CI maintainers should map cache access to job trust rather than applying write everywhere. Platform governance should pilot file-scoped execution protections, using evaluate where available and reviewing real enforcement evidence before broad rollout. Delivery integration owners should make missing expired artifacts a normal handled case and retain provenance where the delivery process needs it. Reporting engineers should inspect actual count values, split time windows before retrieval caps, and avoid treating a truncated query as a complete activity total. Runner operations should audit both registration and runtime dates, keeping unknown versions visible. These are recommended owner roles, not assignments to specific DXC individuals. Start narrowly and review account policies, credentials, and evidence before scaling.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shared theme is to control execution while preserving the meaning of the evidence we collect. Cache permissions and workflow policies address different layers of least privilege. Artifact visibility and bounded counts remind us that a record's absence or a returned count must be interpreted carefully. Runner readiness requires separate registration and runtime checks. Keep the demo patterns narrow, credentials scoped, and cleanup explicit. One relevant upcoming date is November second, when the announced default pull_request_target policy is enforced for affected public repositories; that is not a claim of universal enforcement today. We have reached the fifty-minute handoff, so I will stop starting demonstrations here. If a workflow is still queued, it can finish independently without consuming the question period. Let's use the final ten minutes for the scenarios and adoption concerns most relevant to your teams.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Reserve the full final ten minutes for audience questions. Suggested prompts if needed: Which jobs in your pipelines really need cache write access? Which workflows should have different execution policies from ordinary CI? Which delivery integrations expect expired artifact records to remain visible? Do reporting consumers assume a single broad query is complete? How do platform operations currently distinguish runner registration readiness from runtime readiness? When answering, keep github.com and Enterprise Server scope separate, and distinguish plan-dependent evaluate mode from active policy enforcement. Do not guess a higher runtime minimum or a customer's available entitlement; refer to the live API and account capability. If a question needs production-specific investigation, record the scope and required owner rather than making an administrative change during Q&amp;A.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appendix contains clickable first-party release sources for the five selected updates. The publication window is September tenth through October ninth, inclusive. The complete catalog contains twelve verified Actions-related entries, including other features and operational notices that were not selected. No Actions-tagged entry later than October second was present in the official feeds when researched. Recheck the official changelog before delivery if you want to add releases after the research cutoff, but do not silently change the promised thirty-day window or selected topic scope.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support implementation and interpretation. The runner deprecation endpoint came from the earlier September third update, so it is outside the selected research window and should be described as supporting prior functionality. Workflow syntax explains that forbidden cache operations can continue without failing the job, which is why the demo independently verifies cache state. Policy documentation explains the separate actor/event rules, layered enforcement, and Enterprise Cloud evaluate mode. The workflow-run REST documentation distinguishes the filtered retrieval cap from the count-reporting announcement. Use the exact account capabilities and live response schema at rehearsal rather than assuming all cloud behavior is available on Enterprise Server.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appendix as the pre-delivery gate. The package must be committed to the destination repository's default branch, including the hidden dot-github folder. Actions and the pinned first-party actions must be permitted by the account. Administrative credentials belong in the protected demo-admin environment and should be scoped to the disposable repository. Evaluate requires Enterprise Cloud; active mode can be used only in the approved isolated target if evaluate is unavailable. Seed the artifact early enough for the real expiration and asynchronous cleanup, record the exact expiry and seed run ID, and rehearse inspection before delivery. The local preparation did not publish a repository or execute GitHub service behavior on the presenter's behalf. That remaining rehearsal is necessary before calling any live demo verified.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the session, remove the specific demo policy using its recorded ID. The script refuses a policy with an unrelated name prefix or workflow target, but the presenter should still review the selected ID. Revoke short-lived administrative credentials and remove environment secrets that are no longer needed. Demo caches may be removed only by their exact run-specific prefix, not with a broad delete-all operation. The expiry target must not be manually deleted before the observation because that would undermine the natural-expiry demonstration. Receipts and report artifacts have their own retention and account caps still apply. No runner audit cleanup requires stopping or deleting runners because the audit is read-only. The template carries DXC Internal branding and fleet reports may contain internal metadata, so retain them only in an appropriately restricted repository.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573B2DF-BAF2-C420-FD86-86240D16DD99}"/>
              </a:ext>
            </a:extLst>
          </p:cNvPr>
          <p:cNvSpPr/>
          <p:nvPr/>
        </p:nvSpPr>
        <p:spPr>
          <a:xfrm>
            <a:off x="0" y="0"/>
            <a:ext cx="14630400" cy="822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52">
              <a:latin typeface="Inter Medium" panose="02000603000000020004" pitchFamily="50" charset="0"/>
            </a:endParaRPr>
          </a:p>
        </p:txBody>
      </p:sp>
      <p:pic>
        <p:nvPicPr>
          <p:cNvPr id="2" name="Frame 15529" descr="preencoded.png">
            <a:extLst>
              <a:ext uri="{FF2B5EF4-FFF2-40B4-BE49-F238E27FC236}">
                <a16:creationId xmlns:a16="http://schemas.microsoft.com/office/drawing/2014/main" id="{1EF2DDB8-8571-93E4-C67A-35640A82F91D}"/>
              </a:ext>
            </a:extLst>
          </p:cNvPr>
          <p:cNvPicPr>
            <a:picLocks noChangeAspect="1"/>
          </p:cNvPicPr>
          <p:nvPr/>
        </p:nvPicPr>
        <p:blipFill>
          <a:blip r:embed="rId2"/>
          <a:srcRect/>
          <a:stretch/>
        </p:blipFill>
        <p:spPr>
          <a:xfrm>
            <a:off x="243840" y="243840"/>
            <a:ext cx="14142720" cy="4739640"/>
          </a:xfrm>
          <a:prstGeom prst="rect">
            <a:avLst/>
          </a:prstGeom>
        </p:spPr>
      </p:pic>
      <p:sp>
        <p:nvSpPr>
          <p:cNvPr id="5" name="Rectangle 4">
            <a:extLst>
              <a:ext uri="{FF2B5EF4-FFF2-40B4-BE49-F238E27FC236}">
                <a16:creationId xmlns:a16="http://schemas.microsoft.com/office/drawing/2014/main" id="{E03F9C0B-0317-E2A6-8F23-EFFBE864DCA8}"/>
              </a:ext>
            </a:extLst>
          </p:cNvPr>
          <p:cNvSpPr/>
          <p:nvPr/>
        </p:nvSpPr>
        <p:spPr>
          <a:xfrm>
            <a:off x="0" y="0"/>
            <a:ext cx="14630400" cy="822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52">
              <a:latin typeface="Inter Medium" panose="02000603000000020004" pitchFamily="50" charset="0"/>
            </a:endParaRPr>
          </a:p>
        </p:txBody>
      </p:sp>
      <p:pic>
        <p:nvPicPr>
          <p:cNvPr id="15" name="lookmomnoagency_httpss.mj.runJIcAb0P4040_Ultra-real_cinematic_p_638bfe43-65b2-4354-845b-4351f8df7907" descr="preencoded.png">
            <a:extLst>
              <a:ext uri="{FF2B5EF4-FFF2-40B4-BE49-F238E27FC236}">
                <a16:creationId xmlns:a16="http://schemas.microsoft.com/office/drawing/2014/main" id="{75169228-DC09-412D-D6F7-167D9FF75424}"/>
              </a:ext>
            </a:extLst>
          </p:cNvPr>
          <p:cNvPicPr>
            <a:picLocks noChangeAspect="1"/>
          </p:cNvPicPr>
          <p:nvPr/>
        </p:nvPicPr>
        <p:blipFill>
          <a:blip r:embed="rId3"/>
          <a:srcRect/>
          <a:stretch/>
        </p:blipFill>
        <p:spPr>
          <a:xfrm>
            <a:off x="243840" y="243840"/>
            <a:ext cx="14142720" cy="4815840"/>
          </a:xfrm>
          <a:prstGeom prst="rect">
            <a:avLst/>
          </a:prstGeom>
        </p:spPr>
      </p:pic>
      <p:sp>
        <p:nvSpPr>
          <p:cNvPr id="17" name="Subtitle 2">
            <a:extLst>
              <a:ext uri="{FF2B5EF4-FFF2-40B4-BE49-F238E27FC236}">
                <a16:creationId xmlns:a16="http://schemas.microsoft.com/office/drawing/2014/main" id="{0342C94D-B005-C627-CC70-486D6842AB48}"/>
              </a:ext>
            </a:extLst>
          </p:cNvPr>
          <p:cNvSpPr>
            <a:spLocks noGrp="1"/>
          </p:cNvSpPr>
          <p:nvPr>
            <p:ph type="subTitle" idx="1"/>
          </p:nvPr>
        </p:nvSpPr>
        <p:spPr>
          <a:xfrm>
            <a:off x="5972733" y="5447346"/>
            <a:ext cx="7353431" cy="167641"/>
          </a:xfrm>
          <a:prstGeom prst="rect">
            <a:avLst/>
          </a:prstGeom>
        </p:spPr>
        <p:txBody>
          <a:bodyPr bIns="0" anchor="b" anchorCtr="0">
            <a:noAutofit/>
          </a:bodyPr>
          <a:lstStyle>
            <a:lvl1pPr marL="0" indent="0" algn="l">
              <a:spcBef>
                <a:spcPts val="0"/>
              </a:spcBef>
              <a:buNone/>
              <a:defRPr sz="1050" b="1" cap="all" spc="160" baseline="0">
                <a:solidFill>
                  <a:schemeClr val="tx1"/>
                </a:solidFill>
                <a:latin typeface="Inter" panose="02000503000000020004" pitchFamily="50" charset="0"/>
                <a:ea typeface="Inter" panose="02000503000000020004" pitchFamily="50" charset="0"/>
                <a:cs typeface="Inter" panose="02000503000000020004" pitchFamily="50" charset="0"/>
              </a:defRPr>
            </a:lvl1pPr>
            <a:lvl2pPr marL="585216" indent="0" algn="ctr">
              <a:buNone/>
              <a:defRPr>
                <a:solidFill>
                  <a:schemeClr val="tx1">
                    <a:tint val="75000"/>
                  </a:schemeClr>
                </a:solidFill>
              </a:defRPr>
            </a:lvl2pPr>
            <a:lvl3pPr marL="1170432" indent="0" algn="ctr">
              <a:buNone/>
              <a:defRPr>
                <a:solidFill>
                  <a:schemeClr val="tx1">
                    <a:tint val="75000"/>
                  </a:schemeClr>
                </a:solidFill>
              </a:defRPr>
            </a:lvl3pPr>
            <a:lvl4pPr marL="1755648" indent="0" algn="ctr">
              <a:buNone/>
              <a:defRPr>
                <a:solidFill>
                  <a:schemeClr val="tx1">
                    <a:tint val="75000"/>
                  </a:schemeClr>
                </a:solidFill>
              </a:defRPr>
            </a:lvl4pPr>
            <a:lvl5pPr marL="2340864" indent="0" algn="ctr">
              <a:buNone/>
              <a:defRPr>
                <a:solidFill>
                  <a:schemeClr val="tx1">
                    <a:tint val="75000"/>
                  </a:schemeClr>
                </a:solidFill>
              </a:defRPr>
            </a:lvl5pPr>
            <a:lvl6pPr marL="2926080" indent="0" algn="ctr">
              <a:buNone/>
              <a:defRPr>
                <a:solidFill>
                  <a:schemeClr val="tx1">
                    <a:tint val="75000"/>
                  </a:schemeClr>
                </a:solidFill>
              </a:defRPr>
            </a:lvl6pPr>
            <a:lvl7pPr marL="3511296" indent="0" algn="ctr">
              <a:buNone/>
              <a:defRPr>
                <a:solidFill>
                  <a:schemeClr val="tx1">
                    <a:tint val="75000"/>
                  </a:schemeClr>
                </a:solidFill>
              </a:defRPr>
            </a:lvl7pPr>
            <a:lvl8pPr marL="4096512" indent="0" algn="ctr">
              <a:buNone/>
              <a:defRPr>
                <a:solidFill>
                  <a:schemeClr val="tx1">
                    <a:tint val="75000"/>
                  </a:schemeClr>
                </a:solidFill>
              </a:defRPr>
            </a:lvl8pPr>
            <a:lvl9pPr marL="4681728" indent="0" algn="ctr">
              <a:buNone/>
              <a:defRPr>
                <a:solidFill>
                  <a:schemeClr val="tx1">
                    <a:tint val="75000"/>
                  </a:schemeClr>
                </a:solidFill>
              </a:defRPr>
            </a:lvl9pPr>
          </a:lstStyle>
          <a:p>
            <a:r>
              <a:rPr lang="en-US"/>
              <a:t>Click to edit Master subtitle style</a:t>
            </a:r>
          </a:p>
        </p:txBody>
      </p:sp>
      <p:pic>
        <p:nvPicPr>
          <p:cNvPr id="18" name="Union" descr="preencoded.png">
            <a:extLst>
              <a:ext uri="{FF2B5EF4-FFF2-40B4-BE49-F238E27FC236}">
                <a16:creationId xmlns:a16="http://schemas.microsoft.com/office/drawing/2014/main" id="{4B2C8058-2A52-FBD2-A88A-2B552585CED4}"/>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278641" y="5496587"/>
            <a:ext cx="2682240" cy="434347"/>
          </a:xfrm>
          <a:prstGeom prst="rect">
            <a:avLst/>
          </a:prstGeom>
        </p:spPr>
      </p:pic>
      <p:sp>
        <p:nvSpPr>
          <p:cNvPr id="19" name="Title 1">
            <a:extLst>
              <a:ext uri="{FF2B5EF4-FFF2-40B4-BE49-F238E27FC236}">
                <a16:creationId xmlns:a16="http://schemas.microsoft.com/office/drawing/2014/main" id="{4B5FEA5F-CB2C-3FF5-0223-355E67B85B23}"/>
              </a:ext>
            </a:extLst>
          </p:cNvPr>
          <p:cNvSpPr>
            <a:spLocks noGrp="1"/>
          </p:cNvSpPr>
          <p:nvPr>
            <p:ph type="ctrTitle"/>
          </p:nvPr>
        </p:nvSpPr>
        <p:spPr>
          <a:xfrm>
            <a:off x="5972734" y="5772149"/>
            <a:ext cx="7353431" cy="977901"/>
          </a:xfrm>
          <a:prstGeom prst="rect">
            <a:avLst/>
          </a:prstGeom>
        </p:spPr>
        <p:txBody>
          <a:bodyPr anchor="ctr" anchorCtr="0">
            <a:noAutofit/>
          </a:bodyPr>
          <a:lstStyle>
            <a:lvl1pPr>
              <a:defRPr sz="3600" cap="all" baseline="0">
                <a:solidFill>
                  <a:schemeClr val="tx1"/>
                </a:solidFill>
                <a:latin typeface="GT Standard L Extended" pitchFamily="50" charset="0"/>
              </a:defRPr>
            </a:lvl1pPr>
          </a:lstStyle>
          <a:p>
            <a:r>
              <a:rPr lang="en-US"/>
              <a:t>Click to edit Master title style</a:t>
            </a:r>
          </a:p>
        </p:txBody>
      </p:sp>
      <p:sp>
        <p:nvSpPr>
          <p:cNvPr id="6" name="Content Placeholder 2">
            <a:extLst>
              <a:ext uri="{FF2B5EF4-FFF2-40B4-BE49-F238E27FC236}">
                <a16:creationId xmlns:a16="http://schemas.microsoft.com/office/drawing/2014/main" id="{8F264E8B-C17A-16FA-16AB-17DE70932CB7}"/>
              </a:ext>
            </a:extLst>
          </p:cNvPr>
          <p:cNvSpPr>
            <a:spLocks noGrp="1"/>
          </p:cNvSpPr>
          <p:nvPr>
            <p:ph sz="half" idx="14" hasCustomPrompt="1"/>
          </p:nvPr>
        </p:nvSpPr>
        <p:spPr>
          <a:xfrm>
            <a:off x="5969690" y="6934882"/>
            <a:ext cx="3618548" cy="181534"/>
          </a:xfrm>
          <a:prstGeom prst="rect">
            <a:avLst/>
          </a:prstGeom>
        </p:spPr>
        <p:txBody>
          <a:bodyPr tIns="0" rIns="0" bIns="0">
            <a:noAutofit/>
          </a:bodyPr>
          <a:lstStyle>
            <a:lvl1pPr>
              <a:lnSpc>
                <a:spcPct val="100000"/>
              </a:lnSpc>
              <a:spcBef>
                <a:spcPts val="600"/>
              </a:spcBef>
              <a:defRPr sz="1050" cap="all" spc="160" baseline="0">
                <a:solidFill>
                  <a:schemeClr val="tx1"/>
                </a:solidFill>
                <a:latin typeface="Inter SemiBold" panose="02000703000000020004" pitchFamily="50" charset="0"/>
                <a:ea typeface="Inter SemiBold" panose="02000703000000020004" pitchFamily="50" charset="0"/>
                <a:cs typeface="Inter SemiBold" panose="020007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pic>
        <p:nvPicPr>
          <p:cNvPr id="7" name="Union" descr="preencoded.png">
            <a:extLst>
              <a:ext uri="{FF2B5EF4-FFF2-40B4-BE49-F238E27FC236}">
                <a16:creationId xmlns:a16="http://schemas.microsoft.com/office/drawing/2014/main" id="{6EFE4B1B-FBEC-0DBB-F10D-1A7A97DC17FC}"/>
              </a:ext>
            </a:extLst>
          </p:cNvPr>
          <p:cNvPicPr>
            <a:picLocks noChangeAspect="1"/>
          </p:cNvPicPr>
          <p:nvPr/>
        </p:nvPicPr>
        <p:blipFill>
          <a:blip r:embed="rId5"/>
          <a:srcRect/>
          <a:stretch/>
        </p:blipFill>
        <p:spPr>
          <a:xfrm>
            <a:off x="243840" y="746760"/>
            <a:ext cx="14142720" cy="3825240"/>
          </a:xfrm>
          <a:prstGeom prst="rect">
            <a:avLst/>
          </a:prstGeom>
        </p:spPr>
      </p:pic>
      <p:sp>
        <p:nvSpPr>
          <p:cNvPr id="10" name="TextBox 9">
            <a:extLst>
              <a:ext uri="{FF2B5EF4-FFF2-40B4-BE49-F238E27FC236}">
                <a16:creationId xmlns:a16="http://schemas.microsoft.com/office/drawing/2014/main" id="{FD6006E1-F854-BAE6-A4A2-9D3947AA8039}"/>
              </a:ext>
            </a:extLst>
          </p:cNvPr>
          <p:cNvSpPr txBox="1"/>
          <p:nvPr/>
        </p:nvSpPr>
        <p:spPr>
          <a:xfrm>
            <a:off x="5968365" y="7985760"/>
            <a:ext cx="2354579" cy="123111"/>
          </a:xfrm>
          <a:prstGeom prst="rect">
            <a:avLst/>
          </a:prstGeom>
          <a:noFill/>
        </p:spPr>
        <p:txBody>
          <a:bodyPr wrap="square" lIns="0" tIns="0" rIns="0" bIns="0">
            <a:spAutoFit/>
          </a:bodyPr>
          <a:lstStyle/>
          <a:p>
            <a:pPr algn="l"/>
            <a:r>
              <a:rPr lang="en-US" sz="800" b="0">
                <a:solidFill>
                  <a:srgbClr val="B4B0AC"/>
                </a:solidFill>
                <a:latin typeface="Inter" panose="02000503000000020004" pitchFamily="50" charset="0"/>
                <a:cs typeface="Inter" panose="02000503000000020004" pitchFamily="50" charset="0"/>
              </a:rPr>
              <a:t>DXC Internal</a:t>
            </a:r>
          </a:p>
        </p:txBody>
      </p:sp>
      <p:sp>
        <p:nvSpPr>
          <p:cNvPr id="11" name="Footer Placeholder 4">
            <a:extLst>
              <a:ext uri="{FF2B5EF4-FFF2-40B4-BE49-F238E27FC236}">
                <a16:creationId xmlns:a16="http://schemas.microsoft.com/office/drawing/2014/main" id="{DF4B61FB-43AA-F7C6-9DBE-87E8C3498914}"/>
              </a:ext>
            </a:extLst>
          </p:cNvPr>
          <p:cNvSpPr txBox="1">
            <a:spLocks/>
          </p:cNvSpPr>
          <p:nvPr/>
        </p:nvSpPr>
        <p:spPr>
          <a:xfrm>
            <a:off x="5968742" y="7788274"/>
            <a:ext cx="3066778" cy="17526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50">
                <a:solidFill>
                  <a:schemeClr val="tx1"/>
                </a:solidFill>
                <a:latin typeface="Inter" panose="02000503000000020004" pitchFamily="50" charset="0"/>
                <a:cs typeface="Inter" panose="02000503000000020004" pitchFamily="50" charset="0"/>
              </a:rPr>
              <a:t>© </a:t>
            </a:r>
            <a:fld id="{C0650B53-F5B1-403A-BD70-58B7AE2589AD}" type="datetimeyyyy">
              <a:rPr lang="en-US" sz="850" smtClean="0">
                <a:solidFill>
                  <a:schemeClr val="tx1"/>
                </a:solidFill>
                <a:latin typeface="Inter" panose="02000503000000020004" pitchFamily="50" charset="0"/>
                <a:cs typeface="Inter" panose="02000503000000020004" pitchFamily="50" charset="0"/>
              </a:rPr>
              <a:pPr algn="l"/>
              <a:t>2026</a:t>
            </a:fld>
            <a:r>
              <a:rPr lang="en-US" sz="850">
                <a:solidFill>
                  <a:schemeClr val="tx1"/>
                </a:solidFill>
                <a:latin typeface="Inter" panose="02000503000000020004" pitchFamily="50" charset="0"/>
                <a:cs typeface="Inter" panose="02000503000000020004" pitchFamily="50" charset="0"/>
              </a:rPr>
              <a:t> DXC Technology Company. All rights reserved.</a:t>
            </a:r>
          </a:p>
        </p:txBody>
      </p:sp>
      <p:pic>
        <p:nvPicPr>
          <p:cNvPr id="3" name="Graphic 2">
            <a:extLst>
              <a:ext uri="{FF2B5EF4-FFF2-40B4-BE49-F238E27FC236}">
                <a16:creationId xmlns:a16="http://schemas.microsoft.com/office/drawing/2014/main" id="{1D0DDF16-0E49-8D81-DC14-FA11A85DA864}"/>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12799" y="6106383"/>
            <a:ext cx="5322166" cy="771714"/>
          </a:xfrm>
          <a:prstGeom prst="rect">
            <a:avLst/>
          </a:prstGeom>
        </p:spPr>
      </p:pic>
    </p:spTree>
    <p:extLst>
      <p:ext uri="{BB962C8B-B14F-4D97-AF65-F5344CB8AC3E}">
        <p14:creationId xmlns:p14="http://schemas.microsoft.com/office/powerpoint/2010/main" val="3040100834"/>
      </p:ext>
    </p:extLst>
  </p:cSld>
  <p:clrMapOvr>
    <a:masterClrMapping/>
  </p:clrMapOvr>
  <p:hf sldNum="0" hdr="0" ftr="0" dt="0"/>
  <p:extLst>
    <p:ext uri="{DCECCB84-F9BA-43D5-87BE-67443E8EF086}">
      <p15:sldGuideLst xmlns:p15="http://schemas.microsoft.com/office/powerpoint/2012/main">
        <p15:guide id="1" orient="horz" pos="2592">
          <p15:clr>
            <a:srgbClr val="FBAE40"/>
          </p15:clr>
        </p15:guide>
        <p15:guide id="2" pos="460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Slid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356C9E5-50FF-1198-36CE-8793878A6427}"/>
              </a:ext>
            </a:extLst>
          </p:cNvPr>
          <p:cNvPicPr>
            <a:picLocks noChangeAspect="1"/>
          </p:cNvPicPr>
          <p:nvPr/>
        </p:nvPicPr>
        <p:blipFill>
          <a:blip r:embed="rId2"/>
          <a:stretch>
            <a:fillRect/>
          </a:stretch>
        </p:blipFill>
        <p:spPr>
          <a:xfrm>
            <a:off x="8309122" y="618411"/>
            <a:ext cx="6321278" cy="7611189"/>
          </a:xfrm>
          <a:prstGeom prst="rect">
            <a:avLst/>
          </a:prstGeom>
        </p:spPr>
      </p:pic>
      <p:sp>
        <p:nvSpPr>
          <p:cNvPr id="7" name="Title 1">
            <a:extLst>
              <a:ext uri="{FF2B5EF4-FFF2-40B4-BE49-F238E27FC236}">
                <a16:creationId xmlns:a16="http://schemas.microsoft.com/office/drawing/2014/main" id="{9C7BB518-013B-58B6-40AD-19FEB60837E6}"/>
              </a:ext>
            </a:extLst>
          </p:cNvPr>
          <p:cNvSpPr>
            <a:spLocks noGrp="1"/>
          </p:cNvSpPr>
          <p:nvPr>
            <p:ph type="ctrTitle"/>
          </p:nvPr>
        </p:nvSpPr>
        <p:spPr>
          <a:xfrm>
            <a:off x="481964" y="3181350"/>
            <a:ext cx="11024236" cy="1390650"/>
          </a:xfrm>
          <a:prstGeom prst="rect">
            <a:avLst/>
          </a:prstGeom>
        </p:spPr>
        <p:txBody>
          <a:bodyPr anchor="ctr" anchorCtr="0">
            <a:noAutofit/>
          </a:bodyPr>
          <a:lstStyle>
            <a:lvl1pPr>
              <a:defRPr sz="4800" cap="all" baseline="0">
                <a:solidFill>
                  <a:schemeClr val="tx1"/>
                </a:solidFill>
                <a:latin typeface="GT Standard L Extended" pitchFamily="50" charset="0"/>
              </a:defRPr>
            </a:lvl1pPr>
          </a:lstStyle>
          <a:p>
            <a:r>
              <a:rPr lang="en-US"/>
              <a:t>Click to edit Master title style</a:t>
            </a:r>
          </a:p>
        </p:txBody>
      </p:sp>
      <p:sp>
        <p:nvSpPr>
          <p:cNvPr id="2" name="Subtitle 2">
            <a:extLst>
              <a:ext uri="{FF2B5EF4-FFF2-40B4-BE49-F238E27FC236}">
                <a16:creationId xmlns:a16="http://schemas.microsoft.com/office/drawing/2014/main" id="{F763D07A-81F1-36DC-EA6A-6467575356CC}"/>
              </a:ext>
            </a:extLst>
          </p:cNvPr>
          <p:cNvSpPr>
            <a:spLocks noGrp="1"/>
          </p:cNvSpPr>
          <p:nvPr>
            <p:ph type="subTitle" idx="1"/>
          </p:nvPr>
        </p:nvSpPr>
        <p:spPr>
          <a:xfrm>
            <a:off x="5974078" y="4864415"/>
            <a:ext cx="3760471" cy="1490665"/>
          </a:xfrm>
          <a:prstGeom prst="rect">
            <a:avLst/>
          </a:prstGeom>
        </p:spPr>
        <p:txBody>
          <a:bodyPr tIns="0" rIns="0" bIns="0" anchor="t" anchorCtr="0">
            <a:noAutofit/>
          </a:bodyPr>
          <a:lstStyle>
            <a:lvl1pPr marL="0" indent="0" algn="l">
              <a:spcBef>
                <a:spcPts val="0"/>
              </a:spcBef>
              <a:buNone/>
              <a:defRPr sz="1600" b="0" cap="none" spc="160" baseline="0">
                <a:solidFill>
                  <a:schemeClr val="tx1"/>
                </a:solidFill>
                <a:latin typeface="Inter Light" panose="02000403000000020004" pitchFamily="50" charset="0"/>
                <a:ea typeface="Inter Light" panose="02000403000000020004" pitchFamily="50" charset="0"/>
                <a:cs typeface="Inter Light" panose="02000403000000020004" pitchFamily="50" charset="0"/>
              </a:defRPr>
            </a:lvl1pPr>
            <a:lvl2pPr marL="585216" indent="0" algn="ctr">
              <a:buNone/>
              <a:defRPr>
                <a:solidFill>
                  <a:schemeClr val="tx1">
                    <a:tint val="75000"/>
                  </a:schemeClr>
                </a:solidFill>
              </a:defRPr>
            </a:lvl2pPr>
            <a:lvl3pPr marL="1170432" indent="0" algn="ctr">
              <a:buNone/>
              <a:defRPr>
                <a:solidFill>
                  <a:schemeClr val="tx1">
                    <a:tint val="75000"/>
                  </a:schemeClr>
                </a:solidFill>
              </a:defRPr>
            </a:lvl3pPr>
            <a:lvl4pPr marL="1755648" indent="0" algn="ctr">
              <a:buNone/>
              <a:defRPr>
                <a:solidFill>
                  <a:schemeClr val="tx1">
                    <a:tint val="75000"/>
                  </a:schemeClr>
                </a:solidFill>
              </a:defRPr>
            </a:lvl4pPr>
            <a:lvl5pPr marL="2340864" indent="0" algn="ctr">
              <a:buNone/>
              <a:defRPr>
                <a:solidFill>
                  <a:schemeClr val="tx1">
                    <a:tint val="75000"/>
                  </a:schemeClr>
                </a:solidFill>
              </a:defRPr>
            </a:lvl5pPr>
            <a:lvl6pPr marL="2926080" indent="0" algn="ctr">
              <a:buNone/>
              <a:defRPr>
                <a:solidFill>
                  <a:schemeClr val="tx1">
                    <a:tint val="75000"/>
                  </a:schemeClr>
                </a:solidFill>
              </a:defRPr>
            </a:lvl6pPr>
            <a:lvl7pPr marL="3511296" indent="0" algn="ctr">
              <a:buNone/>
              <a:defRPr>
                <a:solidFill>
                  <a:schemeClr val="tx1">
                    <a:tint val="75000"/>
                  </a:schemeClr>
                </a:solidFill>
              </a:defRPr>
            </a:lvl7pPr>
            <a:lvl8pPr marL="4096512" indent="0" algn="ctr">
              <a:buNone/>
              <a:defRPr>
                <a:solidFill>
                  <a:schemeClr val="tx1">
                    <a:tint val="75000"/>
                  </a:schemeClr>
                </a:solidFill>
              </a:defRPr>
            </a:lvl8pPr>
            <a:lvl9pPr marL="4681728" indent="0" algn="ctr">
              <a:buNone/>
              <a:defRPr>
                <a:solidFill>
                  <a:schemeClr val="tx1">
                    <a:tint val="75000"/>
                  </a:schemeClr>
                </a:solidFill>
              </a:defRPr>
            </a:lvl9pPr>
          </a:lstStyle>
          <a:p>
            <a:r>
              <a:rPr lang="en-US"/>
              <a:t>Click to edit Master subtitle style</a:t>
            </a:r>
          </a:p>
        </p:txBody>
      </p:sp>
      <p:sp>
        <p:nvSpPr>
          <p:cNvPr id="4" name="TextBox 3">
            <a:extLst>
              <a:ext uri="{FF2B5EF4-FFF2-40B4-BE49-F238E27FC236}">
                <a16:creationId xmlns:a16="http://schemas.microsoft.com/office/drawing/2014/main" id="{D511D1B2-1DC3-890E-96BC-72E7F3451CCA}"/>
              </a:ext>
            </a:extLst>
          </p:cNvPr>
          <p:cNvSpPr txBox="1"/>
          <p:nvPr/>
        </p:nvSpPr>
        <p:spPr>
          <a:xfrm>
            <a:off x="12008591" y="7985760"/>
            <a:ext cx="2354579" cy="123111"/>
          </a:xfrm>
          <a:prstGeom prst="rect">
            <a:avLst/>
          </a:prstGeom>
          <a:noFill/>
        </p:spPr>
        <p:txBody>
          <a:bodyPr wrap="square" lIns="0" tIns="0" rIns="0" bIns="0">
            <a:spAutoFit/>
          </a:bodyPr>
          <a:lstStyle/>
          <a:p>
            <a:pPr algn="r"/>
            <a:r>
              <a:rPr lang="en-US" sz="800" b="0">
                <a:solidFill>
                  <a:srgbClr val="B4B0AC"/>
                </a:solidFill>
                <a:latin typeface="Inter" panose="02000503000000020004" pitchFamily="50" charset="0"/>
                <a:cs typeface="Inter" panose="02000503000000020004" pitchFamily="50" charset="0"/>
              </a:rPr>
              <a:t>DXC Internal</a:t>
            </a:r>
          </a:p>
        </p:txBody>
      </p:sp>
      <p:sp>
        <p:nvSpPr>
          <p:cNvPr id="5" name="Footer Placeholder 4">
            <a:extLst>
              <a:ext uri="{FF2B5EF4-FFF2-40B4-BE49-F238E27FC236}">
                <a16:creationId xmlns:a16="http://schemas.microsoft.com/office/drawing/2014/main" id="{59713050-BD33-7A00-EE49-7F6BC7D27001}"/>
              </a:ext>
            </a:extLst>
          </p:cNvPr>
          <p:cNvSpPr txBox="1">
            <a:spLocks/>
          </p:cNvSpPr>
          <p:nvPr/>
        </p:nvSpPr>
        <p:spPr>
          <a:xfrm>
            <a:off x="11296392" y="7788274"/>
            <a:ext cx="3066778" cy="17526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tx1"/>
                </a:solidFill>
                <a:latin typeface="Inter" panose="02000503000000020004" pitchFamily="50" charset="0"/>
                <a:cs typeface="Inter" panose="02000503000000020004" pitchFamily="50" charset="0"/>
              </a:rPr>
              <a:t>© </a:t>
            </a:r>
            <a:fld id="{C0650B53-F5B1-403A-BD70-58B7AE2589AD}" type="datetimeyyyy">
              <a:rPr lang="en-US" sz="850" smtClean="0">
                <a:solidFill>
                  <a:schemeClr val="tx1"/>
                </a:solidFill>
                <a:latin typeface="Inter" panose="02000503000000020004" pitchFamily="50" charset="0"/>
                <a:cs typeface="Inter" panose="02000503000000020004" pitchFamily="50" charset="0"/>
              </a:rPr>
              <a:pPr algn="r"/>
              <a:t>2026</a:t>
            </a:fld>
            <a:r>
              <a:rPr lang="en-US" sz="850">
                <a:solidFill>
                  <a:schemeClr val="tx1"/>
                </a:solidFill>
                <a:latin typeface="Inter" panose="02000503000000020004" pitchFamily="50" charset="0"/>
                <a:cs typeface="Inter" panose="02000503000000020004" pitchFamily="50" charset="0"/>
              </a:rPr>
              <a:t> DXC Technology Company. All rights reserved.</a:t>
            </a:r>
          </a:p>
        </p:txBody>
      </p:sp>
    </p:spTree>
    <p:extLst>
      <p:ext uri="{BB962C8B-B14F-4D97-AF65-F5344CB8AC3E}">
        <p14:creationId xmlns:p14="http://schemas.microsoft.com/office/powerpoint/2010/main" val="421598328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2"/>
          <p:cNvSpPr>
            <a:spLocks noGrp="1"/>
          </p:cNvSpPr>
          <p:nvPr>
            <p:ph idx="1"/>
          </p:nvPr>
        </p:nvSpPr>
        <p:spPr/>
        <p:txBody>
          <a:bodyPr/>
          <a:lstStyle>
            <a:lvl4pPr marL="457200" indent="-228600">
              <a:buFont typeface="Arial" pitchFamily="34" charset="0"/>
              <a:buChar char="–"/>
              <a:defRPr/>
            </a:lvl4pPr>
            <a:lvl5pPr marL="685800" indent="-228600">
              <a:buFont typeface="Arial" pitchFamily="34" charset="0"/>
              <a:buChar char="–"/>
              <a:defRPr/>
            </a:lvl5pPr>
            <a:lvl6pPr marL="914400" indent="-228600">
              <a:buFont typeface="Arial" pitchFamily="34" charset="0"/>
              <a:buChar char="–"/>
              <a:defRPr baseline="0"/>
            </a:lvl6pPr>
            <a:lvl7pPr marL="1143000" indent="-228600">
              <a:buFont typeface="Arial" pitchFamily="34" charset="0"/>
              <a:buChar char="–"/>
              <a:defRPr baseline="0"/>
            </a:lvl7pPr>
            <a:lvl8pPr marL="1371600" indent="-228600">
              <a:buFont typeface="Arial" pitchFamily="34" charset="0"/>
              <a:buChar char="–"/>
              <a:defRPr baseline="0"/>
            </a:lvl8pPr>
            <a:lvl9pPr marL="1600200" indent="-228600">
              <a:buFont typeface="Arial" pitchFamily="34" charset="0"/>
              <a:buChar cha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67813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wo Content">
    <p:spTree>
      <p:nvGrpSpPr>
        <p:cNvPr id="1" name=""/>
        <p:cNvGrpSpPr/>
        <p:nvPr/>
      </p:nvGrpSpPr>
      <p:grpSpPr>
        <a:xfrm>
          <a:off x="0" y="0"/>
          <a:ext cx="0" cy="0"/>
          <a:chOff x="0" y="0"/>
          <a:chExt cx="0" cy="0"/>
        </a:xfrm>
      </p:grpSpPr>
      <p:sp>
        <p:nvSpPr>
          <p:cNvPr id="3" name="Content 2"/>
          <p:cNvSpPr>
            <a:spLocks noGrp="1"/>
          </p:cNvSpPr>
          <p:nvPr>
            <p:ph sz="half" idx="1"/>
          </p:nvPr>
        </p:nvSpPr>
        <p:spPr>
          <a:xfrm>
            <a:off x="685800" y="2057399"/>
            <a:ext cx="6400800" cy="5121276"/>
          </a:xfrm>
          <a:noFill/>
        </p:spPr>
        <p:txBody>
          <a:bodyPr>
            <a:normAutofit/>
          </a:bodyPr>
          <a:lstStyle>
            <a:lvl1pPr>
              <a:defRPr sz="2000"/>
            </a:lvl1pPr>
            <a:lvl2pPr>
              <a:defRPr sz="2000"/>
            </a:lvl2pPr>
            <a:lvl3pPr>
              <a:defRPr sz="2000"/>
            </a:lvl3pPr>
            <a:lvl4pPr marL="457200" indent="-228600">
              <a:buFont typeface="Arial" pitchFamily="34" charset="0"/>
              <a:buChar char="–"/>
              <a:defRPr sz="2000"/>
            </a:lvl4pPr>
            <a:lvl5pPr marL="685800" indent="-228600">
              <a:buFont typeface="Arial" pitchFamily="34" charset="0"/>
              <a:buChar char="–"/>
              <a:defRPr sz="2000"/>
            </a:lvl5pPr>
            <a:lvl6pPr marL="914400" indent="-228600">
              <a:buFont typeface="Arial" pitchFamily="34" charset="0"/>
              <a:buChar char="–"/>
              <a:defRPr sz="2000" baseline="0"/>
            </a:lvl6pPr>
            <a:lvl7pPr marL="1143000" indent="-228600">
              <a:buFont typeface="Arial" pitchFamily="34" charset="0"/>
              <a:buChar char="–"/>
              <a:defRPr sz="2000" baseline="0"/>
            </a:lvl7pPr>
            <a:lvl8pPr marL="1371600" indent="-228600">
              <a:buFont typeface="Arial" pitchFamily="34" charset="0"/>
              <a:buChar char="–"/>
              <a:defRPr sz="2000" baseline="0"/>
            </a:lvl8pPr>
            <a:lvl9pPr marL="1600200" indent="-228600">
              <a:buFont typeface="Arial" pitchFamily="34" charset="0"/>
              <a:buChar cha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3"/>
          <p:cNvSpPr>
            <a:spLocks noGrp="1"/>
          </p:cNvSpPr>
          <p:nvPr>
            <p:ph sz="half" idx="2"/>
          </p:nvPr>
        </p:nvSpPr>
        <p:spPr>
          <a:xfrm>
            <a:off x="7543800" y="2057398"/>
            <a:ext cx="6400800" cy="5121274"/>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66326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hree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5800" y="2057399"/>
            <a:ext cx="4114800" cy="5121276"/>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57800" y="2057399"/>
            <a:ext cx="4114800" cy="5121276"/>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p:cNvSpPr>
            <a:spLocks noGrp="1"/>
          </p:cNvSpPr>
          <p:nvPr>
            <p:ph sz="half" idx="13"/>
          </p:nvPr>
        </p:nvSpPr>
        <p:spPr>
          <a:xfrm>
            <a:off x="9829800" y="2057399"/>
            <a:ext cx="4114800" cy="5121276"/>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8"/>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52946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cSld name="Agenda">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5FD12025-2BD2-A09B-9EFB-A38829256B90}"/>
              </a:ext>
            </a:extLst>
          </p:cNvPr>
          <p:cNvSpPr>
            <a:spLocks noGrp="1"/>
          </p:cNvSpPr>
          <p:nvPr>
            <p:ph type="title"/>
          </p:nvPr>
        </p:nvSpPr>
        <p:spPr>
          <a:xfrm>
            <a:off x="484187" y="1305919"/>
            <a:ext cx="13689011" cy="1097280"/>
          </a:xfrm>
          <a:prstGeom prst="rect">
            <a:avLst/>
          </a:prstGeom>
        </p:spPr>
        <p:txBody>
          <a:bodyPr vert="horz" lIns="0" tIns="0" rIns="0" bIns="0" rtlCol="0" anchor="t" anchorCtr="0">
            <a:noAutofit/>
          </a:bodyPr>
          <a:lstStyle/>
          <a:p>
            <a:r>
              <a:rPr lang="en-US"/>
              <a:t>Click to edit Master title style</a:t>
            </a:r>
          </a:p>
        </p:txBody>
      </p:sp>
      <p:sp>
        <p:nvSpPr>
          <p:cNvPr id="4" name="Text Placeholder 2">
            <a:extLst>
              <a:ext uri="{FF2B5EF4-FFF2-40B4-BE49-F238E27FC236}">
                <a16:creationId xmlns:a16="http://schemas.microsoft.com/office/drawing/2014/main" id="{BB7E8852-BD92-0355-4AE0-D8D8FAF44344}"/>
              </a:ext>
            </a:extLst>
          </p:cNvPr>
          <p:cNvSpPr>
            <a:spLocks noGrp="1"/>
          </p:cNvSpPr>
          <p:nvPr>
            <p:ph idx="1"/>
          </p:nvPr>
        </p:nvSpPr>
        <p:spPr>
          <a:xfrm>
            <a:off x="484188" y="2506980"/>
            <a:ext cx="13689012" cy="5162551"/>
          </a:xfrm>
          <a:prstGeom prst="rect">
            <a:avLst/>
          </a:prstGeom>
        </p:spPr>
        <p:txBody>
          <a:bodyPr vert="horz" lIns="0" tIns="45720" rIns="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36730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4645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tyleguide (No Descripti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75DE322-BB62-1F07-1CDA-135ED5F4EFDE}"/>
              </a:ext>
            </a:extLst>
          </p:cNvPr>
          <p:cNvSpPr/>
          <p:nvPr/>
        </p:nvSpPr>
        <p:spPr>
          <a:xfrm>
            <a:off x="0" y="0"/>
            <a:ext cx="14630400" cy="8229600"/>
          </a:xfrm>
          <a:prstGeom prst="rect">
            <a:avLst/>
          </a:prstGeom>
          <a:solidFill>
            <a:srgbClr val="F6F3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52" b="1">
              <a:latin typeface="Inter" panose="02000503000000020004" pitchFamily="50" charset="0"/>
              <a:ea typeface="Inter" panose="02000503000000020004" pitchFamily="50" charset="0"/>
              <a:cs typeface="Inter" panose="02000503000000020004" pitchFamily="50" charset="0"/>
            </a:endParaRPr>
          </a:p>
        </p:txBody>
      </p:sp>
      <p:sp>
        <p:nvSpPr>
          <p:cNvPr id="3" name="Title Placeholder 1">
            <a:extLst>
              <a:ext uri="{FF2B5EF4-FFF2-40B4-BE49-F238E27FC236}">
                <a16:creationId xmlns:a16="http://schemas.microsoft.com/office/drawing/2014/main" id="{5FD12025-2BD2-A09B-9EFB-A38829256B90}"/>
              </a:ext>
            </a:extLst>
          </p:cNvPr>
          <p:cNvSpPr>
            <a:spLocks noGrp="1"/>
          </p:cNvSpPr>
          <p:nvPr>
            <p:ph type="title"/>
          </p:nvPr>
        </p:nvSpPr>
        <p:spPr>
          <a:xfrm>
            <a:off x="484187" y="1305919"/>
            <a:ext cx="13689011" cy="1097280"/>
          </a:xfrm>
          <a:prstGeom prst="rect">
            <a:avLst/>
          </a:prstGeom>
        </p:spPr>
        <p:txBody>
          <a:bodyPr vert="horz" lIns="0" tIns="0" rIns="0" bIns="0" rtlCol="0" anchor="t" anchorCtr="0">
            <a:noAutofit/>
          </a:bodyPr>
          <a:lstStyle/>
          <a:p>
            <a:r>
              <a:rPr lang="en-US"/>
              <a:t>Click to edit Master title style</a:t>
            </a:r>
          </a:p>
        </p:txBody>
      </p:sp>
      <p:sp>
        <p:nvSpPr>
          <p:cNvPr id="4" name="Text Placeholder 2">
            <a:extLst>
              <a:ext uri="{FF2B5EF4-FFF2-40B4-BE49-F238E27FC236}">
                <a16:creationId xmlns:a16="http://schemas.microsoft.com/office/drawing/2014/main" id="{BB7E8852-BD92-0355-4AE0-D8D8FAF44344}"/>
              </a:ext>
            </a:extLst>
          </p:cNvPr>
          <p:cNvSpPr>
            <a:spLocks noGrp="1"/>
          </p:cNvSpPr>
          <p:nvPr>
            <p:ph idx="1"/>
          </p:nvPr>
        </p:nvSpPr>
        <p:spPr>
          <a:xfrm>
            <a:off x="484188" y="2506980"/>
            <a:ext cx="5307012" cy="5162551"/>
          </a:xfrm>
          <a:prstGeom prst="rect">
            <a:avLst/>
          </a:prstGeom>
        </p:spPr>
        <p:txBody>
          <a:bodyPr vert="horz" lIns="0" tIns="45720" rIns="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5AE84E7C-8DF7-9286-1F6A-E0EDDF612E0D}"/>
              </a:ext>
            </a:extLst>
          </p:cNvPr>
          <p:cNvSpPr txBox="1"/>
          <p:nvPr/>
        </p:nvSpPr>
        <p:spPr>
          <a:xfrm>
            <a:off x="12008591" y="7985760"/>
            <a:ext cx="2354579" cy="123111"/>
          </a:xfrm>
          <a:prstGeom prst="rect">
            <a:avLst/>
          </a:prstGeom>
          <a:noFill/>
        </p:spPr>
        <p:txBody>
          <a:bodyPr wrap="square" lIns="0" tIns="0" rIns="0" bIns="0">
            <a:spAutoFit/>
          </a:bodyPr>
          <a:lstStyle/>
          <a:p>
            <a:pPr algn="r"/>
            <a:r>
              <a:rPr lang="en-US" sz="800" b="0">
                <a:solidFill>
                  <a:srgbClr val="B4B0AC"/>
                </a:solidFill>
                <a:latin typeface="Inter" panose="02000503000000020004" pitchFamily="50" charset="0"/>
                <a:cs typeface="Inter" panose="02000503000000020004" pitchFamily="50" charset="0"/>
              </a:rPr>
              <a:t>DXC Internal</a:t>
            </a:r>
          </a:p>
        </p:txBody>
      </p:sp>
      <p:sp>
        <p:nvSpPr>
          <p:cNvPr id="5" name="Footer Placeholder 4">
            <a:extLst>
              <a:ext uri="{FF2B5EF4-FFF2-40B4-BE49-F238E27FC236}">
                <a16:creationId xmlns:a16="http://schemas.microsoft.com/office/drawing/2014/main" id="{A95E9DC9-2842-272D-FE94-51D6897B7218}"/>
              </a:ext>
            </a:extLst>
          </p:cNvPr>
          <p:cNvSpPr txBox="1">
            <a:spLocks/>
          </p:cNvSpPr>
          <p:nvPr/>
        </p:nvSpPr>
        <p:spPr>
          <a:xfrm>
            <a:off x="11296392" y="7788274"/>
            <a:ext cx="3066778" cy="17526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tx1"/>
                </a:solidFill>
                <a:latin typeface="Inter" panose="02000503000000020004" pitchFamily="50" charset="0"/>
                <a:cs typeface="Inter" panose="02000503000000020004" pitchFamily="50" charset="0"/>
              </a:rPr>
              <a:t>© </a:t>
            </a:r>
            <a:fld id="{C0650B53-F5B1-403A-BD70-58B7AE2589AD}" type="datetimeyyyy">
              <a:rPr lang="en-US" sz="850" smtClean="0">
                <a:solidFill>
                  <a:schemeClr val="tx1"/>
                </a:solidFill>
                <a:latin typeface="Inter" panose="02000503000000020004" pitchFamily="50" charset="0"/>
                <a:cs typeface="Inter" panose="02000503000000020004" pitchFamily="50" charset="0"/>
              </a:rPr>
              <a:pPr algn="r"/>
              <a:t>2026</a:t>
            </a:fld>
            <a:r>
              <a:rPr lang="en-US" sz="850">
                <a:solidFill>
                  <a:schemeClr val="tx1"/>
                </a:solidFill>
                <a:latin typeface="Inter" panose="02000503000000020004" pitchFamily="50" charset="0"/>
                <a:cs typeface="Inter" panose="02000503000000020004" pitchFamily="50" charset="0"/>
              </a:rPr>
              <a:t> DXC Technology Company. All rights reserved.</a:t>
            </a:r>
          </a:p>
        </p:txBody>
      </p:sp>
      <p:pic>
        <p:nvPicPr>
          <p:cNvPr id="6" name="Union" descr="preencoded.png">
            <a:extLst>
              <a:ext uri="{FF2B5EF4-FFF2-40B4-BE49-F238E27FC236}">
                <a16:creationId xmlns:a16="http://schemas.microsoft.com/office/drawing/2014/main" id="{2B2237AB-9675-5704-5381-9A5B56F64438}"/>
              </a:ext>
            </a:extLst>
          </p:cNvPr>
          <p:cNvPicPr>
            <a:picLocks noChangeAspect="1"/>
          </p:cNvPicPr>
          <p:nvPr/>
        </p:nvPicPr>
        <p:blipFill>
          <a:blip r:embed="rId2"/>
          <a:srcRect/>
          <a:stretch/>
        </p:blipFill>
        <p:spPr>
          <a:xfrm>
            <a:off x="491014" y="228835"/>
            <a:ext cx="938212" cy="151929"/>
          </a:xfrm>
          <a:prstGeom prst="rect">
            <a:avLst/>
          </a:prstGeom>
        </p:spPr>
      </p:pic>
    </p:spTree>
    <p:extLst>
      <p:ext uri="{BB962C8B-B14F-4D97-AF65-F5344CB8AC3E}">
        <p14:creationId xmlns:p14="http://schemas.microsoft.com/office/powerpoint/2010/main" val="253249397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Content (Primary)">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107086DB-C6B2-0EAA-2AD5-9B3FF5BF83BA}"/>
              </a:ext>
            </a:extLst>
          </p:cNvPr>
          <p:cNvSpPr>
            <a:spLocks noGrp="1"/>
          </p:cNvSpPr>
          <p:nvPr>
            <p:ph type="subTitle" idx="1" hasCustomPrompt="1"/>
          </p:nvPr>
        </p:nvSpPr>
        <p:spPr>
          <a:xfrm>
            <a:off x="466451" y="888296"/>
            <a:ext cx="4358641" cy="201337"/>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7" name="Text Placeholder 2">
            <a:extLst>
              <a:ext uri="{FF2B5EF4-FFF2-40B4-BE49-F238E27FC236}">
                <a16:creationId xmlns:a16="http://schemas.microsoft.com/office/drawing/2014/main" id="{027718AA-D45F-B35B-3E8D-9C19F3BD2724}"/>
              </a:ext>
            </a:extLst>
          </p:cNvPr>
          <p:cNvSpPr>
            <a:spLocks noGrp="1"/>
          </p:cNvSpPr>
          <p:nvPr>
            <p:ph idx="10" hasCustomPrompt="1"/>
          </p:nvPr>
        </p:nvSpPr>
        <p:spPr>
          <a:xfrm>
            <a:off x="3105150" y="2506979"/>
            <a:ext cx="11068050" cy="5162551"/>
          </a:xfrm>
          <a:prstGeom prst="rect">
            <a:avLst/>
          </a:prstGeom>
        </p:spPr>
        <p:txBody>
          <a:bodyPr vert="horz" lIns="0" tIns="45720" rIns="0" bIns="45720" rtlCol="0">
            <a:noAutofit/>
          </a:bodyPr>
          <a:lstStyle>
            <a:lvl1pPr>
              <a:spcAft>
                <a:spcPts val="400"/>
              </a:spcAft>
              <a:defRPr/>
            </a:lvl1pPr>
            <a:lvl2pPr>
              <a:spcAft>
                <a:spcPts val="400"/>
              </a:spcAft>
              <a:defRPr/>
            </a:lvl2pPr>
            <a:lvl3pPr>
              <a:spcAft>
                <a:spcPts val="400"/>
              </a:spcAft>
              <a:defRPr sz="1600"/>
            </a:lvl3pPr>
            <a:lvl4pPr>
              <a:spcAft>
                <a:spcPts val="400"/>
              </a:spcAft>
              <a:defRPr/>
            </a:lvl4pPr>
            <a:lvl5pPr>
              <a:spcAft>
                <a:spcPts val="4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Placeholder 1">
            <a:extLst>
              <a:ext uri="{FF2B5EF4-FFF2-40B4-BE49-F238E27FC236}">
                <a16:creationId xmlns:a16="http://schemas.microsoft.com/office/drawing/2014/main" id="{91704F69-1FC3-DB7A-1D08-B981EE2B7396}"/>
              </a:ext>
            </a:extLst>
          </p:cNvPr>
          <p:cNvSpPr>
            <a:spLocks noGrp="1"/>
          </p:cNvSpPr>
          <p:nvPr>
            <p:ph type="title"/>
          </p:nvPr>
        </p:nvSpPr>
        <p:spPr>
          <a:xfrm>
            <a:off x="484187" y="1305919"/>
            <a:ext cx="13689011" cy="1097280"/>
          </a:xfrm>
          <a:prstGeom prst="rect">
            <a:avLst/>
          </a:prstGeom>
        </p:spPr>
        <p:txBody>
          <a:bodyPr vert="horz" lIns="0" tIns="0" rIns="0" bIns="0" rtlCol="0" anchor="t" anchorCtr="0">
            <a:noAutofit/>
          </a:bodyPr>
          <a:lstStyle/>
          <a:p>
            <a:r>
              <a:rPr lang="en-US"/>
              <a:t>Click to edit Master title style</a:t>
            </a:r>
          </a:p>
        </p:txBody>
      </p:sp>
    </p:spTree>
    <p:extLst>
      <p:ext uri="{BB962C8B-B14F-4D97-AF65-F5344CB8AC3E}">
        <p14:creationId xmlns:p14="http://schemas.microsoft.com/office/powerpoint/2010/main" val="114915358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ontent (Left Aligne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107086DB-C6B2-0EAA-2AD5-9B3FF5BF83BA}"/>
              </a:ext>
            </a:extLst>
          </p:cNvPr>
          <p:cNvSpPr>
            <a:spLocks noGrp="1"/>
          </p:cNvSpPr>
          <p:nvPr>
            <p:ph type="subTitle" idx="1" hasCustomPrompt="1"/>
          </p:nvPr>
        </p:nvSpPr>
        <p:spPr>
          <a:xfrm>
            <a:off x="466451" y="888296"/>
            <a:ext cx="4358641" cy="201337"/>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7" name="Text Placeholder 2">
            <a:extLst>
              <a:ext uri="{FF2B5EF4-FFF2-40B4-BE49-F238E27FC236}">
                <a16:creationId xmlns:a16="http://schemas.microsoft.com/office/drawing/2014/main" id="{027718AA-D45F-B35B-3E8D-9C19F3BD2724}"/>
              </a:ext>
            </a:extLst>
          </p:cNvPr>
          <p:cNvSpPr>
            <a:spLocks noGrp="1"/>
          </p:cNvSpPr>
          <p:nvPr>
            <p:ph idx="10" hasCustomPrompt="1"/>
          </p:nvPr>
        </p:nvSpPr>
        <p:spPr>
          <a:xfrm>
            <a:off x="484187" y="2506979"/>
            <a:ext cx="11022013" cy="5162551"/>
          </a:xfrm>
          <a:prstGeom prst="rect">
            <a:avLst/>
          </a:prstGeom>
        </p:spPr>
        <p:txBody>
          <a:bodyPr vert="horz" lIns="0" tIns="45720" rIns="0" bIns="45720" rtlCol="0">
            <a:noAutofit/>
          </a:bodyPr>
          <a:lstStyle>
            <a:lvl1pPr>
              <a:spcAft>
                <a:spcPts val="400"/>
              </a:spcAft>
              <a:defRPr/>
            </a:lvl1pPr>
            <a:lvl2pPr>
              <a:spcAft>
                <a:spcPts val="400"/>
              </a:spcAft>
              <a:defRPr/>
            </a:lvl2pPr>
            <a:lvl3pPr>
              <a:spcAft>
                <a:spcPts val="400"/>
              </a:spcAft>
              <a:defRPr sz="1600"/>
            </a:lvl3pPr>
            <a:lvl4pPr>
              <a:spcAft>
                <a:spcPts val="400"/>
              </a:spcAft>
              <a:defRPr/>
            </a:lvl4pPr>
            <a:lvl5pPr>
              <a:spcAft>
                <a:spcPts val="4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Placeholder 1">
            <a:extLst>
              <a:ext uri="{FF2B5EF4-FFF2-40B4-BE49-F238E27FC236}">
                <a16:creationId xmlns:a16="http://schemas.microsoft.com/office/drawing/2014/main" id="{91704F69-1FC3-DB7A-1D08-B981EE2B7396}"/>
              </a:ext>
            </a:extLst>
          </p:cNvPr>
          <p:cNvSpPr>
            <a:spLocks noGrp="1"/>
          </p:cNvSpPr>
          <p:nvPr>
            <p:ph type="title"/>
          </p:nvPr>
        </p:nvSpPr>
        <p:spPr>
          <a:xfrm>
            <a:off x="484187" y="1305919"/>
            <a:ext cx="13689011" cy="1097280"/>
          </a:xfrm>
          <a:prstGeom prst="rect">
            <a:avLst/>
          </a:prstGeom>
        </p:spPr>
        <p:txBody>
          <a:bodyPr vert="horz" lIns="0" tIns="0" rIns="0" bIns="0" rtlCol="0" anchor="t" anchorCtr="0">
            <a:noAutofit/>
          </a:bodyPr>
          <a:lstStyle/>
          <a:p>
            <a:r>
              <a:rPr lang="en-US"/>
              <a:t>Click to edit Master title style</a:t>
            </a:r>
          </a:p>
        </p:txBody>
      </p:sp>
    </p:spTree>
    <p:extLst>
      <p:ext uri="{BB962C8B-B14F-4D97-AF65-F5344CB8AC3E}">
        <p14:creationId xmlns:p14="http://schemas.microsoft.com/office/powerpoint/2010/main" val="187702861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107086DB-C6B2-0EAA-2AD5-9B3FF5BF83BA}"/>
              </a:ext>
            </a:extLst>
          </p:cNvPr>
          <p:cNvSpPr>
            <a:spLocks noGrp="1"/>
          </p:cNvSpPr>
          <p:nvPr>
            <p:ph type="subTitle" idx="1" hasCustomPrompt="1"/>
          </p:nvPr>
        </p:nvSpPr>
        <p:spPr>
          <a:xfrm>
            <a:off x="466451" y="888296"/>
            <a:ext cx="4358641" cy="201337"/>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9" name="Text Placeholder 2">
            <a:extLst>
              <a:ext uri="{FF2B5EF4-FFF2-40B4-BE49-F238E27FC236}">
                <a16:creationId xmlns:a16="http://schemas.microsoft.com/office/drawing/2014/main" id="{4B9C8783-1EE1-5F05-94F0-020AC1279309}"/>
              </a:ext>
            </a:extLst>
          </p:cNvPr>
          <p:cNvSpPr>
            <a:spLocks noGrp="1"/>
          </p:cNvSpPr>
          <p:nvPr>
            <p:ph idx="10" hasCustomPrompt="1"/>
          </p:nvPr>
        </p:nvSpPr>
        <p:spPr>
          <a:xfrm>
            <a:off x="3113088" y="2506979"/>
            <a:ext cx="5283489" cy="5162551"/>
          </a:xfrm>
          <a:prstGeom prst="rect">
            <a:avLst/>
          </a:prstGeom>
        </p:spPr>
        <p:txBody>
          <a:bodyPr vert="horz" lIns="0" tIns="45720" rIns="0" bIns="45720" rtlCol="0">
            <a:noAutofit/>
          </a:bodyPr>
          <a:lstStyle>
            <a:lvl1pPr>
              <a:spcAft>
                <a:spcPts val="400"/>
              </a:spcAft>
              <a:defRPr/>
            </a:lvl1pPr>
            <a:lvl2pPr>
              <a:spcAft>
                <a:spcPts val="400"/>
              </a:spcAft>
              <a:defRPr/>
            </a:lvl2pPr>
            <a:lvl3pPr>
              <a:spcAft>
                <a:spcPts val="400"/>
              </a:spcAft>
              <a:defRPr sz="1600"/>
            </a:lvl3pPr>
            <a:lvl4pPr>
              <a:spcAft>
                <a:spcPts val="400"/>
              </a:spcAft>
              <a:defRPr/>
            </a:lvl4pPr>
            <a:lvl5pPr>
              <a:spcAft>
                <a:spcPts val="4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Placeholder 1">
            <a:extLst>
              <a:ext uri="{FF2B5EF4-FFF2-40B4-BE49-F238E27FC236}">
                <a16:creationId xmlns:a16="http://schemas.microsoft.com/office/drawing/2014/main" id="{5C207ECF-D4C3-643D-CB6A-041FFB7097D0}"/>
              </a:ext>
            </a:extLst>
          </p:cNvPr>
          <p:cNvSpPr>
            <a:spLocks noGrp="1"/>
          </p:cNvSpPr>
          <p:nvPr>
            <p:ph type="title"/>
          </p:nvPr>
        </p:nvSpPr>
        <p:spPr>
          <a:xfrm>
            <a:off x="484187" y="1305919"/>
            <a:ext cx="13689011" cy="1097280"/>
          </a:xfrm>
          <a:prstGeom prst="rect">
            <a:avLst/>
          </a:prstGeom>
        </p:spPr>
        <p:txBody>
          <a:bodyPr vert="horz" lIns="0" tIns="0" rIns="0" bIns="0" rtlCol="0" anchor="t" anchorCtr="0">
            <a:noAutofit/>
          </a:bodyPr>
          <a:lstStyle/>
          <a:p>
            <a:r>
              <a:rPr lang="en-US"/>
              <a:t>Click to edit Master title style</a:t>
            </a:r>
          </a:p>
        </p:txBody>
      </p:sp>
      <p:sp>
        <p:nvSpPr>
          <p:cNvPr id="12" name="Text Placeholder 2">
            <a:extLst>
              <a:ext uri="{FF2B5EF4-FFF2-40B4-BE49-F238E27FC236}">
                <a16:creationId xmlns:a16="http://schemas.microsoft.com/office/drawing/2014/main" id="{27C006B6-6F06-D002-5779-598B7A382848}"/>
              </a:ext>
            </a:extLst>
          </p:cNvPr>
          <p:cNvSpPr>
            <a:spLocks noGrp="1"/>
          </p:cNvSpPr>
          <p:nvPr>
            <p:ph idx="11" hasCustomPrompt="1"/>
          </p:nvPr>
        </p:nvSpPr>
        <p:spPr>
          <a:xfrm>
            <a:off x="8856663" y="2506978"/>
            <a:ext cx="5065302" cy="5162551"/>
          </a:xfrm>
          <a:prstGeom prst="rect">
            <a:avLst/>
          </a:prstGeom>
        </p:spPr>
        <p:txBody>
          <a:bodyPr vert="horz" lIns="0" tIns="45720" rIns="0" bIns="45720" rtlCol="0">
            <a:noAutofit/>
          </a:bodyPr>
          <a:lstStyle>
            <a:lvl1pPr>
              <a:spcAft>
                <a:spcPts val="400"/>
              </a:spcAft>
              <a:defRPr/>
            </a:lvl1pPr>
            <a:lvl2pPr>
              <a:spcAft>
                <a:spcPts val="400"/>
              </a:spcAft>
              <a:defRPr/>
            </a:lvl2pPr>
            <a:lvl3pPr>
              <a:spcAft>
                <a:spcPts val="400"/>
              </a:spcAft>
              <a:defRPr sz="1600"/>
            </a:lvl3pPr>
            <a:lvl4pPr>
              <a:spcAft>
                <a:spcPts val="400"/>
              </a:spcAft>
              <a:defRPr/>
            </a:lvl4pPr>
            <a:lvl5pPr>
              <a:spcAft>
                <a:spcPts val="4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098684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ullete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105150" y="2506978"/>
            <a:ext cx="11068048" cy="5162552"/>
          </a:xfrm>
          <a:prstGeom prst="rect">
            <a:avLst/>
          </a:prstGeom>
        </p:spPr>
        <p:txBody>
          <a:bodyPr>
            <a:noAutofit/>
          </a:bodyPr>
          <a:lstStyle>
            <a:lvl1pPr marL="228600" indent="-228600">
              <a:buFont typeface="Arial" pitchFamily="34" charset="0"/>
              <a:buChar char="•"/>
              <a:defRPr sz="1600" b="0"/>
            </a:lvl1pPr>
            <a:lvl2pPr marL="457200" indent="-228600">
              <a:spcBef>
                <a:spcPts val="600"/>
              </a:spcBef>
              <a:buFont typeface="Arial" pitchFamily="34" charset="0"/>
              <a:buChar char="–"/>
              <a:defRPr sz="1600" b="0"/>
            </a:lvl2pPr>
            <a:lvl3pPr marL="685800" indent="-228600">
              <a:spcBef>
                <a:spcPts val="600"/>
              </a:spcBef>
              <a:buFont typeface="Arial" pitchFamily="34" charset="0"/>
              <a:buChar char="–"/>
              <a:defRPr sz="1400" b="0"/>
            </a:lvl3pPr>
            <a:lvl4pPr marL="914400" indent="-228600">
              <a:spcBef>
                <a:spcPts val="600"/>
              </a:spcBef>
              <a:buFont typeface="Arial" pitchFamily="34" charset="0"/>
              <a:buChar char="–"/>
              <a:defRPr sz="1400" b="0"/>
            </a:lvl4pPr>
            <a:lvl5pPr marL="1143000" indent="-228600">
              <a:spcBef>
                <a:spcPts val="600"/>
              </a:spcBef>
              <a:buFont typeface="Arial" pitchFamily="34" charset="0"/>
              <a:buChar char="–"/>
              <a:defRPr sz="1400" b="0"/>
            </a:lvl5pPr>
            <a:lvl6pPr marL="1371600" indent="-228600">
              <a:spcBef>
                <a:spcPts val="600"/>
              </a:spcBef>
              <a:buFont typeface="Arial" pitchFamily="34" charset="0"/>
              <a:buChar char="–"/>
              <a:defRPr baseline="0"/>
            </a:lvl6pPr>
            <a:lvl7pPr marL="1600200" indent="-228600">
              <a:spcBef>
                <a:spcPts val="600"/>
              </a:spcBef>
              <a:buFont typeface="Arial" pitchFamily="34" charset="0"/>
              <a:buChar char="–"/>
              <a:defRPr baseline="0"/>
            </a:lvl7pPr>
            <a:lvl8pPr marL="1828800" indent="-228600">
              <a:spcBef>
                <a:spcPts val="600"/>
              </a:spcBef>
              <a:buFont typeface="Arial" pitchFamily="34" charset="0"/>
              <a:buChar char="–"/>
              <a:defRPr baseline="0"/>
            </a:lvl8pPr>
            <a:lvl9pPr marL="2057400" indent="-228600">
              <a:spcBef>
                <a:spcPts val="600"/>
              </a:spcBef>
              <a:buFont typeface="Arial" pitchFamily="34" charset="0"/>
              <a:buChar cha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ubtitle 2">
            <a:extLst>
              <a:ext uri="{FF2B5EF4-FFF2-40B4-BE49-F238E27FC236}">
                <a16:creationId xmlns:a16="http://schemas.microsoft.com/office/drawing/2014/main" id="{6E9DCC20-00EA-22DD-2AE0-CB3AE03BE68F}"/>
              </a:ext>
            </a:extLst>
          </p:cNvPr>
          <p:cNvSpPr>
            <a:spLocks noGrp="1"/>
          </p:cNvSpPr>
          <p:nvPr>
            <p:ph type="subTitle" idx="10" hasCustomPrompt="1"/>
          </p:nvPr>
        </p:nvSpPr>
        <p:spPr>
          <a:xfrm>
            <a:off x="466451" y="888296"/>
            <a:ext cx="4358641" cy="201337"/>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4" name="Title Placeholder 1">
            <a:extLst>
              <a:ext uri="{FF2B5EF4-FFF2-40B4-BE49-F238E27FC236}">
                <a16:creationId xmlns:a16="http://schemas.microsoft.com/office/drawing/2014/main" id="{673ADA15-B0A6-A9E1-1441-0E6F1682B89E}"/>
              </a:ext>
            </a:extLst>
          </p:cNvPr>
          <p:cNvSpPr>
            <a:spLocks noGrp="1"/>
          </p:cNvSpPr>
          <p:nvPr>
            <p:ph type="title"/>
          </p:nvPr>
        </p:nvSpPr>
        <p:spPr>
          <a:xfrm>
            <a:off x="484187" y="1305919"/>
            <a:ext cx="13689011" cy="1097280"/>
          </a:xfrm>
          <a:prstGeom prst="rect">
            <a:avLst/>
          </a:prstGeom>
        </p:spPr>
        <p:txBody>
          <a:bodyPr vert="horz" lIns="0" tIns="0" rIns="0" bIns="0" rtlCol="0" anchor="t" anchorCtr="0">
            <a:noAutofit/>
          </a:bodyPr>
          <a:lstStyle/>
          <a:p>
            <a:r>
              <a:rPr lang="en-US"/>
              <a:t>Click to edit Master title style</a:t>
            </a:r>
          </a:p>
        </p:txBody>
      </p:sp>
    </p:spTree>
    <p:extLst>
      <p:ext uri="{BB962C8B-B14F-4D97-AF65-F5344CB8AC3E}">
        <p14:creationId xmlns:p14="http://schemas.microsoft.com/office/powerpoint/2010/main" val="1233353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 with Photo">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107086DB-C6B2-0EAA-2AD5-9B3FF5BF83BA}"/>
              </a:ext>
            </a:extLst>
          </p:cNvPr>
          <p:cNvSpPr>
            <a:spLocks noGrp="1"/>
          </p:cNvSpPr>
          <p:nvPr>
            <p:ph type="subTitle" idx="1" hasCustomPrompt="1"/>
          </p:nvPr>
        </p:nvSpPr>
        <p:spPr>
          <a:xfrm>
            <a:off x="466451" y="888296"/>
            <a:ext cx="4358641" cy="201337"/>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5" name="Text Placeholder 2">
            <a:extLst>
              <a:ext uri="{FF2B5EF4-FFF2-40B4-BE49-F238E27FC236}">
                <a16:creationId xmlns:a16="http://schemas.microsoft.com/office/drawing/2014/main" id="{B5717FA4-86CE-556E-68FB-95C761BEC1B6}"/>
              </a:ext>
            </a:extLst>
          </p:cNvPr>
          <p:cNvSpPr>
            <a:spLocks noGrp="1"/>
          </p:cNvSpPr>
          <p:nvPr>
            <p:ph idx="10" hasCustomPrompt="1"/>
          </p:nvPr>
        </p:nvSpPr>
        <p:spPr>
          <a:xfrm>
            <a:off x="484188" y="2506979"/>
            <a:ext cx="6831012" cy="5162551"/>
          </a:xfrm>
          <a:prstGeom prst="rect">
            <a:avLst/>
          </a:prstGeom>
        </p:spPr>
        <p:txBody>
          <a:bodyPr vert="horz" lIns="0" tIns="45720" rIns="0" bIns="45720" rtlCol="0">
            <a:noAutofit/>
          </a:bodyPr>
          <a:lstStyle>
            <a:lvl1pPr>
              <a:spcAft>
                <a:spcPts val="400"/>
              </a:spcAft>
              <a:defRPr/>
            </a:lvl1pPr>
            <a:lvl2pPr>
              <a:spcAft>
                <a:spcPts val="400"/>
              </a:spcAft>
              <a:defRPr/>
            </a:lvl2pPr>
            <a:lvl3pPr>
              <a:spcAft>
                <a:spcPts val="400"/>
              </a:spcAft>
              <a:defRPr sz="1600"/>
            </a:lvl3pPr>
            <a:lvl4pPr>
              <a:spcAft>
                <a:spcPts val="400"/>
              </a:spcAft>
              <a:defRPr/>
            </a:lvl4pPr>
            <a:lvl5pPr>
              <a:spcAft>
                <a:spcPts val="4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a:extLst>
              <a:ext uri="{FF2B5EF4-FFF2-40B4-BE49-F238E27FC236}">
                <a16:creationId xmlns:a16="http://schemas.microsoft.com/office/drawing/2014/main" id="{83CCBB92-4E2E-CA56-141C-71DDE9C9C724}"/>
              </a:ext>
            </a:extLst>
          </p:cNvPr>
          <p:cNvSpPr>
            <a:spLocks noGrp="1"/>
          </p:cNvSpPr>
          <p:nvPr>
            <p:ph type="title"/>
          </p:nvPr>
        </p:nvSpPr>
        <p:spPr>
          <a:xfrm>
            <a:off x="484187" y="1305919"/>
            <a:ext cx="13689011" cy="1097280"/>
          </a:xfrm>
          <a:prstGeom prst="rect">
            <a:avLst/>
          </a:prstGeom>
        </p:spPr>
        <p:txBody>
          <a:bodyPr vert="horz" lIns="0" tIns="0" rIns="0" bIns="0" rtlCol="0" anchor="t" anchorCtr="0">
            <a:noAutofit/>
          </a:bodyPr>
          <a:lstStyle/>
          <a:p>
            <a:r>
              <a:rPr lang="en-US"/>
              <a:t>Click to edit Master title style</a:t>
            </a:r>
          </a:p>
        </p:txBody>
      </p:sp>
      <p:pic>
        <p:nvPicPr>
          <p:cNvPr id="2" name="Picture 1">
            <a:extLst>
              <a:ext uri="{FF2B5EF4-FFF2-40B4-BE49-F238E27FC236}">
                <a16:creationId xmlns:a16="http://schemas.microsoft.com/office/drawing/2014/main" id="{B102B511-3FEB-1B8B-7719-09807E1FF985}"/>
              </a:ext>
            </a:extLst>
          </p:cNvPr>
          <p:cNvPicPr>
            <a:picLocks noChangeAspect="1"/>
          </p:cNvPicPr>
          <p:nvPr/>
        </p:nvPicPr>
        <p:blipFill>
          <a:blip r:embed="rId2"/>
          <a:srcRect r="3587"/>
          <a:stretch>
            <a:fillRect/>
          </a:stretch>
        </p:blipFill>
        <p:spPr>
          <a:xfrm>
            <a:off x="8343900" y="2053908"/>
            <a:ext cx="6286500" cy="5485475"/>
          </a:xfrm>
          <a:prstGeom prst="rect">
            <a:avLst/>
          </a:prstGeom>
        </p:spPr>
      </p:pic>
      <p:sp>
        <p:nvSpPr>
          <p:cNvPr id="7" name="Picture Placeholder 8">
            <a:extLst>
              <a:ext uri="{FF2B5EF4-FFF2-40B4-BE49-F238E27FC236}">
                <a16:creationId xmlns:a16="http://schemas.microsoft.com/office/drawing/2014/main" id="{E713CD5E-96D2-F3B4-7945-151C1A4F88EB}"/>
              </a:ext>
            </a:extLst>
          </p:cNvPr>
          <p:cNvSpPr>
            <a:spLocks noGrp="1"/>
          </p:cNvSpPr>
          <p:nvPr>
            <p:ph type="pic" sz="quarter" idx="13"/>
          </p:nvPr>
        </p:nvSpPr>
        <p:spPr>
          <a:xfrm>
            <a:off x="8839200" y="2508987"/>
            <a:ext cx="5524500" cy="4335780"/>
          </a:xfrm>
          <a:prstGeom prst="roundRect">
            <a:avLst>
              <a:gd name="adj" fmla="val 2257"/>
            </a:avLst>
          </a:prstGeom>
          <a:noFill/>
        </p:spPr>
        <p:txBody>
          <a:bodyPr anchor="ctr" anchorCtr="0">
            <a:normAutofit/>
          </a:bodyPr>
          <a:lstStyle>
            <a:lvl1pPr algn="ctr">
              <a:defRPr sz="1600" b="0"/>
            </a:lvl1pPr>
          </a:lstStyle>
          <a:p>
            <a:r>
              <a:rPr lang="en-US"/>
              <a:t>Click icon to add picture</a:t>
            </a:r>
          </a:p>
        </p:txBody>
      </p:sp>
    </p:spTree>
    <p:extLst>
      <p:ext uri="{BB962C8B-B14F-4D97-AF65-F5344CB8AC3E}">
        <p14:creationId xmlns:p14="http://schemas.microsoft.com/office/powerpoint/2010/main" val="224703824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hree Column Conten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E655C0-EAC8-C1F6-4E1E-A95627EE0C2E}"/>
              </a:ext>
            </a:extLst>
          </p:cNvPr>
          <p:cNvPicPr>
            <a:picLocks noChangeAspect="1"/>
          </p:cNvPicPr>
          <p:nvPr/>
        </p:nvPicPr>
        <p:blipFill>
          <a:blip r:embed="rId2"/>
          <a:srcRect r="3587"/>
          <a:stretch>
            <a:fillRect/>
          </a:stretch>
        </p:blipFill>
        <p:spPr>
          <a:xfrm>
            <a:off x="8343900" y="2053908"/>
            <a:ext cx="6286500" cy="5485475"/>
          </a:xfrm>
          <a:prstGeom prst="rect">
            <a:avLst/>
          </a:prstGeom>
        </p:spPr>
      </p:pic>
      <p:sp>
        <p:nvSpPr>
          <p:cNvPr id="4" name="Subtitle 2">
            <a:extLst>
              <a:ext uri="{FF2B5EF4-FFF2-40B4-BE49-F238E27FC236}">
                <a16:creationId xmlns:a16="http://schemas.microsoft.com/office/drawing/2014/main" id="{107086DB-C6B2-0EAA-2AD5-9B3FF5BF83BA}"/>
              </a:ext>
            </a:extLst>
          </p:cNvPr>
          <p:cNvSpPr>
            <a:spLocks noGrp="1"/>
          </p:cNvSpPr>
          <p:nvPr>
            <p:ph type="subTitle" idx="1" hasCustomPrompt="1"/>
          </p:nvPr>
        </p:nvSpPr>
        <p:spPr>
          <a:xfrm>
            <a:off x="466451" y="888296"/>
            <a:ext cx="4358641" cy="201337"/>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10" name="Title Placeholder 1">
            <a:extLst>
              <a:ext uri="{FF2B5EF4-FFF2-40B4-BE49-F238E27FC236}">
                <a16:creationId xmlns:a16="http://schemas.microsoft.com/office/drawing/2014/main" id="{1A965AE0-60E2-C612-1BE0-C4729967010D}"/>
              </a:ext>
            </a:extLst>
          </p:cNvPr>
          <p:cNvSpPr>
            <a:spLocks noGrp="1"/>
          </p:cNvSpPr>
          <p:nvPr>
            <p:ph type="title"/>
          </p:nvPr>
        </p:nvSpPr>
        <p:spPr>
          <a:xfrm>
            <a:off x="484187" y="1305919"/>
            <a:ext cx="13689011" cy="1097280"/>
          </a:xfrm>
          <a:prstGeom prst="rect">
            <a:avLst/>
          </a:prstGeom>
        </p:spPr>
        <p:txBody>
          <a:bodyPr vert="horz" lIns="0" tIns="0" rIns="0" bIns="0" rtlCol="0" anchor="t" anchorCtr="0">
            <a:noAutofit/>
          </a:bodyPr>
          <a:lstStyle/>
          <a:p>
            <a:r>
              <a:rPr lang="en-US"/>
              <a:t>Click to edit Master title style</a:t>
            </a:r>
          </a:p>
        </p:txBody>
      </p:sp>
      <p:sp>
        <p:nvSpPr>
          <p:cNvPr id="12" name="Text Placeholder 2">
            <a:extLst>
              <a:ext uri="{FF2B5EF4-FFF2-40B4-BE49-F238E27FC236}">
                <a16:creationId xmlns:a16="http://schemas.microsoft.com/office/drawing/2014/main" id="{535DE58E-558F-F5EC-1082-9B720020266F}"/>
              </a:ext>
            </a:extLst>
          </p:cNvPr>
          <p:cNvSpPr>
            <a:spLocks noGrp="1"/>
          </p:cNvSpPr>
          <p:nvPr>
            <p:ph idx="17" hasCustomPrompt="1"/>
          </p:nvPr>
        </p:nvSpPr>
        <p:spPr>
          <a:xfrm>
            <a:off x="4667521" y="2506979"/>
            <a:ext cx="3986784" cy="5162551"/>
          </a:xfrm>
          <a:prstGeom prst="rect">
            <a:avLst/>
          </a:prstGeom>
        </p:spPr>
        <p:txBody>
          <a:bodyPr vert="horz" lIns="0" tIns="45720" rIns="0" bIns="45720" rtlCol="0">
            <a:noAutofit/>
          </a:bodyPr>
          <a:lstStyle>
            <a:lvl1pPr>
              <a:spcAft>
                <a:spcPts val="400"/>
              </a:spcAft>
              <a:defRPr/>
            </a:lvl1pPr>
            <a:lvl2pPr>
              <a:spcAft>
                <a:spcPts val="400"/>
              </a:spcAft>
              <a:defRPr/>
            </a:lvl2pPr>
            <a:lvl3pPr>
              <a:spcAft>
                <a:spcPts val="400"/>
              </a:spcAft>
              <a:defRPr sz="1600"/>
            </a:lvl3pPr>
            <a:lvl4pPr>
              <a:spcAft>
                <a:spcPts val="400"/>
              </a:spcAft>
              <a:defRPr/>
            </a:lvl4pPr>
            <a:lvl5pPr>
              <a:spcAft>
                <a:spcPts val="4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2">
            <a:extLst>
              <a:ext uri="{FF2B5EF4-FFF2-40B4-BE49-F238E27FC236}">
                <a16:creationId xmlns:a16="http://schemas.microsoft.com/office/drawing/2014/main" id="{84B87AB6-AE03-F48C-7DF9-C5E130FC55E1}"/>
              </a:ext>
            </a:extLst>
          </p:cNvPr>
          <p:cNvSpPr>
            <a:spLocks noGrp="1"/>
          </p:cNvSpPr>
          <p:nvPr>
            <p:ph idx="10" hasCustomPrompt="1"/>
          </p:nvPr>
        </p:nvSpPr>
        <p:spPr>
          <a:xfrm>
            <a:off x="484188" y="2506979"/>
            <a:ext cx="3986784" cy="5162551"/>
          </a:xfrm>
          <a:prstGeom prst="rect">
            <a:avLst/>
          </a:prstGeom>
        </p:spPr>
        <p:txBody>
          <a:bodyPr vert="horz" lIns="0" tIns="45720" rIns="0" bIns="45720" rtlCol="0">
            <a:noAutofit/>
          </a:bodyPr>
          <a:lstStyle>
            <a:lvl1pPr>
              <a:spcAft>
                <a:spcPts val="400"/>
              </a:spcAft>
              <a:defRPr/>
            </a:lvl1pPr>
            <a:lvl2pPr>
              <a:spcAft>
                <a:spcPts val="400"/>
              </a:spcAft>
              <a:defRPr/>
            </a:lvl2pPr>
            <a:lvl3pPr>
              <a:spcAft>
                <a:spcPts val="400"/>
              </a:spcAft>
              <a:defRPr sz="1600"/>
            </a:lvl3pPr>
            <a:lvl4pPr>
              <a:spcAft>
                <a:spcPts val="400"/>
              </a:spcAft>
              <a:defRPr/>
            </a:lvl4pPr>
            <a:lvl5pPr>
              <a:spcAft>
                <a:spcPts val="4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8">
            <a:extLst>
              <a:ext uri="{FF2B5EF4-FFF2-40B4-BE49-F238E27FC236}">
                <a16:creationId xmlns:a16="http://schemas.microsoft.com/office/drawing/2014/main" id="{F77A56BE-E30D-A604-6EC0-1BA1C7B58FB5}"/>
              </a:ext>
            </a:extLst>
          </p:cNvPr>
          <p:cNvSpPr>
            <a:spLocks noGrp="1"/>
          </p:cNvSpPr>
          <p:nvPr>
            <p:ph type="pic" sz="quarter" idx="16"/>
          </p:nvPr>
        </p:nvSpPr>
        <p:spPr>
          <a:xfrm>
            <a:off x="8839200" y="2508987"/>
            <a:ext cx="5524500" cy="4335780"/>
          </a:xfrm>
          <a:prstGeom prst="roundRect">
            <a:avLst>
              <a:gd name="adj" fmla="val 2257"/>
            </a:avLst>
          </a:prstGeom>
          <a:noFill/>
        </p:spPr>
        <p:txBody>
          <a:bodyPr anchor="ctr" anchorCtr="0">
            <a:normAutofit/>
          </a:bodyPr>
          <a:lstStyle>
            <a:lvl1pPr algn="ctr">
              <a:defRPr sz="1600" b="0"/>
            </a:lvl1pPr>
          </a:lstStyle>
          <a:p>
            <a:r>
              <a:rPr lang="en-US"/>
              <a:t>Click icon to add picture</a:t>
            </a:r>
          </a:p>
        </p:txBody>
      </p:sp>
    </p:spTree>
    <p:extLst>
      <p:ext uri="{BB962C8B-B14F-4D97-AF65-F5344CB8AC3E}">
        <p14:creationId xmlns:p14="http://schemas.microsoft.com/office/powerpoint/2010/main" val="54093229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Pictur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E3A8567-14EC-C957-B8D3-E24E11570BA0}"/>
              </a:ext>
            </a:extLst>
          </p:cNvPr>
          <p:cNvPicPr>
            <a:picLocks noChangeAspect="1"/>
          </p:cNvPicPr>
          <p:nvPr/>
        </p:nvPicPr>
        <p:blipFill>
          <a:blip r:embed="rId2" cstate="email">
            <a:extLst>
              <a:ext uri="{28A0092B-C50C-407E-A947-70E740481C1C}">
                <a14:useLocalDpi xmlns:a14="http://schemas.microsoft.com/office/drawing/2010/main"/>
              </a:ext>
            </a:extLst>
          </a:blip>
          <a:srcRect r="5062" b="4989"/>
          <a:stretch>
            <a:fillRect/>
          </a:stretch>
        </p:blipFill>
        <p:spPr>
          <a:xfrm>
            <a:off x="5229001" y="174069"/>
            <a:ext cx="9401400" cy="8055531"/>
          </a:xfrm>
          <a:prstGeom prst="rect">
            <a:avLst/>
          </a:prstGeom>
        </p:spPr>
      </p:pic>
      <p:sp>
        <p:nvSpPr>
          <p:cNvPr id="6" name="Picture Placeholder 8">
            <a:extLst>
              <a:ext uri="{FF2B5EF4-FFF2-40B4-BE49-F238E27FC236}">
                <a16:creationId xmlns:a16="http://schemas.microsoft.com/office/drawing/2014/main" id="{B7B1E6F2-2C2C-C9A9-5AB8-828355364AC9}"/>
              </a:ext>
            </a:extLst>
          </p:cNvPr>
          <p:cNvSpPr>
            <a:spLocks noGrp="1"/>
          </p:cNvSpPr>
          <p:nvPr>
            <p:ph type="pic" sz="quarter" idx="13"/>
          </p:nvPr>
        </p:nvSpPr>
        <p:spPr>
          <a:xfrm>
            <a:off x="5981700" y="888296"/>
            <a:ext cx="8382000" cy="6781234"/>
          </a:xfrm>
          <a:prstGeom prst="roundRect">
            <a:avLst>
              <a:gd name="adj" fmla="val 2257"/>
            </a:avLst>
          </a:prstGeom>
          <a:noFill/>
        </p:spPr>
        <p:txBody>
          <a:bodyPr anchor="ctr" anchorCtr="0">
            <a:normAutofit/>
          </a:bodyPr>
          <a:lstStyle>
            <a:lvl1pPr algn="ctr">
              <a:defRPr sz="1600" b="0"/>
            </a:lvl1pPr>
          </a:lstStyle>
          <a:p>
            <a:r>
              <a:rPr lang="en-US"/>
              <a:t>Click icon to add picture</a:t>
            </a:r>
          </a:p>
        </p:txBody>
      </p:sp>
      <p:sp>
        <p:nvSpPr>
          <p:cNvPr id="11" name="Subtitle 2">
            <a:extLst>
              <a:ext uri="{FF2B5EF4-FFF2-40B4-BE49-F238E27FC236}">
                <a16:creationId xmlns:a16="http://schemas.microsoft.com/office/drawing/2014/main" id="{62AD280C-FC90-5C16-7F3E-4E787A928E0D}"/>
              </a:ext>
            </a:extLst>
          </p:cNvPr>
          <p:cNvSpPr>
            <a:spLocks noGrp="1"/>
          </p:cNvSpPr>
          <p:nvPr>
            <p:ph type="subTitle" idx="10" hasCustomPrompt="1"/>
          </p:nvPr>
        </p:nvSpPr>
        <p:spPr>
          <a:xfrm>
            <a:off x="466451" y="888296"/>
            <a:ext cx="4358641" cy="201337"/>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14" name="Text Placeholder 2">
            <a:extLst>
              <a:ext uri="{FF2B5EF4-FFF2-40B4-BE49-F238E27FC236}">
                <a16:creationId xmlns:a16="http://schemas.microsoft.com/office/drawing/2014/main" id="{CFFF1056-2A2E-EAB8-F36F-EBD7E5F8C0F1}"/>
              </a:ext>
            </a:extLst>
          </p:cNvPr>
          <p:cNvSpPr>
            <a:spLocks noGrp="1"/>
          </p:cNvSpPr>
          <p:nvPr>
            <p:ph idx="11" hasCustomPrompt="1"/>
          </p:nvPr>
        </p:nvSpPr>
        <p:spPr>
          <a:xfrm>
            <a:off x="484188" y="2921169"/>
            <a:ext cx="4340904" cy="4748361"/>
          </a:xfrm>
          <a:prstGeom prst="rect">
            <a:avLst/>
          </a:prstGeom>
        </p:spPr>
        <p:txBody>
          <a:bodyPr vert="horz" lIns="0" tIns="45720" rIns="0" bIns="45720" rtlCol="0">
            <a:noAutofit/>
          </a:bodyPr>
          <a:lstStyle>
            <a:lvl1pPr>
              <a:spcAft>
                <a:spcPts val="400"/>
              </a:spcAft>
              <a:defRPr/>
            </a:lvl1pPr>
            <a:lvl2pPr>
              <a:spcAft>
                <a:spcPts val="400"/>
              </a:spcAft>
              <a:defRPr/>
            </a:lvl2pPr>
            <a:lvl3pPr>
              <a:spcAft>
                <a:spcPts val="400"/>
              </a:spcAft>
              <a:defRPr sz="1600"/>
            </a:lvl3pPr>
            <a:lvl4pPr>
              <a:spcAft>
                <a:spcPts val="400"/>
              </a:spcAft>
              <a:defRPr/>
            </a:lvl4pPr>
            <a:lvl5pPr>
              <a:spcAft>
                <a:spcPts val="4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Placeholder 1">
            <a:extLst>
              <a:ext uri="{FF2B5EF4-FFF2-40B4-BE49-F238E27FC236}">
                <a16:creationId xmlns:a16="http://schemas.microsoft.com/office/drawing/2014/main" id="{540E6F3E-0F98-698F-5249-2672EA9AAEAB}"/>
              </a:ext>
            </a:extLst>
          </p:cNvPr>
          <p:cNvSpPr>
            <a:spLocks noGrp="1"/>
          </p:cNvSpPr>
          <p:nvPr>
            <p:ph type="title"/>
          </p:nvPr>
        </p:nvSpPr>
        <p:spPr>
          <a:xfrm>
            <a:off x="484187" y="1305918"/>
            <a:ext cx="5307013" cy="1615241"/>
          </a:xfrm>
          <a:prstGeom prst="rect">
            <a:avLst/>
          </a:prstGeom>
        </p:spPr>
        <p:txBody>
          <a:bodyPr vert="horz" lIns="0" tIns="0" rIns="0" bIns="0" rtlCol="0" anchor="t" anchorCtr="0">
            <a:noAutofit/>
          </a:bodyPr>
          <a:lstStyle/>
          <a:p>
            <a:r>
              <a:rPr lang="en-US"/>
              <a:t>Click to edit Master title style</a:t>
            </a:r>
          </a:p>
        </p:txBody>
      </p:sp>
      <p:sp>
        <p:nvSpPr>
          <p:cNvPr id="4" name="TextBox 3">
            <a:extLst>
              <a:ext uri="{FF2B5EF4-FFF2-40B4-BE49-F238E27FC236}">
                <a16:creationId xmlns:a16="http://schemas.microsoft.com/office/drawing/2014/main" id="{C37472F4-F461-80E0-0FB3-EFCB9B5CC08D}"/>
              </a:ext>
            </a:extLst>
          </p:cNvPr>
          <p:cNvSpPr txBox="1"/>
          <p:nvPr/>
        </p:nvSpPr>
        <p:spPr>
          <a:xfrm>
            <a:off x="12008591" y="7985760"/>
            <a:ext cx="2354579" cy="123111"/>
          </a:xfrm>
          <a:prstGeom prst="rect">
            <a:avLst/>
          </a:prstGeom>
          <a:noFill/>
        </p:spPr>
        <p:txBody>
          <a:bodyPr wrap="square" lIns="0" tIns="0" rIns="0" bIns="0">
            <a:spAutoFit/>
          </a:bodyPr>
          <a:lstStyle/>
          <a:p>
            <a:pPr algn="r"/>
            <a:r>
              <a:rPr lang="en-US" sz="800" b="0">
                <a:solidFill>
                  <a:srgbClr val="B4B0AC"/>
                </a:solidFill>
                <a:latin typeface="Inter" panose="02000503000000020004" pitchFamily="50" charset="0"/>
                <a:cs typeface="Inter" panose="02000503000000020004" pitchFamily="50" charset="0"/>
              </a:rPr>
              <a:t>DXC Internal</a:t>
            </a:r>
          </a:p>
        </p:txBody>
      </p:sp>
      <p:sp>
        <p:nvSpPr>
          <p:cNvPr id="5" name="Footer Placeholder 4">
            <a:extLst>
              <a:ext uri="{FF2B5EF4-FFF2-40B4-BE49-F238E27FC236}">
                <a16:creationId xmlns:a16="http://schemas.microsoft.com/office/drawing/2014/main" id="{FD827D6D-506A-74EA-66C7-80F4746277AA}"/>
              </a:ext>
            </a:extLst>
          </p:cNvPr>
          <p:cNvSpPr txBox="1">
            <a:spLocks/>
          </p:cNvSpPr>
          <p:nvPr/>
        </p:nvSpPr>
        <p:spPr>
          <a:xfrm>
            <a:off x="11296392" y="7788274"/>
            <a:ext cx="3066778" cy="17526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tx1"/>
                </a:solidFill>
                <a:latin typeface="Inter" panose="02000503000000020004" pitchFamily="50" charset="0"/>
                <a:cs typeface="Inter" panose="02000503000000020004" pitchFamily="50" charset="0"/>
              </a:rPr>
              <a:t>© </a:t>
            </a:r>
            <a:fld id="{C0650B53-F5B1-403A-BD70-58B7AE2589AD}" type="datetimeyyyy">
              <a:rPr lang="en-US" sz="850" smtClean="0">
                <a:solidFill>
                  <a:schemeClr val="tx1"/>
                </a:solidFill>
                <a:latin typeface="Inter" panose="02000503000000020004" pitchFamily="50" charset="0"/>
                <a:cs typeface="Inter" panose="02000503000000020004" pitchFamily="50" charset="0"/>
              </a:rPr>
              <a:pPr algn="r"/>
              <a:t>2026</a:t>
            </a:fld>
            <a:r>
              <a:rPr lang="en-US" sz="850">
                <a:solidFill>
                  <a:schemeClr val="tx1"/>
                </a:solidFill>
                <a:latin typeface="Inter" panose="02000503000000020004" pitchFamily="50" charset="0"/>
                <a:cs typeface="Inter" panose="02000503000000020004" pitchFamily="50" charset="0"/>
              </a:rPr>
              <a:t> DXC Technology Company. All rights reserved.</a:t>
            </a:r>
          </a:p>
        </p:txBody>
      </p:sp>
    </p:spTree>
    <p:extLst>
      <p:ext uri="{BB962C8B-B14F-4D97-AF65-F5344CB8AC3E}">
        <p14:creationId xmlns:p14="http://schemas.microsoft.com/office/powerpoint/2010/main" val="2328844714"/>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Only (Whit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B3AD2B2-95E0-8691-E903-8A9026CF8261}"/>
              </a:ext>
            </a:extLst>
          </p:cNvPr>
          <p:cNvSpPr/>
          <p:nvPr/>
        </p:nvSpPr>
        <p:spPr>
          <a:xfrm>
            <a:off x="0" y="609600"/>
            <a:ext cx="14630400" cy="762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00503000000020004" pitchFamily="50" charset="0"/>
            </a:endParaRPr>
          </a:p>
        </p:txBody>
      </p:sp>
      <p:sp>
        <p:nvSpPr>
          <p:cNvPr id="16" name="Subtitle 2">
            <a:extLst>
              <a:ext uri="{FF2B5EF4-FFF2-40B4-BE49-F238E27FC236}">
                <a16:creationId xmlns:a16="http://schemas.microsoft.com/office/drawing/2014/main" id="{55E00072-8177-8B6A-6A90-45F4AB9D7337}"/>
              </a:ext>
            </a:extLst>
          </p:cNvPr>
          <p:cNvSpPr>
            <a:spLocks noGrp="1"/>
          </p:cNvSpPr>
          <p:nvPr>
            <p:ph type="subTitle" idx="1" hasCustomPrompt="1"/>
          </p:nvPr>
        </p:nvSpPr>
        <p:spPr>
          <a:xfrm>
            <a:off x="466451" y="888296"/>
            <a:ext cx="4358641" cy="201337"/>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6" name="Title Placeholder 1">
            <a:extLst>
              <a:ext uri="{FF2B5EF4-FFF2-40B4-BE49-F238E27FC236}">
                <a16:creationId xmlns:a16="http://schemas.microsoft.com/office/drawing/2014/main" id="{88684DD0-26F1-1FC3-88D2-5B51E61368F1}"/>
              </a:ext>
            </a:extLst>
          </p:cNvPr>
          <p:cNvSpPr>
            <a:spLocks noGrp="1"/>
          </p:cNvSpPr>
          <p:nvPr>
            <p:ph type="title"/>
          </p:nvPr>
        </p:nvSpPr>
        <p:spPr>
          <a:xfrm>
            <a:off x="484187" y="1305919"/>
            <a:ext cx="13689011" cy="1097280"/>
          </a:xfrm>
          <a:prstGeom prst="rect">
            <a:avLst/>
          </a:prstGeom>
        </p:spPr>
        <p:txBody>
          <a:bodyPr vert="horz" lIns="0" tIns="0" rIns="0" bIns="0" rtlCol="0" anchor="t" anchorCtr="0">
            <a:noAutofit/>
          </a:bodyPr>
          <a:lstStyle/>
          <a:p>
            <a:r>
              <a:rPr lang="en-US"/>
              <a:t>Click to edit Master title style</a:t>
            </a:r>
          </a:p>
        </p:txBody>
      </p:sp>
      <p:sp>
        <p:nvSpPr>
          <p:cNvPr id="3" name="TextBox 2">
            <a:extLst>
              <a:ext uri="{FF2B5EF4-FFF2-40B4-BE49-F238E27FC236}">
                <a16:creationId xmlns:a16="http://schemas.microsoft.com/office/drawing/2014/main" id="{6E1E0455-28DA-FCFA-8ED8-A428ECF25B46}"/>
              </a:ext>
            </a:extLst>
          </p:cNvPr>
          <p:cNvSpPr txBox="1"/>
          <p:nvPr/>
        </p:nvSpPr>
        <p:spPr>
          <a:xfrm>
            <a:off x="12008591" y="7985760"/>
            <a:ext cx="2354579" cy="123111"/>
          </a:xfrm>
          <a:prstGeom prst="rect">
            <a:avLst/>
          </a:prstGeom>
          <a:noFill/>
        </p:spPr>
        <p:txBody>
          <a:bodyPr wrap="square" lIns="0" tIns="0" rIns="0" bIns="0">
            <a:spAutoFit/>
          </a:bodyPr>
          <a:lstStyle/>
          <a:p>
            <a:pPr algn="r"/>
            <a:r>
              <a:rPr lang="en-US" sz="800" b="0">
                <a:solidFill>
                  <a:srgbClr val="B4B0AC"/>
                </a:solidFill>
                <a:latin typeface="Inter" panose="02000503000000020004" pitchFamily="50" charset="0"/>
                <a:cs typeface="Inter" panose="02000503000000020004" pitchFamily="50" charset="0"/>
              </a:rPr>
              <a:t>DXC Internal</a:t>
            </a:r>
          </a:p>
        </p:txBody>
      </p:sp>
      <p:sp>
        <p:nvSpPr>
          <p:cNvPr id="4" name="Footer Placeholder 4">
            <a:extLst>
              <a:ext uri="{FF2B5EF4-FFF2-40B4-BE49-F238E27FC236}">
                <a16:creationId xmlns:a16="http://schemas.microsoft.com/office/drawing/2014/main" id="{E3053EBC-3E3E-5CCF-5A5C-C2B528F8E713}"/>
              </a:ext>
            </a:extLst>
          </p:cNvPr>
          <p:cNvSpPr txBox="1">
            <a:spLocks/>
          </p:cNvSpPr>
          <p:nvPr/>
        </p:nvSpPr>
        <p:spPr>
          <a:xfrm>
            <a:off x="11296392" y="7788274"/>
            <a:ext cx="3066778" cy="17526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tx1"/>
                </a:solidFill>
                <a:latin typeface="Inter" panose="02000503000000020004" pitchFamily="50" charset="0"/>
                <a:cs typeface="Inter" panose="02000503000000020004" pitchFamily="50" charset="0"/>
              </a:rPr>
              <a:t>© </a:t>
            </a:r>
            <a:fld id="{C0650B53-F5B1-403A-BD70-58B7AE2589AD}" type="datetimeyyyy">
              <a:rPr lang="en-US" sz="850" smtClean="0">
                <a:solidFill>
                  <a:schemeClr val="tx1"/>
                </a:solidFill>
                <a:latin typeface="Inter" panose="02000503000000020004" pitchFamily="50" charset="0"/>
                <a:cs typeface="Inter" panose="02000503000000020004" pitchFamily="50" charset="0"/>
              </a:rPr>
              <a:pPr algn="r"/>
              <a:t>2026</a:t>
            </a:fld>
            <a:r>
              <a:rPr lang="en-US" sz="850">
                <a:solidFill>
                  <a:schemeClr val="tx1"/>
                </a:solidFill>
                <a:latin typeface="Inter" panose="02000503000000020004" pitchFamily="50" charset="0"/>
                <a:cs typeface="Inter" panose="02000503000000020004" pitchFamily="50" charset="0"/>
              </a:rPr>
              <a:t> DXC Technology Company. All rights reserved.</a:t>
            </a:r>
          </a:p>
        </p:txBody>
      </p:sp>
    </p:spTree>
    <p:extLst>
      <p:ext uri="{BB962C8B-B14F-4D97-AF65-F5344CB8AC3E}">
        <p14:creationId xmlns:p14="http://schemas.microsoft.com/office/powerpoint/2010/main" val="2011811310"/>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Content White (Left Align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AB2385-4042-07C0-6BA0-6E264BA5CB68}"/>
              </a:ext>
            </a:extLst>
          </p:cNvPr>
          <p:cNvSpPr/>
          <p:nvPr/>
        </p:nvSpPr>
        <p:spPr>
          <a:xfrm>
            <a:off x="0" y="595993"/>
            <a:ext cx="14630400" cy="76336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00503000000020004" pitchFamily="50" charset="0"/>
            </a:endParaRPr>
          </a:p>
        </p:txBody>
      </p:sp>
      <p:sp>
        <p:nvSpPr>
          <p:cNvPr id="4" name="Subtitle 2">
            <a:extLst>
              <a:ext uri="{FF2B5EF4-FFF2-40B4-BE49-F238E27FC236}">
                <a16:creationId xmlns:a16="http://schemas.microsoft.com/office/drawing/2014/main" id="{107086DB-C6B2-0EAA-2AD5-9B3FF5BF83BA}"/>
              </a:ext>
            </a:extLst>
          </p:cNvPr>
          <p:cNvSpPr>
            <a:spLocks noGrp="1"/>
          </p:cNvSpPr>
          <p:nvPr>
            <p:ph type="subTitle" idx="1" hasCustomPrompt="1"/>
          </p:nvPr>
        </p:nvSpPr>
        <p:spPr>
          <a:xfrm>
            <a:off x="466451" y="888296"/>
            <a:ext cx="4358641" cy="201337"/>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7" name="Text Placeholder 2">
            <a:extLst>
              <a:ext uri="{FF2B5EF4-FFF2-40B4-BE49-F238E27FC236}">
                <a16:creationId xmlns:a16="http://schemas.microsoft.com/office/drawing/2014/main" id="{027718AA-D45F-B35B-3E8D-9C19F3BD2724}"/>
              </a:ext>
            </a:extLst>
          </p:cNvPr>
          <p:cNvSpPr>
            <a:spLocks noGrp="1"/>
          </p:cNvSpPr>
          <p:nvPr>
            <p:ph idx="10" hasCustomPrompt="1"/>
          </p:nvPr>
        </p:nvSpPr>
        <p:spPr>
          <a:xfrm>
            <a:off x="484187" y="2506979"/>
            <a:ext cx="11022013" cy="5162551"/>
          </a:xfrm>
          <a:prstGeom prst="rect">
            <a:avLst/>
          </a:prstGeom>
        </p:spPr>
        <p:txBody>
          <a:bodyPr vert="horz" lIns="0" tIns="45720" rIns="0" bIns="45720" rtlCol="0">
            <a:noAutofit/>
          </a:bodyPr>
          <a:lstStyle>
            <a:lvl1pPr>
              <a:spcAft>
                <a:spcPts val="400"/>
              </a:spcAft>
              <a:defRPr/>
            </a:lvl1pPr>
            <a:lvl2pPr>
              <a:spcAft>
                <a:spcPts val="400"/>
              </a:spcAft>
              <a:defRPr/>
            </a:lvl2pPr>
            <a:lvl3pPr>
              <a:spcAft>
                <a:spcPts val="400"/>
              </a:spcAft>
              <a:defRPr sz="1600"/>
            </a:lvl3pPr>
            <a:lvl4pPr>
              <a:spcAft>
                <a:spcPts val="400"/>
              </a:spcAft>
              <a:defRPr/>
            </a:lvl4pPr>
            <a:lvl5pPr>
              <a:spcAft>
                <a:spcPts val="4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Placeholder 1">
            <a:extLst>
              <a:ext uri="{FF2B5EF4-FFF2-40B4-BE49-F238E27FC236}">
                <a16:creationId xmlns:a16="http://schemas.microsoft.com/office/drawing/2014/main" id="{91704F69-1FC3-DB7A-1D08-B981EE2B7396}"/>
              </a:ext>
            </a:extLst>
          </p:cNvPr>
          <p:cNvSpPr>
            <a:spLocks noGrp="1"/>
          </p:cNvSpPr>
          <p:nvPr>
            <p:ph type="title"/>
          </p:nvPr>
        </p:nvSpPr>
        <p:spPr>
          <a:xfrm>
            <a:off x="484187" y="1305919"/>
            <a:ext cx="13689011" cy="1097280"/>
          </a:xfrm>
          <a:prstGeom prst="rect">
            <a:avLst/>
          </a:prstGeom>
        </p:spPr>
        <p:txBody>
          <a:bodyPr vert="horz" lIns="0" tIns="0" rIns="0" bIns="0" rtlCol="0" anchor="t" anchorCtr="0">
            <a:noAutofit/>
          </a:bodyPr>
          <a:lstStyle/>
          <a:p>
            <a:r>
              <a:rPr lang="en-US"/>
              <a:t>Click to edit Master title style</a:t>
            </a:r>
          </a:p>
        </p:txBody>
      </p:sp>
      <p:sp>
        <p:nvSpPr>
          <p:cNvPr id="3" name="TextBox 2">
            <a:extLst>
              <a:ext uri="{FF2B5EF4-FFF2-40B4-BE49-F238E27FC236}">
                <a16:creationId xmlns:a16="http://schemas.microsoft.com/office/drawing/2014/main" id="{523F00A7-BEB6-EC4D-515F-8796DA7764E1}"/>
              </a:ext>
            </a:extLst>
          </p:cNvPr>
          <p:cNvSpPr txBox="1"/>
          <p:nvPr/>
        </p:nvSpPr>
        <p:spPr>
          <a:xfrm>
            <a:off x="12008591" y="7985760"/>
            <a:ext cx="2354579" cy="123111"/>
          </a:xfrm>
          <a:prstGeom prst="rect">
            <a:avLst/>
          </a:prstGeom>
          <a:noFill/>
        </p:spPr>
        <p:txBody>
          <a:bodyPr wrap="square" lIns="0" tIns="0" rIns="0" bIns="0">
            <a:spAutoFit/>
          </a:bodyPr>
          <a:lstStyle/>
          <a:p>
            <a:pPr algn="r"/>
            <a:r>
              <a:rPr lang="en-US" sz="800" b="0">
                <a:solidFill>
                  <a:srgbClr val="B4B0AC"/>
                </a:solidFill>
                <a:latin typeface="Inter" panose="02000503000000020004" pitchFamily="50" charset="0"/>
                <a:cs typeface="Inter" panose="02000503000000020004" pitchFamily="50" charset="0"/>
              </a:rPr>
              <a:t>DXC Internal</a:t>
            </a:r>
          </a:p>
        </p:txBody>
      </p:sp>
      <p:sp>
        <p:nvSpPr>
          <p:cNvPr id="5" name="Footer Placeholder 4">
            <a:extLst>
              <a:ext uri="{FF2B5EF4-FFF2-40B4-BE49-F238E27FC236}">
                <a16:creationId xmlns:a16="http://schemas.microsoft.com/office/drawing/2014/main" id="{453021A3-0CD0-FAEA-5FA7-F851D1A40F17}"/>
              </a:ext>
            </a:extLst>
          </p:cNvPr>
          <p:cNvSpPr txBox="1">
            <a:spLocks/>
          </p:cNvSpPr>
          <p:nvPr/>
        </p:nvSpPr>
        <p:spPr>
          <a:xfrm>
            <a:off x="11296392" y="7788274"/>
            <a:ext cx="3066778" cy="17526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tx1"/>
                </a:solidFill>
                <a:latin typeface="Inter" panose="02000503000000020004" pitchFamily="50" charset="0"/>
                <a:cs typeface="Inter" panose="02000503000000020004" pitchFamily="50" charset="0"/>
              </a:rPr>
              <a:t>© </a:t>
            </a:r>
            <a:fld id="{C0650B53-F5B1-403A-BD70-58B7AE2589AD}" type="datetimeyyyy">
              <a:rPr lang="en-US" sz="850" smtClean="0">
                <a:solidFill>
                  <a:schemeClr val="tx1"/>
                </a:solidFill>
                <a:latin typeface="Inter" panose="02000503000000020004" pitchFamily="50" charset="0"/>
                <a:cs typeface="Inter" panose="02000503000000020004" pitchFamily="50" charset="0"/>
              </a:rPr>
              <a:pPr algn="r"/>
              <a:t>2026</a:t>
            </a:fld>
            <a:r>
              <a:rPr lang="en-US" sz="850">
                <a:solidFill>
                  <a:schemeClr val="tx1"/>
                </a:solidFill>
                <a:latin typeface="Inter" panose="02000503000000020004" pitchFamily="50" charset="0"/>
                <a:cs typeface="Inter" panose="02000503000000020004" pitchFamily="50" charset="0"/>
              </a:rPr>
              <a:t> DXC Technology Company. All rights reserved.</a:t>
            </a:r>
          </a:p>
        </p:txBody>
      </p:sp>
    </p:spTree>
    <p:extLst>
      <p:ext uri="{BB962C8B-B14F-4D97-AF65-F5344CB8AC3E}">
        <p14:creationId xmlns:p14="http://schemas.microsoft.com/office/powerpoint/2010/main" val="260422133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ig Statement">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C656793-F272-E05F-7FDB-6FC60AE78F90}"/>
              </a:ext>
            </a:extLst>
          </p:cNvPr>
          <p:cNvPicPr>
            <a:picLocks noChangeAspect="1"/>
          </p:cNvPicPr>
          <p:nvPr/>
        </p:nvPicPr>
        <p:blipFill>
          <a:blip r:embed="rId2"/>
          <a:stretch>
            <a:fillRect/>
          </a:stretch>
        </p:blipFill>
        <p:spPr>
          <a:xfrm>
            <a:off x="0" y="609600"/>
            <a:ext cx="14630400" cy="7620000"/>
          </a:xfrm>
          <a:prstGeom prst="rect">
            <a:avLst/>
          </a:prstGeom>
        </p:spPr>
      </p:pic>
      <p:sp>
        <p:nvSpPr>
          <p:cNvPr id="11" name="Title Placeholder 1">
            <a:extLst>
              <a:ext uri="{FF2B5EF4-FFF2-40B4-BE49-F238E27FC236}">
                <a16:creationId xmlns:a16="http://schemas.microsoft.com/office/drawing/2014/main" id="{6740A865-2EAE-D2C5-9D67-0453F029A5D1}"/>
              </a:ext>
            </a:extLst>
          </p:cNvPr>
          <p:cNvSpPr>
            <a:spLocks noGrp="1"/>
          </p:cNvSpPr>
          <p:nvPr>
            <p:ph type="title"/>
          </p:nvPr>
        </p:nvSpPr>
        <p:spPr>
          <a:xfrm>
            <a:off x="3105150" y="2699596"/>
            <a:ext cx="11068048" cy="3343274"/>
          </a:xfrm>
          <a:prstGeom prst="rect">
            <a:avLst/>
          </a:prstGeom>
        </p:spPr>
        <p:txBody>
          <a:bodyPr vert="horz" lIns="0" tIns="45720" rIns="91440" bIns="45720" rtlCol="0" anchor="ctr" anchorCtr="0">
            <a:noAutofit/>
          </a:bodyPr>
          <a:lstStyle>
            <a:lvl1pPr algn="l">
              <a:defRPr lang="en-US" sz="5000" dirty="0"/>
            </a:lvl1pPr>
          </a:lstStyle>
          <a:p>
            <a:r>
              <a:rPr lang="en-US"/>
              <a:t>Click to edit Master title style</a:t>
            </a:r>
          </a:p>
        </p:txBody>
      </p:sp>
      <p:sp>
        <p:nvSpPr>
          <p:cNvPr id="4" name="Footer Placeholder 4">
            <a:extLst>
              <a:ext uri="{FF2B5EF4-FFF2-40B4-BE49-F238E27FC236}">
                <a16:creationId xmlns:a16="http://schemas.microsoft.com/office/drawing/2014/main" id="{F42CCEFD-F919-42FA-0DD8-3DB039A268F3}"/>
              </a:ext>
            </a:extLst>
          </p:cNvPr>
          <p:cNvSpPr txBox="1">
            <a:spLocks/>
          </p:cNvSpPr>
          <p:nvPr/>
        </p:nvSpPr>
        <p:spPr>
          <a:xfrm>
            <a:off x="11296392" y="7788274"/>
            <a:ext cx="3066778" cy="17526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tx1"/>
                </a:solidFill>
                <a:latin typeface="Inter" panose="02000503000000020004" pitchFamily="50" charset="0"/>
                <a:cs typeface="Inter" panose="02000503000000020004" pitchFamily="50" charset="0"/>
              </a:rPr>
              <a:t>© </a:t>
            </a:r>
            <a:fld id="{C0650B53-F5B1-403A-BD70-58B7AE2589AD}" type="datetimeyyyy">
              <a:rPr lang="en-US" sz="850" smtClean="0">
                <a:solidFill>
                  <a:schemeClr val="tx1"/>
                </a:solidFill>
                <a:latin typeface="Inter" panose="02000503000000020004" pitchFamily="50" charset="0"/>
                <a:cs typeface="Inter" panose="02000503000000020004" pitchFamily="50" charset="0"/>
              </a:rPr>
              <a:pPr algn="r"/>
              <a:t>2026</a:t>
            </a:fld>
            <a:r>
              <a:rPr lang="en-US" sz="850">
                <a:solidFill>
                  <a:schemeClr val="tx1"/>
                </a:solidFill>
                <a:latin typeface="Inter" panose="02000503000000020004" pitchFamily="50" charset="0"/>
                <a:cs typeface="Inter" panose="02000503000000020004" pitchFamily="50" charset="0"/>
              </a:rPr>
              <a:t> DXC Technology Company. All rights reserved.</a:t>
            </a:r>
          </a:p>
        </p:txBody>
      </p:sp>
      <p:pic>
        <p:nvPicPr>
          <p:cNvPr id="13" name="HeaderMasthead" descr="preencoded.png">
            <a:extLst>
              <a:ext uri="{FF2B5EF4-FFF2-40B4-BE49-F238E27FC236}">
                <a16:creationId xmlns:a16="http://schemas.microsoft.com/office/drawing/2014/main" id="{93C7ACA0-9850-735F-DDA2-7E3D6AF178AA}"/>
              </a:ext>
            </a:extLst>
          </p:cNvPr>
          <p:cNvPicPr>
            <a:picLocks noChangeAspect="1"/>
          </p:cNvPicPr>
          <p:nvPr/>
        </p:nvPicPr>
        <p:blipFill>
          <a:blip r:embed="rId3"/>
          <a:srcRect/>
          <a:stretch/>
        </p:blipFill>
        <p:spPr>
          <a:xfrm>
            <a:off x="0" y="609600"/>
            <a:ext cx="14630400" cy="7620000"/>
          </a:xfrm>
          <a:prstGeom prst="rect">
            <a:avLst/>
          </a:prstGeom>
        </p:spPr>
      </p:pic>
      <p:sp>
        <p:nvSpPr>
          <p:cNvPr id="2" name="TextBox 1">
            <a:extLst>
              <a:ext uri="{FF2B5EF4-FFF2-40B4-BE49-F238E27FC236}">
                <a16:creationId xmlns:a16="http://schemas.microsoft.com/office/drawing/2014/main" id="{5EBBDAE8-E8F2-0C57-3991-61B5388D5967}"/>
              </a:ext>
            </a:extLst>
          </p:cNvPr>
          <p:cNvSpPr txBox="1"/>
          <p:nvPr/>
        </p:nvSpPr>
        <p:spPr>
          <a:xfrm>
            <a:off x="12008591" y="7985760"/>
            <a:ext cx="2354579" cy="123111"/>
          </a:xfrm>
          <a:prstGeom prst="rect">
            <a:avLst/>
          </a:prstGeom>
          <a:noFill/>
        </p:spPr>
        <p:txBody>
          <a:bodyPr wrap="square" lIns="0" tIns="0" rIns="0" bIns="0">
            <a:spAutoFit/>
          </a:bodyPr>
          <a:lstStyle/>
          <a:p>
            <a:pPr algn="r"/>
            <a:r>
              <a:rPr lang="en-US" sz="800" b="0">
                <a:solidFill>
                  <a:srgbClr val="B4B0AC"/>
                </a:solidFill>
                <a:latin typeface="Inter" panose="02000503000000020004" pitchFamily="50" charset="0"/>
                <a:cs typeface="Inter" panose="02000503000000020004" pitchFamily="50" charset="0"/>
              </a:rPr>
              <a:t>DXC Internal</a:t>
            </a:r>
          </a:p>
        </p:txBody>
      </p:sp>
    </p:spTree>
    <p:extLst>
      <p:ext uri="{BB962C8B-B14F-4D97-AF65-F5344CB8AC3E}">
        <p14:creationId xmlns:p14="http://schemas.microsoft.com/office/powerpoint/2010/main" val="349143141"/>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Big Statement 2">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19D6C4FC-7347-DEA0-51A8-878E036B731C}"/>
              </a:ext>
            </a:extLst>
          </p:cNvPr>
          <p:cNvSpPr>
            <a:spLocks noGrp="1"/>
          </p:cNvSpPr>
          <p:nvPr>
            <p:ph sz="half" idx="14"/>
          </p:nvPr>
        </p:nvSpPr>
        <p:spPr>
          <a:xfrm>
            <a:off x="5981699" y="2456954"/>
            <a:ext cx="7408297" cy="5090554"/>
          </a:xfrm>
          <a:prstGeom prst="rect">
            <a:avLst/>
          </a:prstGeom>
        </p:spPr>
        <p:txBody>
          <a:bodyPr>
            <a:noAutofit/>
          </a:bodyPr>
          <a:lstStyle>
            <a:lvl1pPr>
              <a:lnSpc>
                <a:spcPct val="100000"/>
              </a:lnSpc>
              <a:spcBef>
                <a:spcPts val="600"/>
              </a:spcBef>
              <a:defRPr sz="2800">
                <a:latin typeface="Inter Light" panose="02000403000000020004" pitchFamily="50" charset="0"/>
                <a:ea typeface="Inter Light" panose="02000403000000020004" pitchFamily="50" charset="0"/>
                <a:cs typeface="Inter Light" panose="02000403000000020004" pitchFamily="50" charset="0"/>
              </a:defRPr>
            </a:lvl1pPr>
            <a:lvl2pPr>
              <a:lnSpc>
                <a:spcPct val="100000"/>
              </a:lnSpc>
              <a:spcBef>
                <a:spcPts val="600"/>
              </a:spcBef>
              <a:defRPr sz="2800">
                <a:latin typeface="Inter Light" panose="02000403000000020004" pitchFamily="50" charset="0"/>
                <a:ea typeface="Inter Light" panose="02000403000000020004" pitchFamily="50" charset="0"/>
                <a:cs typeface="Inter Light" panose="02000403000000020004" pitchFamily="50" charset="0"/>
              </a:defRPr>
            </a:lvl2pPr>
            <a:lvl3pPr marL="0" indent="0">
              <a:lnSpc>
                <a:spcPct val="100000"/>
              </a:lnSpc>
              <a:spcBef>
                <a:spcPts val="600"/>
              </a:spcBef>
              <a:buFont typeface="Arial" panose="020B0604020202020204" pitchFamily="34" charset="0"/>
              <a:buNone/>
              <a:defRPr sz="2800">
                <a:latin typeface="Inter Light" panose="02000403000000020004" pitchFamily="50" charset="0"/>
                <a:ea typeface="Inter Light" panose="02000403000000020004" pitchFamily="50" charset="0"/>
                <a:cs typeface="Inter Light" panose="02000403000000020004" pitchFamily="50" charset="0"/>
              </a:defRPr>
            </a:lvl3pPr>
            <a:lvl4pPr marL="0" indent="0">
              <a:lnSpc>
                <a:spcPct val="100000"/>
              </a:lnSpc>
              <a:spcBef>
                <a:spcPts val="600"/>
              </a:spcBef>
              <a:buFont typeface="Arial" panose="020B0604020202020204" pitchFamily="34" charset="0"/>
              <a:buNone/>
              <a:defRPr sz="2800">
                <a:latin typeface="Inter Light" panose="02000403000000020004" pitchFamily="50" charset="0"/>
                <a:ea typeface="Inter Light" panose="02000403000000020004" pitchFamily="50" charset="0"/>
                <a:cs typeface="Inter Light" panose="02000403000000020004" pitchFamily="50" charset="0"/>
              </a:defRPr>
            </a:lvl4pPr>
            <a:lvl5pPr marL="0" indent="0">
              <a:lnSpc>
                <a:spcPct val="100000"/>
              </a:lnSpc>
              <a:spcBef>
                <a:spcPts val="600"/>
              </a:spcBef>
              <a:buFont typeface="Arial" panose="020B0604020202020204" pitchFamily="34" charset="0"/>
              <a:buNone/>
              <a:defRPr sz="2800">
                <a:latin typeface="Inter Light" panose="02000403000000020004" pitchFamily="50" charset="0"/>
                <a:ea typeface="Inter Light" panose="02000403000000020004" pitchFamily="50" charset="0"/>
                <a:cs typeface="Inter Light" panose="02000403000000020004" pitchFamily="50"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4887169"/>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io Single">
    <p:spTree>
      <p:nvGrpSpPr>
        <p:cNvPr id="1" name=""/>
        <p:cNvGrpSpPr/>
        <p:nvPr/>
      </p:nvGrpSpPr>
      <p:grpSpPr>
        <a:xfrm>
          <a:off x="0" y="0"/>
          <a:ext cx="0" cy="0"/>
          <a:chOff x="0" y="0"/>
          <a:chExt cx="0" cy="0"/>
        </a:xfrm>
      </p:grpSpPr>
      <p:sp>
        <p:nvSpPr>
          <p:cNvPr id="16" name="Subtitle 2">
            <a:extLst>
              <a:ext uri="{FF2B5EF4-FFF2-40B4-BE49-F238E27FC236}">
                <a16:creationId xmlns:a16="http://schemas.microsoft.com/office/drawing/2014/main" id="{55E00072-8177-8B6A-6A90-45F4AB9D7337}"/>
              </a:ext>
            </a:extLst>
          </p:cNvPr>
          <p:cNvSpPr>
            <a:spLocks noGrp="1"/>
          </p:cNvSpPr>
          <p:nvPr>
            <p:ph type="subTitle" idx="1" hasCustomPrompt="1"/>
          </p:nvPr>
        </p:nvSpPr>
        <p:spPr>
          <a:xfrm>
            <a:off x="466451" y="888296"/>
            <a:ext cx="4358641" cy="201337"/>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6" name="Title Placeholder 1">
            <a:extLst>
              <a:ext uri="{FF2B5EF4-FFF2-40B4-BE49-F238E27FC236}">
                <a16:creationId xmlns:a16="http://schemas.microsoft.com/office/drawing/2014/main" id="{88684DD0-26F1-1FC3-88D2-5B51E61368F1}"/>
              </a:ext>
            </a:extLst>
          </p:cNvPr>
          <p:cNvSpPr>
            <a:spLocks noGrp="1"/>
          </p:cNvSpPr>
          <p:nvPr>
            <p:ph type="title"/>
          </p:nvPr>
        </p:nvSpPr>
        <p:spPr>
          <a:xfrm>
            <a:off x="484187" y="1305919"/>
            <a:ext cx="13689011" cy="1097280"/>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BF082499-2B66-314C-1973-DB5EE025F0B6}"/>
              </a:ext>
            </a:extLst>
          </p:cNvPr>
          <p:cNvSpPr>
            <a:spLocks noGrp="1"/>
          </p:cNvSpPr>
          <p:nvPr>
            <p:ph sz="half" idx="15" hasCustomPrompt="1"/>
          </p:nvPr>
        </p:nvSpPr>
        <p:spPr>
          <a:xfrm>
            <a:off x="484186" y="6929040"/>
            <a:ext cx="4562475" cy="181534"/>
          </a:xfrm>
          <a:prstGeom prst="rect">
            <a:avLst/>
          </a:prstGeom>
        </p:spPr>
        <p:txBody>
          <a:bodyPr tIns="0" rIns="0" bIns="0">
            <a:noAutofit/>
          </a:bodyPr>
          <a:lstStyle>
            <a:lvl1pPr>
              <a:lnSpc>
                <a:spcPct val="100000"/>
              </a:lnSpc>
              <a:spcBef>
                <a:spcPts val="600"/>
              </a:spcBef>
              <a:defRPr sz="1200" cap="all" spc="160" baseline="0">
                <a:solidFill>
                  <a:schemeClr val="tx1"/>
                </a:solidFill>
                <a:latin typeface="GT Standard L Extended" pitchFamily="50" charset="0"/>
                <a:ea typeface="Inter SemiBold" panose="02000703000000020004" pitchFamily="50" charset="0"/>
                <a:cs typeface="Inter SemiBold" panose="020007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3" name="Content Placeholder 2">
            <a:extLst>
              <a:ext uri="{FF2B5EF4-FFF2-40B4-BE49-F238E27FC236}">
                <a16:creationId xmlns:a16="http://schemas.microsoft.com/office/drawing/2014/main" id="{DEBF5507-DAA8-A243-F8A6-84A409DE0F37}"/>
              </a:ext>
            </a:extLst>
          </p:cNvPr>
          <p:cNvSpPr>
            <a:spLocks noGrp="1"/>
          </p:cNvSpPr>
          <p:nvPr>
            <p:ph sz="half" idx="16" hasCustomPrompt="1"/>
          </p:nvPr>
        </p:nvSpPr>
        <p:spPr>
          <a:xfrm>
            <a:off x="484187" y="7257107"/>
            <a:ext cx="4562475" cy="181534"/>
          </a:xfrm>
          <a:prstGeom prst="rect">
            <a:avLst/>
          </a:prstGeom>
        </p:spPr>
        <p:txBody>
          <a:bodyPr tIns="0" rIns="0" bIns="0">
            <a:noAutofit/>
          </a:bodyPr>
          <a:lstStyle>
            <a:lvl1pPr>
              <a:lnSpc>
                <a:spcPct val="100000"/>
              </a:lnSpc>
              <a:spcBef>
                <a:spcPts val="600"/>
              </a:spcBef>
              <a:defRPr sz="1200" cap="all" spc="160" baseline="0">
                <a:solidFill>
                  <a:schemeClr val="tx1"/>
                </a:solidFill>
                <a:latin typeface="Inter Light" panose="02000403000000020004" pitchFamily="50" charset="0"/>
                <a:ea typeface="Inter Light" panose="02000403000000020004" pitchFamily="50" charset="0"/>
                <a:cs typeface="Inter Light" panose="020004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4" name="Picture Placeholder 8">
            <a:extLst>
              <a:ext uri="{FF2B5EF4-FFF2-40B4-BE49-F238E27FC236}">
                <a16:creationId xmlns:a16="http://schemas.microsoft.com/office/drawing/2014/main" id="{7551BE5F-EB37-52BA-BF3C-7F77959E16F5}"/>
              </a:ext>
            </a:extLst>
          </p:cNvPr>
          <p:cNvSpPr>
            <a:spLocks noGrp="1"/>
          </p:cNvSpPr>
          <p:nvPr>
            <p:ph type="pic" sz="quarter" idx="21"/>
          </p:nvPr>
        </p:nvSpPr>
        <p:spPr>
          <a:xfrm>
            <a:off x="484186" y="2506980"/>
            <a:ext cx="3931920" cy="4114800"/>
          </a:xfrm>
          <a:prstGeom prst="roundRect">
            <a:avLst>
              <a:gd name="adj" fmla="val 5813"/>
            </a:avLst>
          </a:prstGeom>
          <a:noFill/>
        </p:spPr>
        <p:txBody>
          <a:bodyPr anchor="ctr" anchorCtr="0">
            <a:normAutofit/>
          </a:bodyPr>
          <a:lstStyle>
            <a:lvl1pPr algn="ctr">
              <a:defRPr sz="1600" b="0">
                <a:solidFill>
                  <a:schemeClr val="tx1"/>
                </a:solidFill>
              </a:defRPr>
            </a:lvl1pPr>
          </a:lstStyle>
          <a:p>
            <a:r>
              <a:rPr lang="en-US"/>
              <a:t>Click icon to add picture</a:t>
            </a:r>
          </a:p>
        </p:txBody>
      </p:sp>
      <p:sp>
        <p:nvSpPr>
          <p:cNvPr id="15" name="Text Placeholder 2">
            <a:extLst>
              <a:ext uri="{FF2B5EF4-FFF2-40B4-BE49-F238E27FC236}">
                <a16:creationId xmlns:a16="http://schemas.microsoft.com/office/drawing/2014/main" id="{E8E15AC9-7292-3D13-6C73-282E69EE8FE5}"/>
              </a:ext>
            </a:extLst>
          </p:cNvPr>
          <p:cNvSpPr>
            <a:spLocks noGrp="1"/>
          </p:cNvSpPr>
          <p:nvPr>
            <p:ph idx="22"/>
          </p:nvPr>
        </p:nvSpPr>
        <p:spPr>
          <a:xfrm>
            <a:off x="5989638" y="2506980"/>
            <a:ext cx="5516562" cy="4114801"/>
          </a:xfrm>
          <a:prstGeom prst="rect">
            <a:avLst/>
          </a:prstGeom>
        </p:spPr>
        <p:txBody>
          <a:bodyPr vert="horz" lIns="0" tIns="45720" rIns="0" bIns="45720" rtlCol="0" anchor="ct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01639032"/>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Bio - 4 Presenters">
    <p:spTree>
      <p:nvGrpSpPr>
        <p:cNvPr id="1" name=""/>
        <p:cNvGrpSpPr/>
        <p:nvPr/>
      </p:nvGrpSpPr>
      <p:grpSpPr>
        <a:xfrm>
          <a:off x="0" y="0"/>
          <a:ext cx="0" cy="0"/>
          <a:chOff x="0" y="0"/>
          <a:chExt cx="0" cy="0"/>
        </a:xfrm>
      </p:grpSpPr>
      <p:sp>
        <p:nvSpPr>
          <p:cNvPr id="16" name="Subtitle 2">
            <a:extLst>
              <a:ext uri="{FF2B5EF4-FFF2-40B4-BE49-F238E27FC236}">
                <a16:creationId xmlns:a16="http://schemas.microsoft.com/office/drawing/2014/main" id="{55E00072-8177-8B6A-6A90-45F4AB9D7337}"/>
              </a:ext>
            </a:extLst>
          </p:cNvPr>
          <p:cNvSpPr>
            <a:spLocks noGrp="1"/>
          </p:cNvSpPr>
          <p:nvPr>
            <p:ph type="subTitle" idx="1" hasCustomPrompt="1"/>
          </p:nvPr>
        </p:nvSpPr>
        <p:spPr>
          <a:xfrm>
            <a:off x="466451" y="888296"/>
            <a:ext cx="4358641" cy="201337"/>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6" name="Title Placeholder 1">
            <a:extLst>
              <a:ext uri="{FF2B5EF4-FFF2-40B4-BE49-F238E27FC236}">
                <a16:creationId xmlns:a16="http://schemas.microsoft.com/office/drawing/2014/main" id="{88684DD0-26F1-1FC3-88D2-5B51E61368F1}"/>
              </a:ext>
            </a:extLst>
          </p:cNvPr>
          <p:cNvSpPr>
            <a:spLocks noGrp="1"/>
          </p:cNvSpPr>
          <p:nvPr>
            <p:ph type="title"/>
          </p:nvPr>
        </p:nvSpPr>
        <p:spPr>
          <a:xfrm>
            <a:off x="484187" y="1305919"/>
            <a:ext cx="13689011" cy="1097280"/>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BF082499-2B66-314C-1973-DB5EE025F0B6}"/>
              </a:ext>
            </a:extLst>
          </p:cNvPr>
          <p:cNvSpPr>
            <a:spLocks noGrp="1"/>
          </p:cNvSpPr>
          <p:nvPr>
            <p:ph sz="half" idx="15" hasCustomPrompt="1"/>
          </p:nvPr>
        </p:nvSpPr>
        <p:spPr>
          <a:xfrm>
            <a:off x="2543854" y="2985692"/>
            <a:ext cx="4562475" cy="181534"/>
          </a:xfrm>
          <a:prstGeom prst="rect">
            <a:avLst/>
          </a:prstGeom>
        </p:spPr>
        <p:txBody>
          <a:bodyPr tIns="0" rIns="0" bIns="0">
            <a:noAutofit/>
          </a:bodyPr>
          <a:lstStyle>
            <a:lvl1pPr>
              <a:lnSpc>
                <a:spcPct val="100000"/>
              </a:lnSpc>
              <a:spcBef>
                <a:spcPts val="600"/>
              </a:spcBef>
              <a:defRPr sz="1200" cap="all" spc="160" baseline="0">
                <a:solidFill>
                  <a:schemeClr val="tx1"/>
                </a:solidFill>
                <a:latin typeface="GT Standard L Extended" pitchFamily="50" charset="0"/>
                <a:ea typeface="Inter SemiBold" panose="02000703000000020004" pitchFamily="50" charset="0"/>
                <a:cs typeface="Inter SemiBold" panose="020007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3" name="Content Placeholder 2">
            <a:extLst>
              <a:ext uri="{FF2B5EF4-FFF2-40B4-BE49-F238E27FC236}">
                <a16:creationId xmlns:a16="http://schemas.microsoft.com/office/drawing/2014/main" id="{DEBF5507-DAA8-A243-F8A6-84A409DE0F37}"/>
              </a:ext>
            </a:extLst>
          </p:cNvPr>
          <p:cNvSpPr>
            <a:spLocks noGrp="1"/>
          </p:cNvSpPr>
          <p:nvPr>
            <p:ph sz="half" idx="16" hasCustomPrompt="1"/>
          </p:nvPr>
        </p:nvSpPr>
        <p:spPr>
          <a:xfrm>
            <a:off x="2543855" y="3281103"/>
            <a:ext cx="4562475" cy="181534"/>
          </a:xfrm>
          <a:prstGeom prst="rect">
            <a:avLst/>
          </a:prstGeom>
        </p:spPr>
        <p:txBody>
          <a:bodyPr tIns="0" rIns="0" bIns="0">
            <a:noAutofit/>
          </a:bodyPr>
          <a:lstStyle>
            <a:lvl1pPr>
              <a:lnSpc>
                <a:spcPct val="100000"/>
              </a:lnSpc>
              <a:spcBef>
                <a:spcPts val="600"/>
              </a:spcBef>
              <a:defRPr sz="1200" cap="all" spc="160" baseline="0">
                <a:solidFill>
                  <a:schemeClr val="tx1"/>
                </a:solidFill>
                <a:latin typeface="Inter Light" panose="02000403000000020004" pitchFamily="50" charset="0"/>
                <a:ea typeface="Inter Light" panose="02000403000000020004" pitchFamily="50" charset="0"/>
                <a:cs typeface="Inter Light" panose="020004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4" name="Picture Placeholder 8">
            <a:extLst>
              <a:ext uri="{FF2B5EF4-FFF2-40B4-BE49-F238E27FC236}">
                <a16:creationId xmlns:a16="http://schemas.microsoft.com/office/drawing/2014/main" id="{7551BE5F-EB37-52BA-BF3C-7F77959E16F5}"/>
              </a:ext>
            </a:extLst>
          </p:cNvPr>
          <p:cNvSpPr>
            <a:spLocks noGrp="1"/>
          </p:cNvSpPr>
          <p:nvPr>
            <p:ph type="pic" sz="quarter" idx="21"/>
          </p:nvPr>
        </p:nvSpPr>
        <p:spPr>
          <a:xfrm>
            <a:off x="484186" y="2856878"/>
            <a:ext cx="1828800" cy="1828800"/>
          </a:xfrm>
          <a:prstGeom prst="roundRect">
            <a:avLst>
              <a:gd name="adj" fmla="val 5813"/>
            </a:avLst>
          </a:prstGeom>
          <a:noFill/>
        </p:spPr>
        <p:txBody>
          <a:bodyPr anchor="ctr" anchorCtr="0">
            <a:normAutofit/>
          </a:bodyPr>
          <a:lstStyle>
            <a:lvl1pPr algn="ctr">
              <a:defRPr sz="1600" b="0">
                <a:solidFill>
                  <a:schemeClr val="tx1"/>
                </a:solidFill>
              </a:defRPr>
            </a:lvl1pPr>
          </a:lstStyle>
          <a:p>
            <a:r>
              <a:rPr lang="en-US"/>
              <a:t>Click icon to add picture</a:t>
            </a:r>
          </a:p>
        </p:txBody>
      </p:sp>
      <p:sp>
        <p:nvSpPr>
          <p:cNvPr id="5" name="Content Placeholder 2">
            <a:extLst>
              <a:ext uri="{FF2B5EF4-FFF2-40B4-BE49-F238E27FC236}">
                <a16:creationId xmlns:a16="http://schemas.microsoft.com/office/drawing/2014/main" id="{FDBD811A-C99D-3B7A-BCC3-66DA844F1C8B}"/>
              </a:ext>
            </a:extLst>
          </p:cNvPr>
          <p:cNvSpPr>
            <a:spLocks noGrp="1"/>
          </p:cNvSpPr>
          <p:nvPr>
            <p:ph sz="half" idx="22" hasCustomPrompt="1"/>
          </p:nvPr>
        </p:nvSpPr>
        <p:spPr>
          <a:xfrm>
            <a:off x="2543854" y="5407568"/>
            <a:ext cx="4562475" cy="181534"/>
          </a:xfrm>
          <a:prstGeom prst="rect">
            <a:avLst/>
          </a:prstGeom>
        </p:spPr>
        <p:txBody>
          <a:bodyPr tIns="0" rIns="0" bIns="0">
            <a:noAutofit/>
          </a:bodyPr>
          <a:lstStyle>
            <a:lvl1pPr>
              <a:lnSpc>
                <a:spcPct val="100000"/>
              </a:lnSpc>
              <a:spcBef>
                <a:spcPts val="600"/>
              </a:spcBef>
              <a:defRPr sz="1200" cap="all" spc="160" baseline="0">
                <a:solidFill>
                  <a:schemeClr val="tx1"/>
                </a:solidFill>
                <a:latin typeface="GT Standard L Extended" pitchFamily="50" charset="0"/>
                <a:ea typeface="Inter SemiBold" panose="02000703000000020004" pitchFamily="50" charset="0"/>
                <a:cs typeface="Inter SemiBold" panose="020007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7" name="Content Placeholder 2">
            <a:extLst>
              <a:ext uri="{FF2B5EF4-FFF2-40B4-BE49-F238E27FC236}">
                <a16:creationId xmlns:a16="http://schemas.microsoft.com/office/drawing/2014/main" id="{59A747F1-959A-3806-A11E-FFACEFB693EF}"/>
              </a:ext>
            </a:extLst>
          </p:cNvPr>
          <p:cNvSpPr>
            <a:spLocks noGrp="1"/>
          </p:cNvSpPr>
          <p:nvPr>
            <p:ph sz="half" idx="23" hasCustomPrompt="1"/>
          </p:nvPr>
        </p:nvSpPr>
        <p:spPr>
          <a:xfrm>
            <a:off x="2543855" y="5702979"/>
            <a:ext cx="4562475" cy="181534"/>
          </a:xfrm>
          <a:prstGeom prst="rect">
            <a:avLst/>
          </a:prstGeom>
        </p:spPr>
        <p:txBody>
          <a:bodyPr tIns="0" rIns="0" bIns="0">
            <a:noAutofit/>
          </a:bodyPr>
          <a:lstStyle>
            <a:lvl1pPr>
              <a:lnSpc>
                <a:spcPct val="100000"/>
              </a:lnSpc>
              <a:spcBef>
                <a:spcPts val="600"/>
              </a:spcBef>
              <a:defRPr sz="1200" cap="all" spc="160" baseline="0">
                <a:solidFill>
                  <a:schemeClr val="tx1"/>
                </a:solidFill>
                <a:latin typeface="Inter Light" panose="02000403000000020004" pitchFamily="50" charset="0"/>
                <a:ea typeface="Inter Light" panose="02000403000000020004" pitchFamily="50" charset="0"/>
                <a:cs typeface="Inter Light" panose="020004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8" name="Picture Placeholder 8">
            <a:extLst>
              <a:ext uri="{FF2B5EF4-FFF2-40B4-BE49-F238E27FC236}">
                <a16:creationId xmlns:a16="http://schemas.microsoft.com/office/drawing/2014/main" id="{51B0D53B-7E9B-3DC3-BA87-003824F65D9D}"/>
              </a:ext>
            </a:extLst>
          </p:cNvPr>
          <p:cNvSpPr>
            <a:spLocks noGrp="1"/>
          </p:cNvSpPr>
          <p:nvPr>
            <p:ph type="pic" sz="quarter" idx="24"/>
          </p:nvPr>
        </p:nvSpPr>
        <p:spPr>
          <a:xfrm>
            <a:off x="484186" y="5278754"/>
            <a:ext cx="1828800" cy="1828800"/>
          </a:xfrm>
          <a:prstGeom prst="roundRect">
            <a:avLst>
              <a:gd name="adj" fmla="val 5813"/>
            </a:avLst>
          </a:prstGeom>
          <a:noFill/>
        </p:spPr>
        <p:txBody>
          <a:bodyPr anchor="ctr" anchorCtr="0">
            <a:normAutofit/>
          </a:bodyPr>
          <a:lstStyle>
            <a:lvl1pPr algn="ctr">
              <a:defRPr sz="1600" b="0">
                <a:solidFill>
                  <a:schemeClr val="tx1"/>
                </a:solidFill>
              </a:defRPr>
            </a:lvl1pPr>
          </a:lstStyle>
          <a:p>
            <a:r>
              <a:rPr lang="en-US"/>
              <a:t>Click icon to add picture</a:t>
            </a:r>
          </a:p>
        </p:txBody>
      </p:sp>
      <p:sp>
        <p:nvSpPr>
          <p:cNvPr id="9" name="Content Placeholder 2">
            <a:extLst>
              <a:ext uri="{FF2B5EF4-FFF2-40B4-BE49-F238E27FC236}">
                <a16:creationId xmlns:a16="http://schemas.microsoft.com/office/drawing/2014/main" id="{B606E116-3C8D-CF15-BA0D-FE1D9DF8D865}"/>
              </a:ext>
            </a:extLst>
          </p:cNvPr>
          <p:cNvSpPr>
            <a:spLocks noGrp="1"/>
          </p:cNvSpPr>
          <p:nvPr>
            <p:ph sz="half" idx="25" hasCustomPrompt="1"/>
          </p:nvPr>
        </p:nvSpPr>
        <p:spPr>
          <a:xfrm>
            <a:off x="9610724" y="2985692"/>
            <a:ext cx="4562475" cy="181534"/>
          </a:xfrm>
          <a:prstGeom prst="rect">
            <a:avLst/>
          </a:prstGeom>
        </p:spPr>
        <p:txBody>
          <a:bodyPr tIns="0" rIns="0" bIns="0">
            <a:noAutofit/>
          </a:bodyPr>
          <a:lstStyle>
            <a:lvl1pPr>
              <a:lnSpc>
                <a:spcPct val="100000"/>
              </a:lnSpc>
              <a:spcBef>
                <a:spcPts val="600"/>
              </a:spcBef>
              <a:defRPr sz="1200" cap="all" spc="160" baseline="0">
                <a:solidFill>
                  <a:schemeClr val="tx1"/>
                </a:solidFill>
                <a:latin typeface="GT Standard L Extended" pitchFamily="50" charset="0"/>
                <a:ea typeface="Inter SemiBold" panose="02000703000000020004" pitchFamily="50" charset="0"/>
                <a:cs typeface="Inter SemiBold" panose="020007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10" name="Content Placeholder 2">
            <a:extLst>
              <a:ext uri="{FF2B5EF4-FFF2-40B4-BE49-F238E27FC236}">
                <a16:creationId xmlns:a16="http://schemas.microsoft.com/office/drawing/2014/main" id="{1DEF596F-37D3-8C56-AEC3-A941B57F4B88}"/>
              </a:ext>
            </a:extLst>
          </p:cNvPr>
          <p:cNvSpPr>
            <a:spLocks noGrp="1"/>
          </p:cNvSpPr>
          <p:nvPr>
            <p:ph sz="half" idx="26" hasCustomPrompt="1"/>
          </p:nvPr>
        </p:nvSpPr>
        <p:spPr>
          <a:xfrm>
            <a:off x="9610725" y="3281103"/>
            <a:ext cx="4562475" cy="181534"/>
          </a:xfrm>
          <a:prstGeom prst="rect">
            <a:avLst/>
          </a:prstGeom>
        </p:spPr>
        <p:txBody>
          <a:bodyPr tIns="0" rIns="0" bIns="0">
            <a:noAutofit/>
          </a:bodyPr>
          <a:lstStyle>
            <a:lvl1pPr>
              <a:lnSpc>
                <a:spcPct val="100000"/>
              </a:lnSpc>
              <a:spcBef>
                <a:spcPts val="600"/>
              </a:spcBef>
              <a:defRPr sz="1200" cap="all" spc="160" baseline="0">
                <a:solidFill>
                  <a:schemeClr val="tx1"/>
                </a:solidFill>
                <a:latin typeface="Inter Light" panose="02000403000000020004" pitchFamily="50" charset="0"/>
                <a:ea typeface="Inter Light" panose="02000403000000020004" pitchFamily="50" charset="0"/>
                <a:cs typeface="Inter Light" panose="020004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11" name="Picture Placeholder 8">
            <a:extLst>
              <a:ext uri="{FF2B5EF4-FFF2-40B4-BE49-F238E27FC236}">
                <a16:creationId xmlns:a16="http://schemas.microsoft.com/office/drawing/2014/main" id="{25D416AB-5AB8-3255-9B13-3BFE55B1067E}"/>
              </a:ext>
            </a:extLst>
          </p:cNvPr>
          <p:cNvSpPr>
            <a:spLocks noGrp="1"/>
          </p:cNvSpPr>
          <p:nvPr>
            <p:ph type="pic" sz="quarter" idx="27"/>
          </p:nvPr>
        </p:nvSpPr>
        <p:spPr>
          <a:xfrm>
            <a:off x="7551056" y="2856878"/>
            <a:ext cx="1828800" cy="1828800"/>
          </a:xfrm>
          <a:prstGeom prst="roundRect">
            <a:avLst>
              <a:gd name="adj" fmla="val 5813"/>
            </a:avLst>
          </a:prstGeom>
          <a:noFill/>
        </p:spPr>
        <p:txBody>
          <a:bodyPr anchor="ctr" anchorCtr="0">
            <a:normAutofit/>
          </a:bodyPr>
          <a:lstStyle>
            <a:lvl1pPr algn="ctr">
              <a:defRPr sz="1600" b="0">
                <a:solidFill>
                  <a:schemeClr val="tx1"/>
                </a:solidFill>
              </a:defRPr>
            </a:lvl1pPr>
          </a:lstStyle>
          <a:p>
            <a:r>
              <a:rPr lang="en-US"/>
              <a:t>Click icon to add picture</a:t>
            </a:r>
          </a:p>
        </p:txBody>
      </p:sp>
      <p:sp>
        <p:nvSpPr>
          <p:cNvPr id="12" name="Content Placeholder 2">
            <a:extLst>
              <a:ext uri="{FF2B5EF4-FFF2-40B4-BE49-F238E27FC236}">
                <a16:creationId xmlns:a16="http://schemas.microsoft.com/office/drawing/2014/main" id="{ABFEF732-87F6-4DAB-0C27-9A712527F2FB}"/>
              </a:ext>
            </a:extLst>
          </p:cNvPr>
          <p:cNvSpPr>
            <a:spLocks noGrp="1"/>
          </p:cNvSpPr>
          <p:nvPr>
            <p:ph sz="half" idx="28" hasCustomPrompt="1"/>
          </p:nvPr>
        </p:nvSpPr>
        <p:spPr>
          <a:xfrm>
            <a:off x="9610724" y="5407568"/>
            <a:ext cx="4562475" cy="181534"/>
          </a:xfrm>
          <a:prstGeom prst="rect">
            <a:avLst/>
          </a:prstGeom>
        </p:spPr>
        <p:txBody>
          <a:bodyPr tIns="0" rIns="0" bIns="0">
            <a:noAutofit/>
          </a:bodyPr>
          <a:lstStyle>
            <a:lvl1pPr>
              <a:lnSpc>
                <a:spcPct val="100000"/>
              </a:lnSpc>
              <a:spcBef>
                <a:spcPts val="600"/>
              </a:spcBef>
              <a:defRPr sz="1200" cap="all" spc="160" baseline="0">
                <a:solidFill>
                  <a:schemeClr val="tx1"/>
                </a:solidFill>
                <a:latin typeface="GT Standard L Extended" pitchFamily="50" charset="0"/>
                <a:ea typeface="Inter SemiBold" panose="02000703000000020004" pitchFamily="50" charset="0"/>
                <a:cs typeface="Inter SemiBold" panose="020007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13" name="Content Placeholder 2">
            <a:extLst>
              <a:ext uri="{FF2B5EF4-FFF2-40B4-BE49-F238E27FC236}">
                <a16:creationId xmlns:a16="http://schemas.microsoft.com/office/drawing/2014/main" id="{668E4127-A4BC-BD25-7D63-1979A3E79EF6}"/>
              </a:ext>
            </a:extLst>
          </p:cNvPr>
          <p:cNvSpPr>
            <a:spLocks noGrp="1"/>
          </p:cNvSpPr>
          <p:nvPr>
            <p:ph sz="half" idx="29" hasCustomPrompt="1"/>
          </p:nvPr>
        </p:nvSpPr>
        <p:spPr>
          <a:xfrm>
            <a:off x="9610725" y="5702979"/>
            <a:ext cx="4562475" cy="181534"/>
          </a:xfrm>
          <a:prstGeom prst="rect">
            <a:avLst/>
          </a:prstGeom>
        </p:spPr>
        <p:txBody>
          <a:bodyPr tIns="0" rIns="0" bIns="0">
            <a:noAutofit/>
          </a:bodyPr>
          <a:lstStyle>
            <a:lvl1pPr>
              <a:lnSpc>
                <a:spcPct val="100000"/>
              </a:lnSpc>
              <a:spcBef>
                <a:spcPts val="600"/>
              </a:spcBef>
              <a:defRPr sz="1200" cap="all" spc="160" baseline="0">
                <a:solidFill>
                  <a:schemeClr val="tx1"/>
                </a:solidFill>
                <a:latin typeface="Inter Light" panose="02000403000000020004" pitchFamily="50" charset="0"/>
                <a:ea typeface="Inter Light" panose="02000403000000020004" pitchFamily="50" charset="0"/>
                <a:cs typeface="Inter Light" panose="020004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14" name="Picture Placeholder 8">
            <a:extLst>
              <a:ext uri="{FF2B5EF4-FFF2-40B4-BE49-F238E27FC236}">
                <a16:creationId xmlns:a16="http://schemas.microsoft.com/office/drawing/2014/main" id="{A5C05823-0C0C-A242-FF86-E466B32E9215}"/>
              </a:ext>
            </a:extLst>
          </p:cNvPr>
          <p:cNvSpPr>
            <a:spLocks noGrp="1"/>
          </p:cNvSpPr>
          <p:nvPr>
            <p:ph type="pic" sz="quarter" idx="30"/>
          </p:nvPr>
        </p:nvSpPr>
        <p:spPr>
          <a:xfrm>
            <a:off x="7551056" y="5278754"/>
            <a:ext cx="1828800" cy="1828800"/>
          </a:xfrm>
          <a:prstGeom prst="roundRect">
            <a:avLst>
              <a:gd name="adj" fmla="val 5813"/>
            </a:avLst>
          </a:prstGeom>
          <a:noFill/>
        </p:spPr>
        <p:txBody>
          <a:bodyPr anchor="ctr" anchorCtr="0">
            <a:normAutofit/>
          </a:bodyPr>
          <a:lstStyle>
            <a:lvl1pPr algn="ctr">
              <a:defRPr sz="1600" b="0">
                <a:solidFill>
                  <a:schemeClr val="tx1"/>
                </a:solidFill>
              </a:defRPr>
            </a:lvl1pPr>
          </a:lstStyle>
          <a:p>
            <a:r>
              <a:rPr lang="en-US"/>
              <a:t>Click icon to add picture</a:t>
            </a:r>
          </a:p>
        </p:txBody>
      </p:sp>
    </p:spTree>
    <p:extLst>
      <p:ext uri="{BB962C8B-B14F-4D97-AF65-F5344CB8AC3E}">
        <p14:creationId xmlns:p14="http://schemas.microsoft.com/office/powerpoint/2010/main" val="2870714974"/>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ark (Full Blee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22C44BC-E9BB-0137-5946-790004835E99}"/>
              </a:ext>
            </a:extLst>
          </p:cNvPr>
          <p:cNvSpPr/>
          <p:nvPr/>
        </p:nvSpPr>
        <p:spPr>
          <a:xfrm>
            <a:off x="0" y="0"/>
            <a:ext cx="14630400" cy="822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00503000000020004" pitchFamily="50" charset="0"/>
            </a:endParaRPr>
          </a:p>
        </p:txBody>
      </p:sp>
      <p:pic>
        <p:nvPicPr>
          <p:cNvPr id="3" name="HeaderMasthead" descr="preencoded.png">
            <a:extLst>
              <a:ext uri="{FF2B5EF4-FFF2-40B4-BE49-F238E27FC236}">
                <a16:creationId xmlns:a16="http://schemas.microsoft.com/office/drawing/2014/main" id="{12ACD87B-8699-6D24-5A7E-A8063B91C439}"/>
              </a:ext>
            </a:extLst>
          </p:cNvPr>
          <p:cNvPicPr>
            <a:picLocks noChangeAspect="1"/>
          </p:cNvPicPr>
          <p:nvPr/>
        </p:nvPicPr>
        <p:blipFill>
          <a:blip r:embed="rId2"/>
          <a:srcRect/>
          <a:stretch/>
        </p:blipFill>
        <p:spPr>
          <a:xfrm>
            <a:off x="0" y="-1"/>
            <a:ext cx="14630400" cy="8229600"/>
          </a:xfrm>
          <a:prstGeom prst="rect">
            <a:avLst/>
          </a:prstGeom>
        </p:spPr>
      </p:pic>
      <p:sp>
        <p:nvSpPr>
          <p:cNvPr id="6" name="Title Placeholder 1">
            <a:extLst>
              <a:ext uri="{FF2B5EF4-FFF2-40B4-BE49-F238E27FC236}">
                <a16:creationId xmlns:a16="http://schemas.microsoft.com/office/drawing/2014/main" id="{8C3C95B2-F331-1096-8717-06D4D9735AFA}"/>
              </a:ext>
            </a:extLst>
          </p:cNvPr>
          <p:cNvSpPr>
            <a:spLocks noGrp="1"/>
          </p:cNvSpPr>
          <p:nvPr>
            <p:ph type="title"/>
          </p:nvPr>
        </p:nvSpPr>
        <p:spPr>
          <a:xfrm>
            <a:off x="484187" y="1305919"/>
            <a:ext cx="13689011" cy="1097280"/>
          </a:xfrm>
          <a:prstGeom prst="rect">
            <a:avLst/>
          </a:prstGeom>
        </p:spPr>
        <p:txBody>
          <a:bodyPr vert="horz" lIns="0" tIns="0" rIns="0" bIns="0" rtlCol="0" anchor="t" anchorCtr="0">
            <a:noAutofit/>
          </a:bodyPr>
          <a:lstStyle>
            <a:lvl1pPr>
              <a:defRPr>
                <a:solidFill>
                  <a:schemeClr val="bg1"/>
                </a:solidFill>
              </a:defRPr>
            </a:lvl1pPr>
          </a:lstStyle>
          <a:p>
            <a:r>
              <a:rPr lang="en-US"/>
              <a:t>Click to edit Master title style</a:t>
            </a:r>
          </a:p>
        </p:txBody>
      </p:sp>
      <p:sp>
        <p:nvSpPr>
          <p:cNvPr id="7" name="Subtitle 2">
            <a:extLst>
              <a:ext uri="{FF2B5EF4-FFF2-40B4-BE49-F238E27FC236}">
                <a16:creationId xmlns:a16="http://schemas.microsoft.com/office/drawing/2014/main" id="{45D26464-8BF8-9643-D915-A91B6ECFC4E5}"/>
              </a:ext>
            </a:extLst>
          </p:cNvPr>
          <p:cNvSpPr>
            <a:spLocks noGrp="1"/>
          </p:cNvSpPr>
          <p:nvPr>
            <p:ph type="subTitle" idx="10" hasCustomPrompt="1"/>
          </p:nvPr>
        </p:nvSpPr>
        <p:spPr>
          <a:xfrm>
            <a:off x="466451" y="888296"/>
            <a:ext cx="4358641" cy="201337"/>
          </a:xfrm>
          <a:prstGeom prst="rect">
            <a:avLst/>
          </a:prstGeom>
        </p:spPr>
        <p:txBody>
          <a:bodyPr lIns="0" tIns="0" rIns="0" bIns="0" anchor="ctr" anchorCtr="0">
            <a:noAutofit/>
          </a:bodyPr>
          <a:lstStyle>
            <a:lvl1pPr marL="0" indent="0" algn="l">
              <a:spcBef>
                <a:spcPts val="0"/>
              </a:spcBef>
              <a:buNone/>
              <a:defRPr sz="1050" b="0" spc="0" baseline="0">
                <a:solidFill>
                  <a:schemeClr val="accent1"/>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2" name="TextBox 1">
            <a:extLst>
              <a:ext uri="{FF2B5EF4-FFF2-40B4-BE49-F238E27FC236}">
                <a16:creationId xmlns:a16="http://schemas.microsoft.com/office/drawing/2014/main" id="{82B14BDC-01CE-3431-C0CE-A241E39ACE58}"/>
              </a:ext>
            </a:extLst>
          </p:cNvPr>
          <p:cNvSpPr txBox="1"/>
          <p:nvPr/>
        </p:nvSpPr>
        <p:spPr>
          <a:xfrm>
            <a:off x="12008591" y="7985760"/>
            <a:ext cx="2354579" cy="123111"/>
          </a:xfrm>
          <a:prstGeom prst="rect">
            <a:avLst/>
          </a:prstGeom>
          <a:noFill/>
        </p:spPr>
        <p:txBody>
          <a:bodyPr wrap="square" lIns="0" tIns="0" rIns="0" bIns="0">
            <a:spAutoFit/>
          </a:bodyPr>
          <a:lstStyle/>
          <a:p>
            <a:pPr algn="r"/>
            <a:r>
              <a:rPr lang="en-US" sz="800" b="0">
                <a:solidFill>
                  <a:srgbClr val="6D6D6D"/>
                </a:solidFill>
                <a:latin typeface="Inter" panose="02000503000000020004" pitchFamily="50" charset="0"/>
                <a:cs typeface="Inter" panose="02000503000000020004" pitchFamily="50" charset="0"/>
              </a:rPr>
              <a:t>DXC Internal</a:t>
            </a:r>
          </a:p>
        </p:txBody>
      </p:sp>
      <p:sp>
        <p:nvSpPr>
          <p:cNvPr id="4" name="Footer Placeholder 4">
            <a:extLst>
              <a:ext uri="{FF2B5EF4-FFF2-40B4-BE49-F238E27FC236}">
                <a16:creationId xmlns:a16="http://schemas.microsoft.com/office/drawing/2014/main" id="{875C4041-222A-F69A-E9EC-1D6BBE6C387B}"/>
              </a:ext>
            </a:extLst>
          </p:cNvPr>
          <p:cNvSpPr txBox="1">
            <a:spLocks/>
          </p:cNvSpPr>
          <p:nvPr/>
        </p:nvSpPr>
        <p:spPr>
          <a:xfrm>
            <a:off x="11296392" y="7788274"/>
            <a:ext cx="3066778" cy="17526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bg1"/>
                </a:solidFill>
                <a:latin typeface="Inter" panose="02000503000000020004" pitchFamily="50" charset="0"/>
                <a:cs typeface="Inter" panose="02000503000000020004" pitchFamily="50" charset="0"/>
              </a:rPr>
              <a:t>© </a:t>
            </a:r>
            <a:fld id="{C0650B53-F5B1-403A-BD70-58B7AE2589AD}" type="datetimeyyyy">
              <a:rPr lang="en-US" sz="850" smtClean="0">
                <a:solidFill>
                  <a:schemeClr val="bg1"/>
                </a:solidFill>
                <a:latin typeface="Inter" panose="02000503000000020004" pitchFamily="50" charset="0"/>
                <a:cs typeface="Inter" panose="02000503000000020004" pitchFamily="50" charset="0"/>
              </a:rPr>
              <a:pPr algn="r"/>
              <a:t>2026</a:t>
            </a:fld>
            <a:r>
              <a:rPr lang="en-US" sz="850">
                <a:solidFill>
                  <a:schemeClr val="bg1"/>
                </a:solidFill>
                <a:latin typeface="Inter" panose="02000503000000020004" pitchFamily="50" charset="0"/>
                <a:cs typeface="Inter" panose="02000503000000020004" pitchFamily="50" charset="0"/>
              </a:rPr>
              <a:t> DXC Technology Company. All rights reserved.</a:t>
            </a:r>
          </a:p>
        </p:txBody>
      </p:sp>
      <p:sp>
        <p:nvSpPr>
          <p:cNvPr id="8" name="Text Box 115">
            <a:extLst>
              <a:ext uri="{FF2B5EF4-FFF2-40B4-BE49-F238E27FC236}">
                <a16:creationId xmlns:a16="http://schemas.microsoft.com/office/drawing/2014/main" id="{966E7D02-A59E-D77B-34F9-177B59C8C7BD}"/>
              </a:ext>
            </a:extLst>
          </p:cNvPr>
          <p:cNvSpPr txBox="1">
            <a:spLocks noChangeArrowheads="1"/>
          </p:cNvSpPr>
          <p:nvPr/>
        </p:nvSpPr>
        <p:spPr bwMode="auto">
          <a:xfrm>
            <a:off x="14116937" y="209246"/>
            <a:ext cx="263347" cy="175565"/>
          </a:xfrm>
          <a:prstGeom prst="rect">
            <a:avLst/>
          </a:prstGeom>
          <a:noFill/>
          <a:ln w="9525">
            <a:noFill/>
            <a:miter lim="800000"/>
            <a:headEnd/>
            <a:tailEnd/>
          </a:ln>
          <a:effectLst/>
        </p:spPr>
        <p:txBody>
          <a:bodyPr wrap="square" lIns="0" tIns="0" rIns="0" bIns="0" anchor="ctr" anchorCtr="0">
            <a:noAutofit/>
          </a:bodyPr>
          <a:lstStyle/>
          <a:p>
            <a:pPr algn="r" defTabSz="525272">
              <a:spcBef>
                <a:spcPts val="0"/>
              </a:spcBef>
            </a:pPr>
            <a:fld id="{18E29826-F105-4F77-B977-03F4A4723A21}" type="slidenum">
              <a:rPr lang="en-US" sz="900" b="1" smtClean="0">
                <a:solidFill>
                  <a:schemeClr val="bg1"/>
                </a:solidFill>
                <a:latin typeface="Inter Bold"/>
                <a:ea typeface="Inter Bold"/>
              </a:rPr>
              <a:pPr algn="r" defTabSz="525272">
                <a:spcBef>
                  <a:spcPts val="0"/>
                </a:spcBef>
              </a:pPr>
              <a:t>‹#›</a:t>
            </a:fld>
            <a:endParaRPr lang="en-US" sz="900" b="1">
              <a:solidFill>
                <a:schemeClr val="bg1"/>
              </a:solidFill>
              <a:latin typeface="Inter Bold"/>
              <a:ea typeface="Inter Bold"/>
            </a:endParaRPr>
          </a:p>
        </p:txBody>
      </p:sp>
      <p:sp>
        <p:nvSpPr>
          <p:cNvPr id="9" name="Text Box 115">
            <a:extLst>
              <a:ext uri="{FF2B5EF4-FFF2-40B4-BE49-F238E27FC236}">
                <a16:creationId xmlns:a16="http://schemas.microsoft.com/office/drawing/2014/main" id="{C625C1F0-127F-73C3-7ADA-A6081E5BFC53}"/>
              </a:ext>
            </a:extLst>
          </p:cNvPr>
          <p:cNvSpPr txBox="1">
            <a:spLocks noChangeArrowheads="1"/>
          </p:cNvSpPr>
          <p:nvPr/>
        </p:nvSpPr>
        <p:spPr bwMode="auto">
          <a:xfrm>
            <a:off x="14116937" y="209246"/>
            <a:ext cx="263347" cy="175565"/>
          </a:xfrm>
          <a:prstGeom prst="rect">
            <a:avLst/>
          </a:prstGeom>
          <a:noFill/>
          <a:ln w="9525">
            <a:noFill/>
            <a:miter lim="800000"/>
            <a:headEnd/>
            <a:tailEnd/>
          </a:ln>
          <a:effectLst/>
        </p:spPr>
        <p:txBody>
          <a:bodyPr wrap="square" lIns="0" tIns="0" rIns="0" bIns="0" anchor="ctr" anchorCtr="0">
            <a:noAutofit/>
          </a:bodyPr>
          <a:lstStyle/>
          <a:p>
            <a:pPr algn="r" defTabSz="525272">
              <a:spcBef>
                <a:spcPts val="0"/>
              </a:spcBef>
            </a:pPr>
            <a:fld id="{18E29826-F105-4F77-B977-03F4A4723A21}" type="slidenum">
              <a:rPr lang="en-US" sz="900" b="1" smtClean="0">
                <a:solidFill>
                  <a:schemeClr val="bg1"/>
                </a:solidFill>
                <a:latin typeface="Inter Bold"/>
                <a:ea typeface="Inter Bold"/>
              </a:rPr>
              <a:pPr algn="r" defTabSz="525272">
                <a:spcBef>
                  <a:spcPts val="0"/>
                </a:spcBef>
              </a:pPr>
              <a:t>‹#›</a:t>
            </a:fld>
            <a:endParaRPr lang="en-US" sz="900" b="1">
              <a:solidFill>
                <a:schemeClr val="bg1"/>
              </a:solidFill>
              <a:latin typeface="Inter Bold"/>
              <a:ea typeface="Inter Bold"/>
            </a:endParaRPr>
          </a:p>
        </p:txBody>
      </p:sp>
      <p:pic>
        <p:nvPicPr>
          <p:cNvPr id="10" name="Union" descr="preencoded.png">
            <a:extLst>
              <a:ext uri="{FF2B5EF4-FFF2-40B4-BE49-F238E27FC236}">
                <a16:creationId xmlns:a16="http://schemas.microsoft.com/office/drawing/2014/main" id="{2E0A7C26-1063-DA8C-412A-967875A0E23D}"/>
              </a:ext>
            </a:extLst>
          </p:cNvPr>
          <p:cNvPicPr>
            <a:picLocks noChangeAspect="1"/>
          </p:cNvPicPr>
          <p:nvPr/>
        </p:nvPicPr>
        <p:blipFill>
          <a:blip r:embed="rId3"/>
          <a:srcRect/>
          <a:stretch/>
        </p:blipFill>
        <p:spPr>
          <a:xfrm>
            <a:off x="491014" y="228835"/>
            <a:ext cx="938212" cy="151929"/>
          </a:xfrm>
          <a:prstGeom prst="rect">
            <a:avLst/>
          </a:prstGeom>
        </p:spPr>
      </p:pic>
    </p:spTree>
    <p:extLst>
      <p:ext uri="{BB962C8B-B14F-4D97-AF65-F5344CB8AC3E}">
        <p14:creationId xmlns:p14="http://schemas.microsoft.com/office/powerpoint/2010/main" val="1857243214"/>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ark (White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22C44BC-E9BB-0137-5946-790004835E99}"/>
              </a:ext>
            </a:extLst>
          </p:cNvPr>
          <p:cNvSpPr/>
          <p:nvPr/>
        </p:nvSpPr>
        <p:spPr>
          <a:xfrm>
            <a:off x="0" y="609600"/>
            <a:ext cx="14630400" cy="7620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00503000000020004" pitchFamily="50" charset="0"/>
            </a:endParaRPr>
          </a:p>
        </p:txBody>
      </p:sp>
      <p:pic>
        <p:nvPicPr>
          <p:cNvPr id="3" name="HeaderMasthead" descr="preencoded.png">
            <a:extLst>
              <a:ext uri="{FF2B5EF4-FFF2-40B4-BE49-F238E27FC236}">
                <a16:creationId xmlns:a16="http://schemas.microsoft.com/office/drawing/2014/main" id="{12ACD87B-8699-6D24-5A7E-A8063B91C439}"/>
              </a:ext>
            </a:extLst>
          </p:cNvPr>
          <p:cNvPicPr>
            <a:picLocks noChangeAspect="1"/>
          </p:cNvPicPr>
          <p:nvPr/>
        </p:nvPicPr>
        <p:blipFill>
          <a:blip r:embed="rId2"/>
          <a:srcRect/>
          <a:stretch/>
        </p:blipFill>
        <p:spPr>
          <a:xfrm>
            <a:off x="0" y="0"/>
            <a:ext cx="14630400" cy="8229600"/>
          </a:xfrm>
          <a:prstGeom prst="rect">
            <a:avLst/>
          </a:prstGeom>
        </p:spPr>
      </p:pic>
      <p:sp>
        <p:nvSpPr>
          <p:cNvPr id="6" name="Title Placeholder 1">
            <a:extLst>
              <a:ext uri="{FF2B5EF4-FFF2-40B4-BE49-F238E27FC236}">
                <a16:creationId xmlns:a16="http://schemas.microsoft.com/office/drawing/2014/main" id="{8C3C95B2-F331-1096-8717-06D4D9735AFA}"/>
              </a:ext>
            </a:extLst>
          </p:cNvPr>
          <p:cNvSpPr>
            <a:spLocks noGrp="1"/>
          </p:cNvSpPr>
          <p:nvPr>
            <p:ph type="title"/>
          </p:nvPr>
        </p:nvSpPr>
        <p:spPr>
          <a:xfrm>
            <a:off x="484187" y="1305919"/>
            <a:ext cx="13689011" cy="1097280"/>
          </a:xfrm>
          <a:prstGeom prst="rect">
            <a:avLst/>
          </a:prstGeom>
        </p:spPr>
        <p:txBody>
          <a:bodyPr vert="horz" lIns="0" tIns="0" rIns="0" bIns="0" rtlCol="0" anchor="t" anchorCtr="0">
            <a:noAutofit/>
          </a:bodyPr>
          <a:lstStyle>
            <a:lvl1pPr>
              <a:defRPr>
                <a:solidFill>
                  <a:schemeClr val="bg1"/>
                </a:solidFill>
              </a:defRPr>
            </a:lvl1pPr>
          </a:lstStyle>
          <a:p>
            <a:r>
              <a:rPr lang="en-US"/>
              <a:t>Click to edit Master title style</a:t>
            </a:r>
          </a:p>
        </p:txBody>
      </p:sp>
      <p:sp>
        <p:nvSpPr>
          <p:cNvPr id="7" name="Subtitle 2">
            <a:extLst>
              <a:ext uri="{FF2B5EF4-FFF2-40B4-BE49-F238E27FC236}">
                <a16:creationId xmlns:a16="http://schemas.microsoft.com/office/drawing/2014/main" id="{45D26464-8BF8-9643-D915-A91B6ECFC4E5}"/>
              </a:ext>
            </a:extLst>
          </p:cNvPr>
          <p:cNvSpPr>
            <a:spLocks noGrp="1"/>
          </p:cNvSpPr>
          <p:nvPr>
            <p:ph type="subTitle" idx="10" hasCustomPrompt="1"/>
          </p:nvPr>
        </p:nvSpPr>
        <p:spPr>
          <a:xfrm>
            <a:off x="466451" y="888296"/>
            <a:ext cx="4358641" cy="201337"/>
          </a:xfrm>
          <a:prstGeom prst="rect">
            <a:avLst/>
          </a:prstGeom>
        </p:spPr>
        <p:txBody>
          <a:bodyPr lIns="0" tIns="0" rIns="0" bIns="0" anchor="ctr" anchorCtr="0">
            <a:noAutofit/>
          </a:bodyPr>
          <a:lstStyle>
            <a:lvl1pPr marL="0" indent="0" algn="l">
              <a:spcBef>
                <a:spcPts val="0"/>
              </a:spcBef>
              <a:buNone/>
              <a:defRPr sz="1050" b="0" spc="0" baseline="0">
                <a:solidFill>
                  <a:schemeClr val="accent1"/>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2" name="TextBox 1">
            <a:extLst>
              <a:ext uri="{FF2B5EF4-FFF2-40B4-BE49-F238E27FC236}">
                <a16:creationId xmlns:a16="http://schemas.microsoft.com/office/drawing/2014/main" id="{82B14BDC-01CE-3431-C0CE-A241E39ACE58}"/>
              </a:ext>
            </a:extLst>
          </p:cNvPr>
          <p:cNvSpPr txBox="1"/>
          <p:nvPr/>
        </p:nvSpPr>
        <p:spPr>
          <a:xfrm>
            <a:off x="12008591" y="7985760"/>
            <a:ext cx="2354579" cy="123111"/>
          </a:xfrm>
          <a:prstGeom prst="rect">
            <a:avLst/>
          </a:prstGeom>
          <a:noFill/>
        </p:spPr>
        <p:txBody>
          <a:bodyPr wrap="square" lIns="0" tIns="0" rIns="0" bIns="0">
            <a:spAutoFit/>
          </a:bodyPr>
          <a:lstStyle/>
          <a:p>
            <a:pPr algn="r"/>
            <a:r>
              <a:rPr lang="en-US" sz="800" b="0">
                <a:solidFill>
                  <a:srgbClr val="6D6D6D"/>
                </a:solidFill>
                <a:latin typeface="Inter" panose="02000503000000020004" pitchFamily="50" charset="0"/>
                <a:cs typeface="Inter" panose="02000503000000020004" pitchFamily="50" charset="0"/>
              </a:rPr>
              <a:t>DXC Internal</a:t>
            </a:r>
          </a:p>
        </p:txBody>
      </p:sp>
      <p:sp>
        <p:nvSpPr>
          <p:cNvPr id="4" name="Footer Placeholder 4">
            <a:extLst>
              <a:ext uri="{FF2B5EF4-FFF2-40B4-BE49-F238E27FC236}">
                <a16:creationId xmlns:a16="http://schemas.microsoft.com/office/drawing/2014/main" id="{875C4041-222A-F69A-E9EC-1D6BBE6C387B}"/>
              </a:ext>
            </a:extLst>
          </p:cNvPr>
          <p:cNvSpPr txBox="1">
            <a:spLocks/>
          </p:cNvSpPr>
          <p:nvPr/>
        </p:nvSpPr>
        <p:spPr>
          <a:xfrm>
            <a:off x="11296392" y="7788274"/>
            <a:ext cx="3066778" cy="17526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bg1"/>
                </a:solidFill>
                <a:latin typeface="Inter" panose="02000503000000020004" pitchFamily="50" charset="0"/>
                <a:cs typeface="Inter" panose="02000503000000020004" pitchFamily="50" charset="0"/>
              </a:rPr>
              <a:t>© </a:t>
            </a:r>
            <a:fld id="{C0650B53-F5B1-403A-BD70-58B7AE2589AD}" type="datetimeyyyy">
              <a:rPr lang="en-US" sz="850" smtClean="0">
                <a:solidFill>
                  <a:schemeClr val="bg1"/>
                </a:solidFill>
                <a:latin typeface="Inter" panose="02000503000000020004" pitchFamily="50" charset="0"/>
                <a:cs typeface="Inter" panose="02000503000000020004" pitchFamily="50" charset="0"/>
              </a:rPr>
              <a:pPr algn="r"/>
              <a:t>2026</a:t>
            </a:fld>
            <a:r>
              <a:rPr lang="en-US" sz="850">
                <a:solidFill>
                  <a:schemeClr val="bg1"/>
                </a:solidFill>
                <a:latin typeface="Inter" panose="02000503000000020004" pitchFamily="50" charset="0"/>
                <a:cs typeface="Inter" panose="02000503000000020004" pitchFamily="50" charset="0"/>
              </a:rPr>
              <a:t> DXC Technology Company. All rights reserved.</a:t>
            </a:r>
          </a:p>
        </p:txBody>
      </p:sp>
    </p:spTree>
    <p:extLst>
      <p:ext uri="{BB962C8B-B14F-4D97-AF65-F5344CB8AC3E}">
        <p14:creationId xmlns:p14="http://schemas.microsoft.com/office/powerpoint/2010/main" val="3633815362"/>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22C44BC-E9BB-0137-5946-790004835E99}"/>
              </a:ext>
            </a:extLst>
          </p:cNvPr>
          <p:cNvSpPr/>
          <p:nvPr/>
        </p:nvSpPr>
        <p:spPr>
          <a:xfrm>
            <a:off x="0" y="0"/>
            <a:ext cx="14630400" cy="822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00503000000020004" pitchFamily="50" charset="0"/>
            </a:endParaRPr>
          </a:p>
        </p:txBody>
      </p:sp>
      <p:pic>
        <p:nvPicPr>
          <p:cNvPr id="3" name="HeaderMasthead" descr="preencoded.png">
            <a:extLst>
              <a:ext uri="{FF2B5EF4-FFF2-40B4-BE49-F238E27FC236}">
                <a16:creationId xmlns:a16="http://schemas.microsoft.com/office/drawing/2014/main" id="{12ACD87B-8699-6D24-5A7E-A8063B91C439}"/>
              </a:ext>
            </a:extLst>
          </p:cNvPr>
          <p:cNvPicPr>
            <a:picLocks noChangeAspect="1"/>
          </p:cNvPicPr>
          <p:nvPr/>
        </p:nvPicPr>
        <p:blipFill>
          <a:blip r:embed="rId2"/>
          <a:srcRect/>
          <a:stretch/>
        </p:blipFill>
        <p:spPr>
          <a:xfrm>
            <a:off x="0" y="0"/>
            <a:ext cx="14630400" cy="8229599"/>
          </a:xfrm>
          <a:prstGeom prst="rect">
            <a:avLst/>
          </a:prstGeom>
        </p:spPr>
      </p:pic>
      <p:sp>
        <p:nvSpPr>
          <p:cNvPr id="2" name="TextBox 1">
            <a:extLst>
              <a:ext uri="{FF2B5EF4-FFF2-40B4-BE49-F238E27FC236}">
                <a16:creationId xmlns:a16="http://schemas.microsoft.com/office/drawing/2014/main" id="{82B14BDC-01CE-3431-C0CE-A241E39ACE58}"/>
              </a:ext>
            </a:extLst>
          </p:cNvPr>
          <p:cNvSpPr txBox="1"/>
          <p:nvPr/>
        </p:nvSpPr>
        <p:spPr>
          <a:xfrm>
            <a:off x="12008591" y="7985760"/>
            <a:ext cx="2354579" cy="123111"/>
          </a:xfrm>
          <a:prstGeom prst="rect">
            <a:avLst/>
          </a:prstGeom>
          <a:noFill/>
        </p:spPr>
        <p:txBody>
          <a:bodyPr wrap="square" lIns="0" tIns="0" rIns="0" bIns="0">
            <a:spAutoFit/>
          </a:bodyPr>
          <a:lstStyle/>
          <a:p>
            <a:pPr algn="r"/>
            <a:r>
              <a:rPr lang="en-US" sz="800" b="0">
                <a:solidFill>
                  <a:srgbClr val="6D6D6D"/>
                </a:solidFill>
                <a:latin typeface="Inter" panose="02000503000000020004" pitchFamily="50" charset="0"/>
                <a:cs typeface="Inter" panose="02000503000000020004" pitchFamily="50" charset="0"/>
              </a:rPr>
              <a:t>DXC Internal</a:t>
            </a:r>
          </a:p>
        </p:txBody>
      </p:sp>
      <p:sp>
        <p:nvSpPr>
          <p:cNvPr id="4" name="Footer Placeholder 4">
            <a:extLst>
              <a:ext uri="{FF2B5EF4-FFF2-40B4-BE49-F238E27FC236}">
                <a16:creationId xmlns:a16="http://schemas.microsoft.com/office/drawing/2014/main" id="{875C4041-222A-F69A-E9EC-1D6BBE6C387B}"/>
              </a:ext>
            </a:extLst>
          </p:cNvPr>
          <p:cNvSpPr txBox="1">
            <a:spLocks/>
          </p:cNvSpPr>
          <p:nvPr/>
        </p:nvSpPr>
        <p:spPr>
          <a:xfrm>
            <a:off x="11296392" y="7788274"/>
            <a:ext cx="3066778" cy="17526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bg1"/>
                </a:solidFill>
                <a:latin typeface="Inter" panose="02000503000000020004" pitchFamily="50" charset="0"/>
                <a:cs typeface="Inter" panose="02000503000000020004" pitchFamily="50" charset="0"/>
              </a:rPr>
              <a:t>© </a:t>
            </a:r>
            <a:fld id="{C0650B53-F5B1-403A-BD70-58B7AE2589AD}" type="datetimeyyyy">
              <a:rPr lang="en-US" sz="850" smtClean="0">
                <a:solidFill>
                  <a:schemeClr val="bg1"/>
                </a:solidFill>
                <a:latin typeface="Inter" panose="02000503000000020004" pitchFamily="50" charset="0"/>
                <a:cs typeface="Inter" panose="02000503000000020004" pitchFamily="50" charset="0"/>
              </a:rPr>
              <a:pPr algn="r"/>
              <a:t>2026</a:t>
            </a:fld>
            <a:r>
              <a:rPr lang="en-US" sz="850">
                <a:solidFill>
                  <a:schemeClr val="bg1"/>
                </a:solidFill>
                <a:latin typeface="Inter" panose="02000503000000020004" pitchFamily="50" charset="0"/>
                <a:cs typeface="Inter" panose="02000503000000020004" pitchFamily="50" charset="0"/>
              </a:rPr>
              <a:t> DXC Technology Company. All rights reserved.</a:t>
            </a:r>
          </a:p>
        </p:txBody>
      </p:sp>
      <p:sp>
        <p:nvSpPr>
          <p:cNvPr id="8" name="Content Placeholder 2">
            <a:extLst>
              <a:ext uri="{FF2B5EF4-FFF2-40B4-BE49-F238E27FC236}">
                <a16:creationId xmlns:a16="http://schemas.microsoft.com/office/drawing/2014/main" id="{255F7739-5F3D-DF4D-BE90-E2362F48ACE4}"/>
              </a:ext>
            </a:extLst>
          </p:cNvPr>
          <p:cNvSpPr>
            <a:spLocks noGrp="1"/>
          </p:cNvSpPr>
          <p:nvPr>
            <p:ph sz="half" idx="14"/>
          </p:nvPr>
        </p:nvSpPr>
        <p:spPr>
          <a:xfrm>
            <a:off x="3105150" y="2249752"/>
            <a:ext cx="11068048" cy="2655732"/>
          </a:xfrm>
          <a:prstGeom prst="rect">
            <a:avLst/>
          </a:prstGeom>
        </p:spPr>
        <p:txBody>
          <a:bodyPr>
            <a:noAutofit/>
          </a:bodyPr>
          <a:lstStyle>
            <a:lvl1pPr>
              <a:lnSpc>
                <a:spcPts val="3600"/>
              </a:lnSpc>
              <a:spcBef>
                <a:spcPts val="600"/>
              </a:spcBef>
              <a:defRPr sz="2800">
                <a:solidFill>
                  <a:schemeClr val="bg1"/>
                </a:solidFill>
                <a:latin typeface="Inter Light" panose="02000403000000020004" pitchFamily="50" charset="0"/>
                <a:ea typeface="Inter Light" panose="02000403000000020004" pitchFamily="50" charset="0"/>
                <a:cs typeface="Inter Light" panose="02000403000000020004" pitchFamily="50" charset="0"/>
              </a:defRPr>
            </a:lvl1pPr>
            <a:lvl2pPr>
              <a:lnSpc>
                <a:spcPts val="3600"/>
              </a:lnSpc>
              <a:spcBef>
                <a:spcPts val="600"/>
              </a:spcBef>
              <a:defRPr sz="2800">
                <a:solidFill>
                  <a:schemeClr val="bg1"/>
                </a:solidFill>
                <a:latin typeface="Inter Light" panose="02000403000000020004" pitchFamily="50" charset="0"/>
                <a:ea typeface="Inter Light" panose="02000403000000020004" pitchFamily="50" charset="0"/>
                <a:cs typeface="Inter Light" panose="02000403000000020004" pitchFamily="50" charset="0"/>
              </a:defRPr>
            </a:lvl2pPr>
            <a:lvl3pPr marL="0" indent="0">
              <a:lnSpc>
                <a:spcPts val="3600"/>
              </a:lnSpc>
              <a:spcBef>
                <a:spcPts val="600"/>
              </a:spcBef>
              <a:buFont typeface="Arial" panose="020B0604020202020204" pitchFamily="34" charset="0"/>
              <a:buNone/>
              <a:defRPr sz="2800">
                <a:solidFill>
                  <a:schemeClr val="bg1"/>
                </a:solidFill>
                <a:latin typeface="Inter Light" panose="02000403000000020004" pitchFamily="50" charset="0"/>
                <a:ea typeface="Inter Light" panose="02000403000000020004" pitchFamily="50" charset="0"/>
                <a:cs typeface="Inter Light" panose="02000403000000020004" pitchFamily="50" charset="0"/>
              </a:defRPr>
            </a:lvl3pPr>
            <a:lvl4pPr marL="0" indent="0">
              <a:lnSpc>
                <a:spcPct val="100000"/>
              </a:lnSpc>
              <a:spcBef>
                <a:spcPts val="600"/>
              </a:spcBef>
              <a:buFont typeface="Arial" panose="020B0604020202020204" pitchFamily="34" charset="0"/>
              <a:buNone/>
              <a:defRPr sz="2800">
                <a:solidFill>
                  <a:schemeClr val="bg1"/>
                </a:solidFill>
                <a:latin typeface="Inter Light" panose="02000403000000020004" pitchFamily="50" charset="0"/>
                <a:ea typeface="Inter Light" panose="02000403000000020004" pitchFamily="50" charset="0"/>
                <a:cs typeface="Inter Light" panose="02000403000000020004" pitchFamily="50" charset="0"/>
              </a:defRPr>
            </a:lvl4pPr>
            <a:lvl5pPr marL="0" indent="0">
              <a:lnSpc>
                <a:spcPct val="100000"/>
              </a:lnSpc>
              <a:spcBef>
                <a:spcPts val="600"/>
              </a:spcBef>
              <a:buFont typeface="Arial" panose="020B0604020202020204" pitchFamily="34" charset="0"/>
              <a:buNone/>
              <a:defRPr sz="2800">
                <a:solidFill>
                  <a:schemeClr val="bg1"/>
                </a:solidFill>
                <a:latin typeface="Inter Light" panose="02000403000000020004" pitchFamily="50" charset="0"/>
                <a:ea typeface="Inter Light" panose="02000403000000020004" pitchFamily="50" charset="0"/>
                <a:cs typeface="Inter Light" panose="02000403000000020004" pitchFamily="50"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p:txBody>
      </p:sp>
      <p:sp>
        <p:nvSpPr>
          <p:cNvPr id="13" name="Content Placeholder 2">
            <a:extLst>
              <a:ext uri="{FF2B5EF4-FFF2-40B4-BE49-F238E27FC236}">
                <a16:creationId xmlns:a16="http://schemas.microsoft.com/office/drawing/2014/main" id="{6C988E8C-D038-1253-4258-6D8D58C445FC}"/>
              </a:ext>
            </a:extLst>
          </p:cNvPr>
          <p:cNvSpPr>
            <a:spLocks noGrp="1"/>
          </p:cNvSpPr>
          <p:nvPr>
            <p:ph sz="half" idx="15" hasCustomPrompt="1"/>
          </p:nvPr>
        </p:nvSpPr>
        <p:spPr>
          <a:xfrm>
            <a:off x="4491036" y="5532949"/>
            <a:ext cx="7205663" cy="181534"/>
          </a:xfrm>
          <a:prstGeom prst="rect">
            <a:avLst/>
          </a:prstGeom>
        </p:spPr>
        <p:txBody>
          <a:bodyPr tIns="0" rIns="0" bIns="0">
            <a:noAutofit/>
          </a:bodyPr>
          <a:lstStyle>
            <a:lvl1pPr>
              <a:lnSpc>
                <a:spcPct val="100000"/>
              </a:lnSpc>
              <a:spcBef>
                <a:spcPts val="600"/>
              </a:spcBef>
              <a:defRPr sz="1200" cap="all" spc="160" baseline="0">
                <a:solidFill>
                  <a:schemeClr val="bg1"/>
                </a:solidFill>
                <a:latin typeface="GT Standard L Extended" pitchFamily="50" charset="0"/>
                <a:ea typeface="Inter SemiBold" panose="02000703000000020004" pitchFamily="50" charset="0"/>
                <a:cs typeface="Inter SemiBold" panose="020007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14" name="Content Placeholder 2">
            <a:extLst>
              <a:ext uri="{FF2B5EF4-FFF2-40B4-BE49-F238E27FC236}">
                <a16:creationId xmlns:a16="http://schemas.microsoft.com/office/drawing/2014/main" id="{8C6F164B-E08C-29C0-7C1E-2FD6BCE1ADDA}"/>
              </a:ext>
            </a:extLst>
          </p:cNvPr>
          <p:cNvSpPr>
            <a:spLocks noGrp="1"/>
          </p:cNvSpPr>
          <p:nvPr>
            <p:ph sz="half" idx="16" hasCustomPrompt="1"/>
          </p:nvPr>
        </p:nvSpPr>
        <p:spPr>
          <a:xfrm>
            <a:off x="4491037" y="5886416"/>
            <a:ext cx="7205663" cy="181534"/>
          </a:xfrm>
          <a:prstGeom prst="rect">
            <a:avLst/>
          </a:prstGeom>
        </p:spPr>
        <p:txBody>
          <a:bodyPr tIns="0" rIns="0" bIns="0">
            <a:noAutofit/>
          </a:bodyPr>
          <a:lstStyle>
            <a:lvl1pPr>
              <a:lnSpc>
                <a:spcPct val="100000"/>
              </a:lnSpc>
              <a:spcBef>
                <a:spcPts val="600"/>
              </a:spcBef>
              <a:defRPr sz="1200" cap="all" spc="160" baseline="0">
                <a:solidFill>
                  <a:schemeClr val="bg1"/>
                </a:solidFill>
                <a:latin typeface="Inter Light" panose="02000403000000020004" pitchFamily="50" charset="0"/>
                <a:ea typeface="Inter Light" panose="02000403000000020004" pitchFamily="50" charset="0"/>
                <a:cs typeface="Inter Light" panose="020004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16" name="Picture Placeholder 8">
            <a:extLst>
              <a:ext uri="{FF2B5EF4-FFF2-40B4-BE49-F238E27FC236}">
                <a16:creationId xmlns:a16="http://schemas.microsoft.com/office/drawing/2014/main" id="{7C4B69D7-624C-1666-EA6E-6FA241A24892}"/>
              </a:ext>
            </a:extLst>
          </p:cNvPr>
          <p:cNvSpPr>
            <a:spLocks noGrp="1"/>
          </p:cNvSpPr>
          <p:nvPr>
            <p:ph type="pic" sz="quarter" idx="21"/>
          </p:nvPr>
        </p:nvSpPr>
        <p:spPr>
          <a:xfrm>
            <a:off x="3105149" y="5251736"/>
            <a:ext cx="1114425" cy="1114425"/>
          </a:xfrm>
          <a:prstGeom prst="roundRect">
            <a:avLst>
              <a:gd name="adj" fmla="val 5813"/>
            </a:avLst>
          </a:prstGeom>
          <a:noFill/>
        </p:spPr>
        <p:txBody>
          <a:bodyPr anchor="ctr" anchorCtr="0">
            <a:normAutofit/>
          </a:bodyPr>
          <a:lstStyle>
            <a:lvl1pPr algn="ctr">
              <a:defRPr sz="1600" b="0"/>
            </a:lvl1pPr>
          </a:lstStyle>
          <a:p>
            <a:r>
              <a:rPr lang="en-US"/>
              <a:t>Click icon to add picture</a:t>
            </a:r>
          </a:p>
        </p:txBody>
      </p:sp>
      <p:sp>
        <p:nvSpPr>
          <p:cNvPr id="17" name="Graphic 14">
            <a:extLst>
              <a:ext uri="{FF2B5EF4-FFF2-40B4-BE49-F238E27FC236}">
                <a16:creationId xmlns:a16="http://schemas.microsoft.com/office/drawing/2014/main" id="{289971B2-6DA5-08CA-F7E5-1172BD30B562}"/>
              </a:ext>
            </a:extLst>
          </p:cNvPr>
          <p:cNvSpPr/>
          <p:nvPr/>
        </p:nvSpPr>
        <p:spPr>
          <a:xfrm>
            <a:off x="1328946" y="2405533"/>
            <a:ext cx="1212117" cy="965628"/>
          </a:xfrm>
          <a:custGeom>
            <a:avLst/>
            <a:gdLst>
              <a:gd name="csX0" fmla="*/ 436380 w 1212117"/>
              <a:gd name="csY0" fmla="*/ 528071 h 965628"/>
              <a:gd name="csX1" fmla="*/ 187312 w 1212117"/>
              <a:gd name="csY1" fmla="*/ 528071 h 965628"/>
              <a:gd name="csX2" fmla="*/ 187312 w 1212117"/>
              <a:gd name="csY2" fmla="*/ 409448 h 965628"/>
              <a:gd name="csX3" fmla="*/ 425638 w 1212117"/>
              <a:gd name="csY3" fmla="*/ 172264 h 965628"/>
              <a:gd name="csX4" fmla="*/ 433264 w 1212117"/>
              <a:gd name="csY4" fmla="*/ 172213 h 965628"/>
              <a:gd name="csX5" fmla="*/ 483088 w 1212117"/>
              <a:gd name="csY5" fmla="*/ 172213 h 965628"/>
              <a:gd name="csX6" fmla="*/ 483088 w 1212117"/>
              <a:gd name="csY6" fmla="*/ 13007 h 965628"/>
              <a:gd name="csX7" fmla="*/ 427044 w 1212117"/>
              <a:gd name="csY7" fmla="*/ 13007 h 965628"/>
              <a:gd name="csX8" fmla="*/ 427044 w 1212117"/>
              <a:gd name="csY8" fmla="*/ 0 h 965628"/>
              <a:gd name="csX9" fmla="*/ 496060 w 1212117"/>
              <a:gd name="csY9" fmla="*/ 0 h 965628"/>
              <a:gd name="csX10" fmla="*/ 496060 w 1212117"/>
              <a:gd name="csY10" fmla="*/ 185220 h 965628"/>
              <a:gd name="csX11" fmla="*/ 433264 w 1212117"/>
              <a:gd name="csY11" fmla="*/ 185220 h 965628"/>
              <a:gd name="csX12" fmla="*/ 257797 w 1212117"/>
              <a:gd name="csY12" fmla="*/ 240893 h 965628"/>
              <a:gd name="csX13" fmla="*/ 200284 w 1212117"/>
              <a:gd name="csY13" fmla="*/ 409448 h 965628"/>
              <a:gd name="csX14" fmla="*/ 200284 w 1212117"/>
              <a:gd name="csY14" fmla="*/ 515065 h 965628"/>
              <a:gd name="csX15" fmla="*/ 449352 w 1212117"/>
              <a:gd name="csY15" fmla="*/ 515065 h 965628"/>
              <a:gd name="csX16" fmla="*/ 449352 w 1212117"/>
              <a:gd name="csY16" fmla="*/ 965628 h 965628"/>
              <a:gd name="csX17" fmla="*/ 0 w 1212117"/>
              <a:gd name="csY17" fmla="*/ 965628 h 965628"/>
              <a:gd name="csX18" fmla="*/ 0 w 1212117"/>
              <a:gd name="csY18" fmla="*/ 418822 h 965628"/>
              <a:gd name="csX19" fmla="*/ 106273 w 1212117"/>
              <a:gd name="csY19" fmla="*/ 113340 h 965628"/>
              <a:gd name="csX20" fmla="*/ 106337 w 1212117"/>
              <a:gd name="csY20" fmla="*/ 113263 h 965628"/>
              <a:gd name="csX21" fmla="*/ 106400 w 1212117"/>
              <a:gd name="csY21" fmla="*/ 113200 h 965628"/>
              <a:gd name="csX22" fmla="*/ 427044 w 1212117"/>
              <a:gd name="csY22" fmla="*/ 0 h 965628"/>
              <a:gd name="csX23" fmla="*/ 427044 w 1212117"/>
              <a:gd name="csY23" fmla="*/ 13007 h 965628"/>
              <a:gd name="csX24" fmla="*/ 414300 w 1212117"/>
              <a:gd name="csY24" fmla="*/ 13108 h 965628"/>
              <a:gd name="csX25" fmla="*/ 115711 w 1212117"/>
              <a:gd name="csY25" fmla="*/ 122256 h 965628"/>
              <a:gd name="csX26" fmla="*/ 109390 w 1212117"/>
              <a:gd name="csY26" fmla="*/ 129166 h 965628"/>
              <a:gd name="csX27" fmla="*/ 12972 w 1212117"/>
              <a:gd name="csY27" fmla="*/ 418822 h 965628"/>
              <a:gd name="csX28" fmla="*/ 12972 w 1212117"/>
              <a:gd name="csY28" fmla="*/ 952622 h 965628"/>
              <a:gd name="csX29" fmla="*/ 436380 w 1212117"/>
              <a:gd name="csY29" fmla="*/ 952622 h 965628"/>
              <a:gd name="csX30" fmla="*/ 436380 w 1212117"/>
              <a:gd name="csY30" fmla="*/ 528071 h 965628"/>
              <a:gd name="csX31" fmla="*/ 1152449 w 1212117"/>
              <a:gd name="csY31" fmla="*/ 528071 h 965628"/>
              <a:gd name="csX32" fmla="*/ 903380 w 1212117"/>
              <a:gd name="csY32" fmla="*/ 528071 h 965628"/>
              <a:gd name="csX33" fmla="*/ 903380 w 1212117"/>
              <a:gd name="csY33" fmla="*/ 409448 h 965628"/>
              <a:gd name="csX34" fmla="*/ 1141707 w 1212117"/>
              <a:gd name="csY34" fmla="*/ 172264 h 965628"/>
              <a:gd name="csX35" fmla="*/ 1149333 w 1212117"/>
              <a:gd name="csY35" fmla="*/ 172213 h 965628"/>
              <a:gd name="csX36" fmla="*/ 1199145 w 1212117"/>
              <a:gd name="csY36" fmla="*/ 172213 h 965628"/>
              <a:gd name="csX37" fmla="*/ 1199145 w 1212117"/>
              <a:gd name="csY37" fmla="*/ 13007 h 965628"/>
              <a:gd name="csX38" fmla="*/ 1143113 w 1212117"/>
              <a:gd name="csY38" fmla="*/ 13007 h 965628"/>
              <a:gd name="csX39" fmla="*/ 1143113 w 1212117"/>
              <a:gd name="csY39" fmla="*/ 0 h 965628"/>
              <a:gd name="csX40" fmla="*/ 1212117 w 1212117"/>
              <a:gd name="csY40" fmla="*/ 0 h 965628"/>
              <a:gd name="csX41" fmla="*/ 1212117 w 1212117"/>
              <a:gd name="csY41" fmla="*/ 185220 h 965628"/>
              <a:gd name="csX42" fmla="*/ 1149333 w 1212117"/>
              <a:gd name="csY42" fmla="*/ 185220 h 965628"/>
              <a:gd name="csX43" fmla="*/ 973866 w 1212117"/>
              <a:gd name="csY43" fmla="*/ 240893 h 965628"/>
              <a:gd name="csX44" fmla="*/ 916352 w 1212117"/>
              <a:gd name="csY44" fmla="*/ 409448 h 965628"/>
              <a:gd name="csX45" fmla="*/ 916352 w 1212117"/>
              <a:gd name="csY45" fmla="*/ 515065 h 965628"/>
              <a:gd name="csX46" fmla="*/ 1165421 w 1212117"/>
              <a:gd name="csY46" fmla="*/ 515065 h 965628"/>
              <a:gd name="csX47" fmla="*/ 1165421 w 1212117"/>
              <a:gd name="csY47" fmla="*/ 965628 h 965628"/>
              <a:gd name="csX48" fmla="*/ 716069 w 1212117"/>
              <a:gd name="csY48" fmla="*/ 965628 h 965628"/>
              <a:gd name="csX49" fmla="*/ 716069 w 1212117"/>
              <a:gd name="csY49" fmla="*/ 418822 h 965628"/>
              <a:gd name="csX50" fmla="*/ 822342 w 1212117"/>
              <a:gd name="csY50" fmla="*/ 113340 h 965628"/>
              <a:gd name="csX51" fmla="*/ 822406 w 1212117"/>
              <a:gd name="csY51" fmla="*/ 113263 h 965628"/>
              <a:gd name="csX52" fmla="*/ 822468 w 1212117"/>
              <a:gd name="csY52" fmla="*/ 113200 h 965628"/>
              <a:gd name="csX53" fmla="*/ 1143113 w 1212117"/>
              <a:gd name="csY53" fmla="*/ 0 h 965628"/>
              <a:gd name="csX54" fmla="*/ 1143113 w 1212117"/>
              <a:gd name="csY54" fmla="*/ 13007 h 965628"/>
              <a:gd name="csX55" fmla="*/ 1130369 w 1212117"/>
              <a:gd name="csY55" fmla="*/ 13108 h 965628"/>
              <a:gd name="csX56" fmla="*/ 831780 w 1212117"/>
              <a:gd name="csY56" fmla="*/ 122256 h 965628"/>
              <a:gd name="csX57" fmla="*/ 825458 w 1212117"/>
              <a:gd name="csY57" fmla="*/ 129166 h 965628"/>
              <a:gd name="csX58" fmla="*/ 729041 w 1212117"/>
              <a:gd name="csY58" fmla="*/ 418822 h 965628"/>
              <a:gd name="csX59" fmla="*/ 729041 w 1212117"/>
              <a:gd name="csY59" fmla="*/ 952622 h 965628"/>
              <a:gd name="csX60" fmla="*/ 1152449 w 1212117"/>
              <a:gd name="csY60" fmla="*/ 952622 h 965628"/>
              <a:gd name="csX61" fmla="*/ 1152449 w 1212117"/>
              <a:gd name="csY61" fmla="*/ 528071 h 9656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Lst>
            <a:rect l="l" t="t" r="r" b="b"/>
            <a:pathLst>
              <a:path w="1212117" h="965628">
                <a:moveTo>
                  <a:pt x="436380" y="528071"/>
                </a:moveTo>
                <a:lnTo>
                  <a:pt x="187312" y="528071"/>
                </a:lnTo>
                <a:lnTo>
                  <a:pt x="187312" y="409448"/>
                </a:lnTo>
                <a:cubicBezTo>
                  <a:pt x="187312" y="253760"/>
                  <a:pt x="266758" y="174698"/>
                  <a:pt x="425638" y="172264"/>
                </a:cubicBezTo>
                <a:lnTo>
                  <a:pt x="433264" y="172213"/>
                </a:lnTo>
                <a:lnTo>
                  <a:pt x="483088" y="172213"/>
                </a:lnTo>
                <a:lnTo>
                  <a:pt x="483088" y="13007"/>
                </a:lnTo>
                <a:lnTo>
                  <a:pt x="427044" y="13007"/>
                </a:lnTo>
                <a:lnTo>
                  <a:pt x="427044" y="0"/>
                </a:lnTo>
                <a:lnTo>
                  <a:pt x="496060" y="0"/>
                </a:lnTo>
                <a:lnTo>
                  <a:pt x="496060" y="185220"/>
                </a:lnTo>
                <a:lnTo>
                  <a:pt x="433264" y="185220"/>
                </a:lnTo>
                <a:cubicBezTo>
                  <a:pt x="353159" y="185221"/>
                  <a:pt x="295484" y="204541"/>
                  <a:pt x="257797" y="240893"/>
                </a:cubicBezTo>
                <a:cubicBezTo>
                  <a:pt x="220205" y="277154"/>
                  <a:pt x="200284" y="332505"/>
                  <a:pt x="200284" y="409448"/>
                </a:cubicBezTo>
                <a:lnTo>
                  <a:pt x="200284" y="515065"/>
                </a:lnTo>
                <a:lnTo>
                  <a:pt x="449352" y="515065"/>
                </a:lnTo>
                <a:lnTo>
                  <a:pt x="449352" y="965628"/>
                </a:lnTo>
                <a:lnTo>
                  <a:pt x="0" y="965628"/>
                </a:lnTo>
                <a:lnTo>
                  <a:pt x="0" y="418822"/>
                </a:lnTo>
                <a:cubicBezTo>
                  <a:pt x="0" y="291498"/>
                  <a:pt x="34984" y="189152"/>
                  <a:pt x="106273" y="113340"/>
                </a:cubicBezTo>
                <a:lnTo>
                  <a:pt x="106337" y="113263"/>
                </a:lnTo>
                <a:lnTo>
                  <a:pt x="106400" y="113200"/>
                </a:lnTo>
                <a:cubicBezTo>
                  <a:pt x="180176" y="37051"/>
                  <a:pt x="287829" y="0"/>
                  <a:pt x="427044" y="0"/>
                </a:cubicBezTo>
                <a:lnTo>
                  <a:pt x="427044" y="13007"/>
                </a:lnTo>
                <a:lnTo>
                  <a:pt x="414300" y="13108"/>
                </a:lnTo>
                <a:cubicBezTo>
                  <a:pt x="283605" y="15313"/>
                  <a:pt x="184076" y="51696"/>
                  <a:pt x="115711" y="122256"/>
                </a:cubicBezTo>
                <a:lnTo>
                  <a:pt x="109390" y="129166"/>
                </a:lnTo>
                <a:cubicBezTo>
                  <a:pt x="45110" y="201304"/>
                  <a:pt x="12972" y="297859"/>
                  <a:pt x="12972" y="418822"/>
                </a:cubicBezTo>
                <a:lnTo>
                  <a:pt x="12972" y="952622"/>
                </a:lnTo>
                <a:lnTo>
                  <a:pt x="436380" y="952622"/>
                </a:lnTo>
                <a:lnTo>
                  <a:pt x="436380" y="528071"/>
                </a:lnTo>
                <a:close/>
                <a:moveTo>
                  <a:pt x="1152449" y="528071"/>
                </a:moveTo>
                <a:lnTo>
                  <a:pt x="903380" y="528071"/>
                </a:lnTo>
                <a:lnTo>
                  <a:pt x="903380" y="409448"/>
                </a:lnTo>
                <a:cubicBezTo>
                  <a:pt x="903381" y="253759"/>
                  <a:pt x="982824" y="174697"/>
                  <a:pt x="1141707" y="172264"/>
                </a:cubicBezTo>
                <a:lnTo>
                  <a:pt x="1149333" y="172213"/>
                </a:lnTo>
                <a:lnTo>
                  <a:pt x="1199145" y="172213"/>
                </a:lnTo>
                <a:lnTo>
                  <a:pt x="1199145" y="13007"/>
                </a:lnTo>
                <a:lnTo>
                  <a:pt x="1143113" y="13007"/>
                </a:lnTo>
                <a:lnTo>
                  <a:pt x="1143113" y="0"/>
                </a:lnTo>
                <a:lnTo>
                  <a:pt x="1212117" y="0"/>
                </a:lnTo>
                <a:lnTo>
                  <a:pt x="1212117" y="185220"/>
                </a:lnTo>
                <a:lnTo>
                  <a:pt x="1149333" y="185220"/>
                </a:lnTo>
                <a:cubicBezTo>
                  <a:pt x="1069227" y="185221"/>
                  <a:pt x="1011554" y="204541"/>
                  <a:pt x="973866" y="240893"/>
                </a:cubicBezTo>
                <a:cubicBezTo>
                  <a:pt x="936273" y="277154"/>
                  <a:pt x="916353" y="332504"/>
                  <a:pt x="916352" y="409448"/>
                </a:cubicBezTo>
                <a:lnTo>
                  <a:pt x="916352" y="515065"/>
                </a:lnTo>
                <a:lnTo>
                  <a:pt x="1165421" y="515065"/>
                </a:lnTo>
                <a:lnTo>
                  <a:pt x="1165421" y="965628"/>
                </a:lnTo>
                <a:lnTo>
                  <a:pt x="716069" y="965628"/>
                </a:lnTo>
                <a:lnTo>
                  <a:pt x="716069" y="418822"/>
                </a:lnTo>
                <a:cubicBezTo>
                  <a:pt x="716069" y="291498"/>
                  <a:pt x="751052" y="189152"/>
                  <a:pt x="822342" y="113340"/>
                </a:cubicBezTo>
                <a:lnTo>
                  <a:pt x="822406" y="113263"/>
                </a:lnTo>
                <a:lnTo>
                  <a:pt x="822468" y="113200"/>
                </a:lnTo>
                <a:cubicBezTo>
                  <a:pt x="896245" y="37051"/>
                  <a:pt x="1003897" y="0"/>
                  <a:pt x="1143113" y="0"/>
                </a:cubicBezTo>
                <a:lnTo>
                  <a:pt x="1143113" y="13007"/>
                </a:lnTo>
                <a:lnTo>
                  <a:pt x="1130369" y="13108"/>
                </a:lnTo>
                <a:cubicBezTo>
                  <a:pt x="999674" y="15313"/>
                  <a:pt x="900144" y="51696"/>
                  <a:pt x="831780" y="122256"/>
                </a:cubicBezTo>
                <a:lnTo>
                  <a:pt x="825458" y="129166"/>
                </a:lnTo>
                <a:cubicBezTo>
                  <a:pt x="761178" y="201304"/>
                  <a:pt x="729041" y="297857"/>
                  <a:pt x="729041" y="418822"/>
                </a:cubicBezTo>
                <a:lnTo>
                  <a:pt x="729041" y="952622"/>
                </a:lnTo>
                <a:lnTo>
                  <a:pt x="1152449" y="952622"/>
                </a:lnTo>
                <a:lnTo>
                  <a:pt x="1152449" y="528071"/>
                </a:lnTo>
                <a:close/>
              </a:path>
            </a:pathLst>
          </a:custGeom>
          <a:solidFill>
            <a:schemeClr val="accent5"/>
          </a:solidFill>
          <a:ln w="12970" cap="flat">
            <a:noFill/>
            <a:prstDash val="solid"/>
            <a:miter/>
          </a:ln>
        </p:spPr>
        <p:txBody>
          <a:bodyPr/>
          <a:lstStyle/>
          <a:p>
            <a:endParaRPr lang="en-DE">
              <a:solidFill>
                <a:schemeClr val="accent4"/>
              </a:solidFill>
              <a:latin typeface="Inter" panose="02000503000000020004" pitchFamily="50" charset="0"/>
            </a:endParaRPr>
          </a:p>
        </p:txBody>
      </p:sp>
      <p:sp>
        <p:nvSpPr>
          <p:cNvPr id="6" name="Text Box 115">
            <a:extLst>
              <a:ext uri="{FF2B5EF4-FFF2-40B4-BE49-F238E27FC236}">
                <a16:creationId xmlns:a16="http://schemas.microsoft.com/office/drawing/2014/main" id="{A048D12D-29DD-D8DF-D0A4-9A36FD29DDFF}"/>
              </a:ext>
            </a:extLst>
          </p:cNvPr>
          <p:cNvSpPr txBox="1">
            <a:spLocks noChangeArrowheads="1"/>
          </p:cNvSpPr>
          <p:nvPr/>
        </p:nvSpPr>
        <p:spPr bwMode="auto">
          <a:xfrm>
            <a:off x="14116937" y="209246"/>
            <a:ext cx="263347" cy="175565"/>
          </a:xfrm>
          <a:prstGeom prst="rect">
            <a:avLst/>
          </a:prstGeom>
          <a:noFill/>
          <a:ln w="9525">
            <a:noFill/>
            <a:miter lim="800000"/>
            <a:headEnd/>
            <a:tailEnd/>
          </a:ln>
          <a:effectLst/>
        </p:spPr>
        <p:txBody>
          <a:bodyPr wrap="square" lIns="0" tIns="0" rIns="0" bIns="0" anchor="ctr" anchorCtr="0">
            <a:noAutofit/>
          </a:bodyPr>
          <a:lstStyle/>
          <a:p>
            <a:pPr algn="r" defTabSz="525272">
              <a:spcBef>
                <a:spcPts val="0"/>
              </a:spcBef>
            </a:pPr>
            <a:fld id="{18E29826-F105-4F77-B977-03F4A4723A21}" type="slidenum">
              <a:rPr lang="en-US" sz="900" b="1" smtClean="0">
                <a:solidFill>
                  <a:schemeClr val="bg1"/>
                </a:solidFill>
                <a:latin typeface="Inter Bold"/>
                <a:ea typeface="Inter Bold"/>
              </a:rPr>
              <a:pPr algn="r" defTabSz="525272">
                <a:spcBef>
                  <a:spcPts val="0"/>
                </a:spcBef>
              </a:pPr>
              <a:t>‹#›</a:t>
            </a:fld>
            <a:endParaRPr lang="en-US" sz="900" b="1">
              <a:solidFill>
                <a:schemeClr val="bg1"/>
              </a:solidFill>
              <a:latin typeface="Inter Bold"/>
              <a:ea typeface="Inter Bold"/>
            </a:endParaRPr>
          </a:p>
        </p:txBody>
      </p:sp>
      <p:sp>
        <p:nvSpPr>
          <p:cNvPr id="7" name="Text Box 115">
            <a:extLst>
              <a:ext uri="{FF2B5EF4-FFF2-40B4-BE49-F238E27FC236}">
                <a16:creationId xmlns:a16="http://schemas.microsoft.com/office/drawing/2014/main" id="{E3E80215-1A0C-AEE9-21D0-C1DFF761BE47}"/>
              </a:ext>
            </a:extLst>
          </p:cNvPr>
          <p:cNvSpPr txBox="1">
            <a:spLocks noChangeArrowheads="1"/>
          </p:cNvSpPr>
          <p:nvPr/>
        </p:nvSpPr>
        <p:spPr bwMode="auto">
          <a:xfrm>
            <a:off x="14116937" y="209246"/>
            <a:ext cx="263347" cy="175565"/>
          </a:xfrm>
          <a:prstGeom prst="rect">
            <a:avLst/>
          </a:prstGeom>
          <a:noFill/>
          <a:ln w="9525">
            <a:noFill/>
            <a:miter lim="800000"/>
            <a:headEnd/>
            <a:tailEnd/>
          </a:ln>
          <a:effectLst/>
        </p:spPr>
        <p:txBody>
          <a:bodyPr wrap="square" lIns="0" tIns="0" rIns="0" bIns="0" anchor="ctr" anchorCtr="0">
            <a:noAutofit/>
          </a:bodyPr>
          <a:lstStyle/>
          <a:p>
            <a:pPr algn="r" defTabSz="525272">
              <a:spcBef>
                <a:spcPts val="0"/>
              </a:spcBef>
            </a:pPr>
            <a:fld id="{18E29826-F105-4F77-B977-03F4A4723A21}" type="slidenum">
              <a:rPr lang="en-US" sz="900" b="1" smtClean="0">
                <a:solidFill>
                  <a:schemeClr val="bg1"/>
                </a:solidFill>
                <a:latin typeface="Inter Bold"/>
                <a:ea typeface="Inter Bold"/>
              </a:rPr>
              <a:pPr algn="r" defTabSz="525272">
                <a:spcBef>
                  <a:spcPts val="0"/>
                </a:spcBef>
              </a:pPr>
              <a:t>‹#›</a:t>
            </a:fld>
            <a:endParaRPr lang="en-US" sz="900" b="1">
              <a:solidFill>
                <a:schemeClr val="bg1"/>
              </a:solidFill>
              <a:latin typeface="Inter Bold"/>
              <a:ea typeface="Inter Bold"/>
            </a:endParaRPr>
          </a:p>
        </p:txBody>
      </p:sp>
      <p:pic>
        <p:nvPicPr>
          <p:cNvPr id="9" name="Union" descr="preencoded.png">
            <a:extLst>
              <a:ext uri="{FF2B5EF4-FFF2-40B4-BE49-F238E27FC236}">
                <a16:creationId xmlns:a16="http://schemas.microsoft.com/office/drawing/2014/main" id="{84A28516-F244-E772-2F22-00C058D757CA}"/>
              </a:ext>
            </a:extLst>
          </p:cNvPr>
          <p:cNvPicPr>
            <a:picLocks noChangeAspect="1"/>
          </p:cNvPicPr>
          <p:nvPr/>
        </p:nvPicPr>
        <p:blipFill>
          <a:blip r:embed="rId3"/>
          <a:srcRect/>
          <a:stretch/>
        </p:blipFill>
        <p:spPr>
          <a:xfrm>
            <a:off x="491014" y="228835"/>
            <a:ext cx="938212" cy="151929"/>
          </a:xfrm>
          <a:prstGeom prst="rect">
            <a:avLst/>
          </a:prstGeom>
        </p:spPr>
      </p:pic>
    </p:spTree>
    <p:extLst>
      <p:ext uri="{BB962C8B-B14F-4D97-AF65-F5344CB8AC3E}">
        <p14:creationId xmlns:p14="http://schemas.microsoft.com/office/powerpoint/2010/main" val="1586755668"/>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hoto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F28104F-AAE6-B720-6AA2-9965E47FA0B2}"/>
              </a:ext>
            </a:extLst>
          </p:cNvPr>
          <p:cNvSpPr/>
          <p:nvPr/>
        </p:nvSpPr>
        <p:spPr>
          <a:xfrm>
            <a:off x="0" y="481693"/>
            <a:ext cx="14630400" cy="77479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00503000000020004" pitchFamily="50" charset="0"/>
            </a:endParaRPr>
          </a:p>
        </p:txBody>
      </p:sp>
      <p:sp>
        <p:nvSpPr>
          <p:cNvPr id="11" name="Picture Placeholder 8">
            <a:extLst>
              <a:ext uri="{FF2B5EF4-FFF2-40B4-BE49-F238E27FC236}">
                <a16:creationId xmlns:a16="http://schemas.microsoft.com/office/drawing/2014/main" id="{542B0A81-49C8-FCE9-4620-D42F33FDA286}"/>
              </a:ext>
            </a:extLst>
          </p:cNvPr>
          <p:cNvSpPr>
            <a:spLocks noGrp="1"/>
          </p:cNvSpPr>
          <p:nvPr>
            <p:ph type="pic" sz="quarter" idx="16"/>
          </p:nvPr>
        </p:nvSpPr>
        <p:spPr>
          <a:xfrm>
            <a:off x="276099" y="619732"/>
            <a:ext cx="2649981" cy="3409342"/>
          </a:xfrm>
          <a:prstGeom prst="roundRect">
            <a:avLst>
              <a:gd name="adj" fmla="val 5813"/>
            </a:avLst>
          </a:prstGeom>
          <a:noFill/>
        </p:spPr>
        <p:txBody>
          <a:bodyPr anchor="ctr" anchorCtr="0">
            <a:normAutofit/>
          </a:bodyPr>
          <a:lstStyle>
            <a:lvl1pPr algn="ctr">
              <a:defRPr sz="1600" b="0"/>
            </a:lvl1pPr>
          </a:lstStyle>
          <a:p>
            <a:r>
              <a:rPr lang="en-US"/>
              <a:t>Click icon to add picture</a:t>
            </a:r>
          </a:p>
        </p:txBody>
      </p:sp>
      <p:sp>
        <p:nvSpPr>
          <p:cNvPr id="12" name="Picture Placeholder 8">
            <a:extLst>
              <a:ext uri="{FF2B5EF4-FFF2-40B4-BE49-F238E27FC236}">
                <a16:creationId xmlns:a16="http://schemas.microsoft.com/office/drawing/2014/main" id="{821B71CE-FC70-2F19-3188-ACCD0DB193BC}"/>
              </a:ext>
            </a:extLst>
          </p:cNvPr>
          <p:cNvSpPr>
            <a:spLocks noGrp="1"/>
          </p:cNvSpPr>
          <p:nvPr>
            <p:ph type="pic" sz="quarter" idx="17"/>
          </p:nvPr>
        </p:nvSpPr>
        <p:spPr>
          <a:xfrm>
            <a:off x="3141219" y="619733"/>
            <a:ext cx="2649981" cy="3409342"/>
          </a:xfrm>
          <a:prstGeom prst="roundRect">
            <a:avLst>
              <a:gd name="adj" fmla="val 5813"/>
            </a:avLst>
          </a:prstGeom>
          <a:noFill/>
        </p:spPr>
        <p:txBody>
          <a:bodyPr anchor="ctr" anchorCtr="0">
            <a:normAutofit/>
          </a:bodyPr>
          <a:lstStyle>
            <a:lvl1pPr algn="ctr">
              <a:defRPr sz="1600" b="0"/>
            </a:lvl1pPr>
          </a:lstStyle>
          <a:p>
            <a:r>
              <a:rPr lang="en-US"/>
              <a:t>Click icon to add picture</a:t>
            </a:r>
          </a:p>
        </p:txBody>
      </p:sp>
      <p:sp>
        <p:nvSpPr>
          <p:cNvPr id="13" name="Picture Placeholder 8">
            <a:extLst>
              <a:ext uri="{FF2B5EF4-FFF2-40B4-BE49-F238E27FC236}">
                <a16:creationId xmlns:a16="http://schemas.microsoft.com/office/drawing/2014/main" id="{29D4AFB4-FC0D-A2B9-7EC1-DD4D7717C96B}"/>
              </a:ext>
            </a:extLst>
          </p:cNvPr>
          <p:cNvSpPr>
            <a:spLocks noGrp="1"/>
          </p:cNvSpPr>
          <p:nvPr>
            <p:ph type="pic" sz="quarter" idx="18"/>
          </p:nvPr>
        </p:nvSpPr>
        <p:spPr>
          <a:xfrm>
            <a:off x="276099" y="4248149"/>
            <a:ext cx="2649981" cy="3435958"/>
          </a:xfrm>
          <a:prstGeom prst="roundRect">
            <a:avLst>
              <a:gd name="adj" fmla="val 5813"/>
            </a:avLst>
          </a:prstGeom>
          <a:noFill/>
        </p:spPr>
        <p:txBody>
          <a:bodyPr anchor="ctr" anchorCtr="0">
            <a:normAutofit/>
          </a:bodyPr>
          <a:lstStyle>
            <a:lvl1pPr algn="ctr">
              <a:defRPr sz="1600" b="0"/>
            </a:lvl1pPr>
          </a:lstStyle>
          <a:p>
            <a:r>
              <a:rPr lang="en-US"/>
              <a:t>Click icon to add picture</a:t>
            </a:r>
          </a:p>
        </p:txBody>
      </p:sp>
      <p:sp>
        <p:nvSpPr>
          <p:cNvPr id="14" name="Picture Placeholder 8">
            <a:extLst>
              <a:ext uri="{FF2B5EF4-FFF2-40B4-BE49-F238E27FC236}">
                <a16:creationId xmlns:a16="http://schemas.microsoft.com/office/drawing/2014/main" id="{DEF1DFB8-BC9A-B59F-8B8A-BC5D1016A388}"/>
              </a:ext>
            </a:extLst>
          </p:cNvPr>
          <p:cNvSpPr>
            <a:spLocks noGrp="1"/>
          </p:cNvSpPr>
          <p:nvPr>
            <p:ph type="pic" sz="quarter" idx="19"/>
          </p:nvPr>
        </p:nvSpPr>
        <p:spPr>
          <a:xfrm>
            <a:off x="3141219" y="4248150"/>
            <a:ext cx="2649981" cy="3435958"/>
          </a:xfrm>
          <a:prstGeom prst="roundRect">
            <a:avLst>
              <a:gd name="adj" fmla="val 5813"/>
            </a:avLst>
          </a:prstGeom>
          <a:noFill/>
        </p:spPr>
        <p:txBody>
          <a:bodyPr anchor="ctr" anchorCtr="0">
            <a:normAutofit/>
          </a:bodyPr>
          <a:lstStyle>
            <a:lvl1pPr algn="ctr">
              <a:defRPr sz="1600" b="0"/>
            </a:lvl1pPr>
          </a:lstStyle>
          <a:p>
            <a:r>
              <a:rPr lang="en-US"/>
              <a:t>Click icon to add picture</a:t>
            </a:r>
          </a:p>
        </p:txBody>
      </p:sp>
      <p:sp>
        <p:nvSpPr>
          <p:cNvPr id="15" name="Picture Placeholder 8">
            <a:extLst>
              <a:ext uri="{FF2B5EF4-FFF2-40B4-BE49-F238E27FC236}">
                <a16:creationId xmlns:a16="http://schemas.microsoft.com/office/drawing/2014/main" id="{6C11F13A-F960-0FFA-2F9F-71D30C7E6C91}"/>
              </a:ext>
            </a:extLst>
          </p:cNvPr>
          <p:cNvSpPr>
            <a:spLocks noGrp="1"/>
          </p:cNvSpPr>
          <p:nvPr>
            <p:ph type="pic" sz="quarter" idx="20"/>
          </p:nvPr>
        </p:nvSpPr>
        <p:spPr>
          <a:xfrm>
            <a:off x="5981701" y="619732"/>
            <a:ext cx="5524500" cy="7064375"/>
          </a:xfrm>
          <a:prstGeom prst="roundRect">
            <a:avLst>
              <a:gd name="adj" fmla="val 2349"/>
            </a:avLst>
          </a:prstGeom>
          <a:noFill/>
        </p:spPr>
        <p:txBody>
          <a:bodyPr anchor="ctr" anchorCtr="0">
            <a:normAutofit/>
          </a:bodyPr>
          <a:lstStyle>
            <a:lvl1pPr algn="ctr">
              <a:defRPr sz="1600" b="0"/>
            </a:lvl1pPr>
          </a:lstStyle>
          <a:p>
            <a:r>
              <a:rPr lang="en-US"/>
              <a:t>Click icon to add picture</a:t>
            </a:r>
          </a:p>
        </p:txBody>
      </p:sp>
      <p:sp>
        <p:nvSpPr>
          <p:cNvPr id="16" name="Picture Placeholder 8">
            <a:extLst>
              <a:ext uri="{FF2B5EF4-FFF2-40B4-BE49-F238E27FC236}">
                <a16:creationId xmlns:a16="http://schemas.microsoft.com/office/drawing/2014/main" id="{C9AEF74C-2790-BA06-A268-BE5922DA3620}"/>
              </a:ext>
            </a:extLst>
          </p:cNvPr>
          <p:cNvSpPr>
            <a:spLocks noGrp="1"/>
          </p:cNvSpPr>
          <p:nvPr>
            <p:ph type="pic" sz="quarter" idx="21"/>
          </p:nvPr>
        </p:nvSpPr>
        <p:spPr>
          <a:xfrm>
            <a:off x="11696700" y="619733"/>
            <a:ext cx="2649981" cy="3409342"/>
          </a:xfrm>
          <a:prstGeom prst="roundRect">
            <a:avLst>
              <a:gd name="adj" fmla="val 5813"/>
            </a:avLst>
          </a:prstGeom>
          <a:noFill/>
        </p:spPr>
        <p:txBody>
          <a:bodyPr anchor="ctr" anchorCtr="0">
            <a:normAutofit/>
          </a:bodyPr>
          <a:lstStyle>
            <a:lvl1pPr algn="ctr">
              <a:defRPr sz="1600" b="0"/>
            </a:lvl1pPr>
          </a:lstStyle>
          <a:p>
            <a:r>
              <a:rPr lang="en-US"/>
              <a:t>Click icon to add picture</a:t>
            </a:r>
          </a:p>
        </p:txBody>
      </p:sp>
      <p:sp>
        <p:nvSpPr>
          <p:cNvPr id="17" name="Picture Placeholder 8">
            <a:extLst>
              <a:ext uri="{FF2B5EF4-FFF2-40B4-BE49-F238E27FC236}">
                <a16:creationId xmlns:a16="http://schemas.microsoft.com/office/drawing/2014/main" id="{72D46F34-3342-C2E2-018B-2A1814EC730C}"/>
              </a:ext>
            </a:extLst>
          </p:cNvPr>
          <p:cNvSpPr>
            <a:spLocks noGrp="1"/>
          </p:cNvSpPr>
          <p:nvPr>
            <p:ph type="pic" sz="quarter" idx="22"/>
          </p:nvPr>
        </p:nvSpPr>
        <p:spPr>
          <a:xfrm>
            <a:off x="11696700" y="4248149"/>
            <a:ext cx="2649981" cy="3435959"/>
          </a:xfrm>
          <a:prstGeom prst="roundRect">
            <a:avLst>
              <a:gd name="adj" fmla="val 5813"/>
            </a:avLst>
          </a:prstGeom>
          <a:noFill/>
        </p:spPr>
        <p:txBody>
          <a:bodyPr anchor="ctr" anchorCtr="0">
            <a:normAutofit/>
          </a:bodyPr>
          <a:lstStyle>
            <a:lvl1pPr algn="ctr">
              <a:defRPr sz="1600" b="0"/>
            </a:lvl1pPr>
          </a:lstStyle>
          <a:p>
            <a:r>
              <a:rPr lang="en-US"/>
              <a:t>Click icon to add picture</a:t>
            </a:r>
          </a:p>
        </p:txBody>
      </p:sp>
      <p:sp>
        <p:nvSpPr>
          <p:cNvPr id="2" name="TextBox 1">
            <a:extLst>
              <a:ext uri="{FF2B5EF4-FFF2-40B4-BE49-F238E27FC236}">
                <a16:creationId xmlns:a16="http://schemas.microsoft.com/office/drawing/2014/main" id="{07C06C4B-AD0F-177E-920A-CFF3206E0714}"/>
              </a:ext>
            </a:extLst>
          </p:cNvPr>
          <p:cNvSpPr txBox="1"/>
          <p:nvPr/>
        </p:nvSpPr>
        <p:spPr>
          <a:xfrm>
            <a:off x="12008591" y="7985760"/>
            <a:ext cx="2354579" cy="123111"/>
          </a:xfrm>
          <a:prstGeom prst="rect">
            <a:avLst/>
          </a:prstGeom>
          <a:noFill/>
        </p:spPr>
        <p:txBody>
          <a:bodyPr wrap="square" lIns="0" tIns="0" rIns="0" bIns="0">
            <a:spAutoFit/>
          </a:bodyPr>
          <a:lstStyle/>
          <a:p>
            <a:pPr algn="r"/>
            <a:r>
              <a:rPr lang="en-US" sz="800" b="0">
                <a:solidFill>
                  <a:srgbClr val="B4B0AC"/>
                </a:solidFill>
                <a:latin typeface="Inter" panose="02000503000000020004" pitchFamily="50" charset="0"/>
                <a:cs typeface="Inter" panose="02000503000000020004" pitchFamily="50" charset="0"/>
              </a:rPr>
              <a:t>DXC Internal</a:t>
            </a:r>
          </a:p>
        </p:txBody>
      </p:sp>
      <p:sp>
        <p:nvSpPr>
          <p:cNvPr id="3" name="Footer Placeholder 4">
            <a:extLst>
              <a:ext uri="{FF2B5EF4-FFF2-40B4-BE49-F238E27FC236}">
                <a16:creationId xmlns:a16="http://schemas.microsoft.com/office/drawing/2014/main" id="{59879712-D34B-145B-F968-944F6414925F}"/>
              </a:ext>
            </a:extLst>
          </p:cNvPr>
          <p:cNvSpPr txBox="1">
            <a:spLocks/>
          </p:cNvSpPr>
          <p:nvPr/>
        </p:nvSpPr>
        <p:spPr>
          <a:xfrm>
            <a:off x="11296392" y="7788274"/>
            <a:ext cx="3066778" cy="17526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tx1"/>
                </a:solidFill>
                <a:latin typeface="Inter" panose="02000503000000020004" pitchFamily="50" charset="0"/>
                <a:cs typeface="Inter" panose="02000503000000020004" pitchFamily="50" charset="0"/>
              </a:rPr>
              <a:t>© </a:t>
            </a:r>
            <a:fld id="{C0650B53-F5B1-403A-BD70-58B7AE2589AD}" type="datetimeyyyy">
              <a:rPr lang="en-US" sz="850" smtClean="0">
                <a:solidFill>
                  <a:schemeClr val="tx1"/>
                </a:solidFill>
                <a:latin typeface="Inter" panose="02000503000000020004" pitchFamily="50" charset="0"/>
                <a:cs typeface="Inter" panose="02000503000000020004" pitchFamily="50" charset="0"/>
              </a:rPr>
              <a:pPr algn="r"/>
              <a:t>2026</a:t>
            </a:fld>
            <a:r>
              <a:rPr lang="en-US" sz="850">
                <a:solidFill>
                  <a:schemeClr val="tx1"/>
                </a:solidFill>
                <a:latin typeface="Inter" panose="02000503000000020004" pitchFamily="50" charset="0"/>
                <a:cs typeface="Inter" panose="02000503000000020004" pitchFamily="50" charset="0"/>
              </a:rPr>
              <a:t> DXC Technology Company. All rights reserved.</a:t>
            </a:r>
          </a:p>
        </p:txBody>
      </p:sp>
    </p:spTree>
    <p:extLst>
      <p:ext uri="{BB962C8B-B14F-4D97-AF65-F5344CB8AC3E}">
        <p14:creationId xmlns:p14="http://schemas.microsoft.com/office/powerpoint/2010/main" val="3074512584"/>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lank (Canva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F08022F-70F3-0023-FA21-49EBA8DE9FA0}"/>
              </a:ext>
            </a:extLst>
          </p:cNvPr>
          <p:cNvSpPr/>
          <p:nvPr/>
        </p:nvSpPr>
        <p:spPr>
          <a:xfrm>
            <a:off x="0" y="0"/>
            <a:ext cx="14630400" cy="5796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00503000000020004" pitchFamily="50" charset="0"/>
            </a:endParaRPr>
          </a:p>
        </p:txBody>
      </p:sp>
    </p:spTree>
    <p:extLst>
      <p:ext uri="{BB962C8B-B14F-4D97-AF65-F5344CB8AC3E}">
        <p14:creationId xmlns:p14="http://schemas.microsoft.com/office/powerpoint/2010/main" val="2483335728"/>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F08022F-70F3-0023-FA21-49EBA8DE9FA0}"/>
              </a:ext>
            </a:extLst>
          </p:cNvPr>
          <p:cNvSpPr/>
          <p:nvPr/>
        </p:nvSpPr>
        <p:spPr>
          <a:xfrm>
            <a:off x="0" y="0"/>
            <a:ext cx="14630400" cy="822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00503000000020004" pitchFamily="50" charset="0"/>
            </a:endParaRPr>
          </a:p>
        </p:txBody>
      </p:sp>
      <p:sp>
        <p:nvSpPr>
          <p:cNvPr id="5" name="TextBox 4">
            <a:extLst>
              <a:ext uri="{FF2B5EF4-FFF2-40B4-BE49-F238E27FC236}">
                <a16:creationId xmlns:a16="http://schemas.microsoft.com/office/drawing/2014/main" id="{8624D140-B4EA-E7E0-18A8-B7D83155FBFC}"/>
              </a:ext>
            </a:extLst>
          </p:cNvPr>
          <p:cNvSpPr txBox="1"/>
          <p:nvPr/>
        </p:nvSpPr>
        <p:spPr>
          <a:xfrm>
            <a:off x="12008591" y="7985760"/>
            <a:ext cx="2354579" cy="123111"/>
          </a:xfrm>
          <a:prstGeom prst="rect">
            <a:avLst/>
          </a:prstGeom>
          <a:noFill/>
        </p:spPr>
        <p:txBody>
          <a:bodyPr wrap="square" lIns="0" tIns="0" rIns="0" bIns="0">
            <a:spAutoFit/>
          </a:bodyPr>
          <a:lstStyle/>
          <a:p>
            <a:pPr algn="r"/>
            <a:r>
              <a:rPr lang="en-US" sz="800" b="0">
                <a:solidFill>
                  <a:srgbClr val="B4B0AC"/>
                </a:solidFill>
                <a:latin typeface="Inter" panose="02000503000000020004" pitchFamily="50" charset="0"/>
                <a:cs typeface="Inter" panose="02000503000000020004" pitchFamily="50" charset="0"/>
              </a:rPr>
              <a:t>DXC Internal</a:t>
            </a:r>
          </a:p>
        </p:txBody>
      </p:sp>
      <p:sp>
        <p:nvSpPr>
          <p:cNvPr id="6" name="Footer Placeholder 4">
            <a:extLst>
              <a:ext uri="{FF2B5EF4-FFF2-40B4-BE49-F238E27FC236}">
                <a16:creationId xmlns:a16="http://schemas.microsoft.com/office/drawing/2014/main" id="{858E8F88-DA2A-1D8C-C16A-A27EE17F1733}"/>
              </a:ext>
            </a:extLst>
          </p:cNvPr>
          <p:cNvSpPr txBox="1">
            <a:spLocks/>
          </p:cNvSpPr>
          <p:nvPr/>
        </p:nvSpPr>
        <p:spPr>
          <a:xfrm>
            <a:off x="11296392" y="7788274"/>
            <a:ext cx="3066778" cy="17526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tx1"/>
                </a:solidFill>
                <a:latin typeface="Inter" panose="02000503000000020004" pitchFamily="50" charset="0"/>
                <a:cs typeface="Inter" panose="02000503000000020004" pitchFamily="50" charset="0"/>
              </a:rPr>
              <a:t>© </a:t>
            </a:r>
            <a:fld id="{C0650B53-F5B1-403A-BD70-58B7AE2589AD}" type="datetimeyyyy">
              <a:rPr lang="en-US" sz="850" smtClean="0">
                <a:solidFill>
                  <a:schemeClr val="tx1"/>
                </a:solidFill>
                <a:latin typeface="Inter" panose="02000503000000020004" pitchFamily="50" charset="0"/>
                <a:cs typeface="Inter" panose="02000503000000020004" pitchFamily="50" charset="0"/>
              </a:rPr>
              <a:pPr algn="r"/>
              <a:t>2026</a:t>
            </a:fld>
            <a:r>
              <a:rPr lang="en-US" sz="850">
                <a:solidFill>
                  <a:schemeClr val="tx1"/>
                </a:solidFill>
                <a:latin typeface="Inter" panose="02000503000000020004" pitchFamily="50" charset="0"/>
                <a:cs typeface="Inter" panose="02000503000000020004" pitchFamily="50" charset="0"/>
              </a:rPr>
              <a:t> DXC Technology Company. All rights reserved.</a:t>
            </a:r>
          </a:p>
        </p:txBody>
      </p:sp>
    </p:spTree>
    <p:extLst>
      <p:ext uri="{BB962C8B-B14F-4D97-AF65-F5344CB8AC3E}">
        <p14:creationId xmlns:p14="http://schemas.microsoft.com/office/powerpoint/2010/main" val="2016356879"/>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losing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E501907-F4B6-0B68-11B4-BFBE267DA6BB}"/>
              </a:ext>
            </a:extLst>
          </p:cNvPr>
          <p:cNvSpPr/>
          <p:nvPr/>
        </p:nvSpPr>
        <p:spPr>
          <a:xfrm>
            <a:off x="0" y="0"/>
            <a:ext cx="14630400" cy="8229600"/>
          </a:xfrm>
          <a:prstGeom prst="rect">
            <a:avLst/>
          </a:prstGeom>
          <a:solidFill>
            <a:srgbClr val="0E102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nter" panose="02000503000000020004" pitchFamily="50" charset="0"/>
              <a:ea typeface="+mn-ea"/>
              <a:cs typeface="+mn-cs"/>
            </a:endParaRPr>
          </a:p>
        </p:txBody>
      </p:sp>
      <p:sp>
        <p:nvSpPr>
          <p:cNvPr id="2" name="Rectangle 1">
            <a:extLst>
              <a:ext uri="{FF2B5EF4-FFF2-40B4-BE49-F238E27FC236}">
                <a16:creationId xmlns:a16="http://schemas.microsoft.com/office/drawing/2014/main" id="{1FA1C404-616A-0398-E1D5-7C7002338054}"/>
              </a:ext>
            </a:extLst>
          </p:cNvPr>
          <p:cNvSpPr/>
          <p:nvPr/>
        </p:nvSpPr>
        <p:spPr>
          <a:xfrm>
            <a:off x="0" y="0"/>
            <a:ext cx="14630400" cy="8229600"/>
          </a:xfrm>
          <a:prstGeom prst="rect">
            <a:avLst/>
          </a:prstGeom>
          <a:solidFill>
            <a:schemeClr val="tx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nter" panose="02000503000000020004" pitchFamily="50" charset="0"/>
              <a:ea typeface="+mn-ea"/>
              <a:cs typeface="+mn-cs"/>
            </a:endParaRPr>
          </a:p>
        </p:txBody>
      </p:sp>
      <p:pic>
        <p:nvPicPr>
          <p:cNvPr id="14" name="Union" descr="preencoded.png">
            <a:extLst>
              <a:ext uri="{FF2B5EF4-FFF2-40B4-BE49-F238E27FC236}">
                <a16:creationId xmlns:a16="http://schemas.microsoft.com/office/drawing/2014/main" id="{EA16ED0D-CB25-EA45-6EB2-9A86149AB4A7}"/>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0" y="2922270"/>
            <a:ext cx="14630400" cy="2385060"/>
          </a:xfrm>
          <a:prstGeom prst="rect">
            <a:avLst/>
          </a:prstGeom>
        </p:spPr>
      </p:pic>
      <p:sp>
        <p:nvSpPr>
          <p:cNvPr id="3" name="TextBox 2">
            <a:extLst>
              <a:ext uri="{FF2B5EF4-FFF2-40B4-BE49-F238E27FC236}">
                <a16:creationId xmlns:a16="http://schemas.microsoft.com/office/drawing/2014/main" id="{AF589ECB-9023-389E-E7EE-1285853BDEB5}"/>
              </a:ext>
            </a:extLst>
          </p:cNvPr>
          <p:cNvSpPr txBox="1"/>
          <p:nvPr/>
        </p:nvSpPr>
        <p:spPr>
          <a:xfrm>
            <a:off x="12008591" y="7985760"/>
            <a:ext cx="2354579" cy="123111"/>
          </a:xfrm>
          <a:prstGeom prst="rect">
            <a:avLst/>
          </a:prstGeom>
          <a:noFill/>
        </p:spPr>
        <p:txBody>
          <a:bodyPr wrap="square" lIns="0" tIns="0" rIns="0" bIns="0">
            <a:spAutoFit/>
          </a:bodyPr>
          <a:lstStyle/>
          <a:p>
            <a:pPr algn="r"/>
            <a:r>
              <a:rPr lang="en-US" sz="800" b="0">
                <a:solidFill>
                  <a:srgbClr val="6D6D6D"/>
                </a:solidFill>
                <a:latin typeface="Inter" panose="02000503000000020004" pitchFamily="50" charset="0"/>
                <a:cs typeface="Inter" panose="02000503000000020004" pitchFamily="50" charset="0"/>
              </a:rPr>
              <a:t>DXC Internal</a:t>
            </a:r>
          </a:p>
        </p:txBody>
      </p:sp>
      <p:sp>
        <p:nvSpPr>
          <p:cNvPr id="5" name="Footer Placeholder 4">
            <a:extLst>
              <a:ext uri="{FF2B5EF4-FFF2-40B4-BE49-F238E27FC236}">
                <a16:creationId xmlns:a16="http://schemas.microsoft.com/office/drawing/2014/main" id="{3F2D46D9-B686-7E94-2205-17D8ADEA3502}"/>
              </a:ext>
            </a:extLst>
          </p:cNvPr>
          <p:cNvSpPr txBox="1">
            <a:spLocks/>
          </p:cNvSpPr>
          <p:nvPr/>
        </p:nvSpPr>
        <p:spPr>
          <a:xfrm>
            <a:off x="11296392" y="7788274"/>
            <a:ext cx="3066778" cy="17526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bg1"/>
                </a:solidFill>
                <a:latin typeface="Inter" panose="02000503000000020004" pitchFamily="50" charset="0"/>
                <a:cs typeface="Inter" panose="02000503000000020004" pitchFamily="50" charset="0"/>
              </a:rPr>
              <a:t>© </a:t>
            </a:r>
            <a:fld id="{C0650B53-F5B1-403A-BD70-58B7AE2589AD}" type="datetimeyyyy">
              <a:rPr lang="en-US" sz="850" smtClean="0">
                <a:solidFill>
                  <a:schemeClr val="bg1"/>
                </a:solidFill>
                <a:latin typeface="Inter" panose="02000503000000020004" pitchFamily="50" charset="0"/>
                <a:cs typeface="Inter" panose="02000503000000020004" pitchFamily="50" charset="0"/>
              </a:rPr>
              <a:pPr algn="r"/>
              <a:t>2026</a:t>
            </a:fld>
            <a:r>
              <a:rPr lang="en-US" sz="850">
                <a:solidFill>
                  <a:schemeClr val="bg1"/>
                </a:solidFill>
                <a:latin typeface="Inter" panose="02000503000000020004" pitchFamily="50" charset="0"/>
                <a:cs typeface="Inter" panose="02000503000000020004" pitchFamily="50" charset="0"/>
              </a:rPr>
              <a:t> DXC Technology Company. All rights reserved.</a:t>
            </a:r>
          </a:p>
        </p:txBody>
      </p:sp>
      <p:sp>
        <p:nvSpPr>
          <p:cNvPr id="6" name="TextBox 5">
            <a:extLst>
              <a:ext uri="{FF2B5EF4-FFF2-40B4-BE49-F238E27FC236}">
                <a16:creationId xmlns:a16="http://schemas.microsoft.com/office/drawing/2014/main" id="{5711374D-BA4A-0EF5-3894-069B57DF8D2A}"/>
              </a:ext>
            </a:extLst>
          </p:cNvPr>
          <p:cNvSpPr txBox="1"/>
          <p:nvPr/>
        </p:nvSpPr>
        <p:spPr>
          <a:xfrm>
            <a:off x="267231" y="7989116"/>
            <a:ext cx="297125" cy="123111"/>
          </a:xfrm>
          <a:prstGeom prst="rect">
            <a:avLst/>
          </a:prstGeom>
          <a:noFill/>
        </p:spPr>
        <p:txBody>
          <a:bodyPr wrap="square" lIns="0" tIns="0" rIns="0" bIns="0">
            <a:spAutoFit/>
          </a:bodyPr>
          <a:lstStyle/>
          <a:p>
            <a:pPr algn="l"/>
            <a:r>
              <a:rPr lang="en-US" sz="800" b="0">
                <a:solidFill>
                  <a:schemeClr val="tx1">
                    <a:lumMod val="75000"/>
                    <a:lumOff val="25000"/>
                  </a:schemeClr>
                </a:solidFill>
                <a:latin typeface="Inter" panose="02000503000000020004" pitchFamily="50" charset="0"/>
                <a:cs typeface="Inter" panose="02000503000000020004" pitchFamily="50" charset="0"/>
              </a:rPr>
              <a:t>v01 </a:t>
            </a:r>
          </a:p>
        </p:txBody>
      </p:sp>
    </p:spTree>
    <p:extLst>
      <p:ext uri="{BB962C8B-B14F-4D97-AF65-F5344CB8AC3E}">
        <p14:creationId xmlns:p14="http://schemas.microsoft.com/office/powerpoint/2010/main" val="1956599685"/>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losing Slid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E501907-F4B6-0B68-11B4-BFBE267DA6BB}"/>
              </a:ext>
            </a:extLst>
          </p:cNvPr>
          <p:cNvSpPr/>
          <p:nvPr/>
        </p:nvSpPr>
        <p:spPr>
          <a:xfrm>
            <a:off x="0" y="0"/>
            <a:ext cx="14630400" cy="8229600"/>
          </a:xfrm>
          <a:prstGeom prst="rect">
            <a:avLst/>
          </a:prstGeom>
          <a:solidFill>
            <a:srgbClr val="0E102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nter" panose="02000503000000020004" pitchFamily="50" charset="0"/>
              <a:ea typeface="+mn-ea"/>
              <a:cs typeface="+mn-cs"/>
            </a:endParaRPr>
          </a:p>
        </p:txBody>
      </p:sp>
      <p:sp>
        <p:nvSpPr>
          <p:cNvPr id="2" name="Rectangle 1">
            <a:extLst>
              <a:ext uri="{FF2B5EF4-FFF2-40B4-BE49-F238E27FC236}">
                <a16:creationId xmlns:a16="http://schemas.microsoft.com/office/drawing/2014/main" id="{1FA1C404-616A-0398-E1D5-7C7002338054}"/>
              </a:ext>
            </a:extLst>
          </p:cNvPr>
          <p:cNvSpPr/>
          <p:nvPr/>
        </p:nvSpPr>
        <p:spPr>
          <a:xfrm>
            <a:off x="0" y="0"/>
            <a:ext cx="14630400" cy="8229600"/>
          </a:xfrm>
          <a:prstGeom prst="rect">
            <a:avLst/>
          </a:prstGeom>
          <a:solidFill>
            <a:schemeClr val="tx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nter" panose="02000503000000020004" pitchFamily="50" charset="0"/>
              <a:ea typeface="+mn-ea"/>
              <a:cs typeface="+mn-cs"/>
            </a:endParaRPr>
          </a:p>
        </p:txBody>
      </p:sp>
      <p:sp>
        <p:nvSpPr>
          <p:cNvPr id="3" name="TextBox 2">
            <a:extLst>
              <a:ext uri="{FF2B5EF4-FFF2-40B4-BE49-F238E27FC236}">
                <a16:creationId xmlns:a16="http://schemas.microsoft.com/office/drawing/2014/main" id="{AF589ECB-9023-389E-E7EE-1285853BDEB5}"/>
              </a:ext>
            </a:extLst>
          </p:cNvPr>
          <p:cNvSpPr txBox="1"/>
          <p:nvPr/>
        </p:nvSpPr>
        <p:spPr>
          <a:xfrm>
            <a:off x="12008591" y="7985760"/>
            <a:ext cx="2354579" cy="123111"/>
          </a:xfrm>
          <a:prstGeom prst="rect">
            <a:avLst/>
          </a:prstGeom>
          <a:noFill/>
        </p:spPr>
        <p:txBody>
          <a:bodyPr wrap="square" lIns="0" tIns="0" rIns="0" bIns="0">
            <a:spAutoFit/>
          </a:bodyPr>
          <a:lstStyle/>
          <a:p>
            <a:pPr algn="r"/>
            <a:r>
              <a:rPr lang="en-US" sz="800" b="0">
                <a:solidFill>
                  <a:srgbClr val="6D6D6D"/>
                </a:solidFill>
                <a:latin typeface="Inter" panose="02000503000000020004" pitchFamily="50" charset="0"/>
                <a:cs typeface="Inter" panose="02000503000000020004" pitchFamily="50" charset="0"/>
              </a:rPr>
              <a:t>DXC Internal</a:t>
            </a:r>
          </a:p>
        </p:txBody>
      </p:sp>
      <p:sp>
        <p:nvSpPr>
          <p:cNvPr id="5" name="Footer Placeholder 4">
            <a:extLst>
              <a:ext uri="{FF2B5EF4-FFF2-40B4-BE49-F238E27FC236}">
                <a16:creationId xmlns:a16="http://schemas.microsoft.com/office/drawing/2014/main" id="{3F2D46D9-B686-7E94-2205-17D8ADEA3502}"/>
              </a:ext>
            </a:extLst>
          </p:cNvPr>
          <p:cNvSpPr txBox="1">
            <a:spLocks/>
          </p:cNvSpPr>
          <p:nvPr/>
        </p:nvSpPr>
        <p:spPr>
          <a:xfrm>
            <a:off x="11296392" y="7788274"/>
            <a:ext cx="3066778" cy="17526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bg1"/>
                </a:solidFill>
                <a:latin typeface="Inter" panose="02000503000000020004" pitchFamily="50" charset="0"/>
                <a:cs typeface="Inter" panose="02000503000000020004" pitchFamily="50" charset="0"/>
              </a:rPr>
              <a:t>© </a:t>
            </a:r>
            <a:fld id="{C0650B53-F5B1-403A-BD70-58B7AE2589AD}" type="datetimeyyyy">
              <a:rPr lang="en-US" sz="850" smtClean="0">
                <a:solidFill>
                  <a:schemeClr val="bg1"/>
                </a:solidFill>
                <a:latin typeface="Inter" panose="02000503000000020004" pitchFamily="50" charset="0"/>
                <a:cs typeface="Inter" panose="02000503000000020004" pitchFamily="50" charset="0"/>
              </a:rPr>
              <a:pPr algn="r"/>
              <a:t>2026</a:t>
            </a:fld>
            <a:r>
              <a:rPr lang="en-US" sz="850">
                <a:solidFill>
                  <a:schemeClr val="bg1"/>
                </a:solidFill>
                <a:latin typeface="Inter" panose="02000503000000020004" pitchFamily="50" charset="0"/>
                <a:cs typeface="Inter" panose="02000503000000020004" pitchFamily="50" charset="0"/>
              </a:rPr>
              <a:t> DXC Technology Company. All rights reserved.</a:t>
            </a:r>
          </a:p>
        </p:txBody>
      </p:sp>
      <p:pic>
        <p:nvPicPr>
          <p:cNvPr id="13" name="Picture 12">
            <a:extLst>
              <a:ext uri="{FF2B5EF4-FFF2-40B4-BE49-F238E27FC236}">
                <a16:creationId xmlns:a16="http://schemas.microsoft.com/office/drawing/2014/main" id="{E3CF4D50-45C8-DA6C-C9B8-13ED37CF32EA}"/>
              </a:ext>
            </a:extLst>
          </p:cNvPr>
          <p:cNvPicPr>
            <a:picLocks noChangeAspect="1"/>
          </p:cNvPicPr>
          <p:nvPr/>
        </p:nvPicPr>
        <p:blipFill>
          <a:blip r:embed="rId2"/>
          <a:stretch>
            <a:fillRect/>
          </a:stretch>
        </p:blipFill>
        <p:spPr>
          <a:xfrm>
            <a:off x="3429000" y="2677810"/>
            <a:ext cx="7772400" cy="2873980"/>
          </a:xfrm>
          <a:prstGeom prst="rect">
            <a:avLst/>
          </a:prstGeom>
        </p:spPr>
      </p:pic>
      <p:sp>
        <p:nvSpPr>
          <p:cNvPr id="6" name="TextBox 5">
            <a:extLst>
              <a:ext uri="{FF2B5EF4-FFF2-40B4-BE49-F238E27FC236}">
                <a16:creationId xmlns:a16="http://schemas.microsoft.com/office/drawing/2014/main" id="{34CDDA3C-197F-4DFB-CFBA-4D8F92B01B89}"/>
              </a:ext>
            </a:extLst>
          </p:cNvPr>
          <p:cNvSpPr txBox="1"/>
          <p:nvPr/>
        </p:nvSpPr>
        <p:spPr>
          <a:xfrm>
            <a:off x="267231" y="7989116"/>
            <a:ext cx="297125" cy="123111"/>
          </a:xfrm>
          <a:prstGeom prst="rect">
            <a:avLst/>
          </a:prstGeom>
          <a:noFill/>
        </p:spPr>
        <p:txBody>
          <a:bodyPr wrap="square" lIns="0" tIns="0" rIns="0" bIns="0">
            <a:spAutoFit/>
          </a:bodyPr>
          <a:lstStyle/>
          <a:p>
            <a:pPr algn="l"/>
            <a:r>
              <a:rPr lang="en-US" sz="800" b="0">
                <a:solidFill>
                  <a:schemeClr val="tx1">
                    <a:lumMod val="75000"/>
                    <a:lumOff val="25000"/>
                  </a:schemeClr>
                </a:solidFill>
                <a:latin typeface="Inter" panose="02000503000000020004" pitchFamily="50" charset="0"/>
                <a:cs typeface="Inter" panose="02000503000000020004" pitchFamily="50" charset="0"/>
              </a:rPr>
              <a:t>v01 </a:t>
            </a:r>
          </a:p>
        </p:txBody>
      </p:sp>
    </p:spTree>
    <p:extLst>
      <p:ext uri="{BB962C8B-B14F-4D97-AF65-F5344CB8AC3E}">
        <p14:creationId xmlns:p14="http://schemas.microsoft.com/office/powerpoint/2010/main" val="2275520381"/>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1.xml"/><Relationship Id="rId31" Type="http://schemas.openxmlformats.org/officeDocument/2006/relationships/image" Target="../media/image1.png"/><Relationship Id="rId32" Type="http://schemas.openxmlformats.org/officeDocument/2006/relationships/image" Target="../media/image2.png"/><Relationship Id="rId33"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69B77A6-51DB-A275-1E8D-9C0DB96B9B2E}"/>
              </a:ext>
            </a:extLst>
          </p:cNvPr>
          <p:cNvSpPr/>
          <p:nvPr/>
        </p:nvSpPr>
        <p:spPr>
          <a:xfrm>
            <a:off x="0" y="609600"/>
            <a:ext cx="14630400" cy="7620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00503000000020004" pitchFamily="50" charset="0"/>
            </a:endParaRPr>
          </a:p>
        </p:txBody>
      </p:sp>
      <p:pic>
        <p:nvPicPr>
          <p:cNvPr id="11" name="HeaderMasthead" descr="preencoded.png">
            <a:extLst>
              <a:ext uri="{FF2B5EF4-FFF2-40B4-BE49-F238E27FC236}">
                <a16:creationId xmlns:a16="http://schemas.microsoft.com/office/drawing/2014/main" id="{7AD18B85-66FF-545C-62C1-1AA3E2F607F2}"/>
              </a:ext>
            </a:extLst>
          </p:cNvPr>
          <p:cNvPicPr>
            <a:picLocks noChangeAspect="1"/>
          </p:cNvPicPr>
          <p:nvPr/>
        </p:nvPicPr>
        <p:blipFill>
          <a:blip r:embed="rId31"/>
          <a:srcRect t="7407"/>
          <a:stretch>
            <a:fillRect/>
          </a:stretch>
        </p:blipFill>
        <p:spPr>
          <a:xfrm>
            <a:off x="0" y="639763"/>
            <a:ext cx="14630400" cy="7620000"/>
          </a:xfrm>
          <a:prstGeom prst="rect">
            <a:avLst/>
          </a:prstGeom>
          <a:solidFill>
            <a:srgbClr val="F6F3F0"/>
          </a:solidFill>
        </p:spPr>
      </p:pic>
      <p:sp>
        <p:nvSpPr>
          <p:cNvPr id="8" name="Text Box 115">
            <a:extLst>
              <a:ext uri="{FF2B5EF4-FFF2-40B4-BE49-F238E27FC236}">
                <a16:creationId xmlns:a16="http://schemas.microsoft.com/office/drawing/2014/main" id="{E509171D-D1E5-AC55-9CA5-72DEBB6700FA}"/>
              </a:ext>
            </a:extLst>
          </p:cNvPr>
          <p:cNvSpPr txBox="1">
            <a:spLocks noChangeArrowheads="1"/>
          </p:cNvSpPr>
          <p:nvPr/>
        </p:nvSpPr>
        <p:spPr bwMode="auto">
          <a:xfrm>
            <a:off x="14116937" y="209246"/>
            <a:ext cx="263347" cy="175565"/>
          </a:xfrm>
          <a:prstGeom prst="rect">
            <a:avLst/>
          </a:prstGeom>
          <a:noFill/>
          <a:ln w="9525">
            <a:noFill/>
            <a:miter lim="800000"/>
            <a:headEnd/>
            <a:tailEnd/>
          </a:ln>
          <a:effectLst/>
        </p:spPr>
        <p:txBody>
          <a:bodyPr wrap="square" lIns="0" tIns="0" rIns="0" bIns="0" anchor="ctr" anchorCtr="0">
            <a:noAutofit/>
          </a:bodyPr>
          <a:lstStyle/>
          <a:p>
            <a:pPr algn="r" defTabSz="525272">
              <a:spcBef>
                <a:spcPts val="0"/>
              </a:spcBef>
            </a:pPr>
            <a:fld id="{18E29826-F105-4F77-B977-03F4A4723A21}" type="slidenum">
              <a:rPr lang="en-US" sz="900" b="1" smtClean="0">
                <a:solidFill>
                  <a:schemeClr val="tx1"/>
                </a:solidFill>
                <a:latin typeface="Inter Bold"/>
                <a:ea typeface="Inter Bold"/>
              </a:rPr>
              <a:pPr algn="r" defTabSz="525272">
                <a:spcBef>
                  <a:spcPts val="0"/>
                </a:spcBef>
              </a:pPr>
              <a:t>‹#›</a:t>
            </a:fld>
            <a:endParaRPr lang="en-US" sz="900" b="1">
              <a:solidFill>
                <a:schemeClr val="tx1"/>
              </a:solidFill>
              <a:latin typeface="Inter Bold"/>
              <a:ea typeface="Inter Bold"/>
            </a:endParaRPr>
          </a:p>
        </p:txBody>
      </p:sp>
      <p:sp>
        <p:nvSpPr>
          <p:cNvPr id="6" name="Text Box 115">
            <a:extLst>
              <a:ext uri="{FF2B5EF4-FFF2-40B4-BE49-F238E27FC236}">
                <a16:creationId xmlns:a16="http://schemas.microsoft.com/office/drawing/2014/main" id="{57FED08E-39F8-715B-3405-179C34F64955}"/>
              </a:ext>
            </a:extLst>
          </p:cNvPr>
          <p:cNvSpPr txBox="1">
            <a:spLocks noChangeArrowheads="1"/>
          </p:cNvSpPr>
          <p:nvPr/>
        </p:nvSpPr>
        <p:spPr bwMode="auto">
          <a:xfrm>
            <a:off x="14116937" y="209246"/>
            <a:ext cx="263347" cy="175565"/>
          </a:xfrm>
          <a:prstGeom prst="rect">
            <a:avLst/>
          </a:prstGeom>
          <a:noFill/>
          <a:ln w="9525">
            <a:noFill/>
            <a:miter lim="800000"/>
            <a:headEnd/>
            <a:tailEnd/>
          </a:ln>
          <a:effectLst/>
        </p:spPr>
        <p:txBody>
          <a:bodyPr wrap="square" lIns="0" tIns="0" rIns="0" bIns="0" anchor="ctr" anchorCtr="0">
            <a:noAutofit/>
          </a:bodyPr>
          <a:lstStyle/>
          <a:p>
            <a:pPr algn="r" defTabSz="525272">
              <a:spcBef>
                <a:spcPts val="0"/>
              </a:spcBef>
            </a:pPr>
            <a:fld id="{18E29826-F105-4F77-B977-03F4A4723A21}" type="slidenum">
              <a:rPr lang="en-US" sz="900" b="1" smtClean="0">
                <a:solidFill>
                  <a:schemeClr val="tx1"/>
                </a:solidFill>
                <a:latin typeface="Inter Bold"/>
                <a:ea typeface="Inter Bold"/>
              </a:rPr>
              <a:pPr algn="r" defTabSz="525272">
                <a:spcBef>
                  <a:spcPts val="0"/>
                </a:spcBef>
              </a:pPr>
              <a:t>‹#›</a:t>
            </a:fld>
            <a:endParaRPr lang="en-US" sz="900" b="1">
              <a:solidFill>
                <a:schemeClr val="tx1"/>
              </a:solidFill>
              <a:latin typeface="Inter Bold"/>
              <a:ea typeface="Inter Bold"/>
            </a:endParaRPr>
          </a:p>
        </p:txBody>
      </p:sp>
      <p:pic>
        <p:nvPicPr>
          <p:cNvPr id="12" name="Union" descr="preencoded.png">
            <a:extLst>
              <a:ext uri="{FF2B5EF4-FFF2-40B4-BE49-F238E27FC236}">
                <a16:creationId xmlns:a16="http://schemas.microsoft.com/office/drawing/2014/main" id="{4FB38D83-98DA-D85F-B63C-1565BED26FC5}"/>
              </a:ext>
            </a:extLst>
          </p:cNvPr>
          <p:cNvPicPr>
            <a:picLocks noChangeAspect="1"/>
          </p:cNvPicPr>
          <p:nvPr/>
        </p:nvPicPr>
        <p:blipFill>
          <a:blip r:embed="rId32"/>
          <a:srcRect/>
          <a:stretch/>
        </p:blipFill>
        <p:spPr>
          <a:xfrm>
            <a:off x="491014" y="228835"/>
            <a:ext cx="938212" cy="151929"/>
          </a:xfrm>
          <a:prstGeom prst="rect">
            <a:avLst/>
          </a:prstGeom>
        </p:spPr>
      </p:pic>
      <p:sp>
        <p:nvSpPr>
          <p:cNvPr id="14" name="Title Placeholder 1">
            <a:extLst>
              <a:ext uri="{FF2B5EF4-FFF2-40B4-BE49-F238E27FC236}">
                <a16:creationId xmlns:a16="http://schemas.microsoft.com/office/drawing/2014/main" id="{9954F591-DD1D-779B-F521-4357971A48C6}"/>
              </a:ext>
            </a:extLst>
          </p:cNvPr>
          <p:cNvSpPr>
            <a:spLocks noGrp="1"/>
          </p:cNvSpPr>
          <p:nvPr>
            <p:ph type="title"/>
          </p:nvPr>
        </p:nvSpPr>
        <p:spPr>
          <a:xfrm>
            <a:off x="484187" y="1305919"/>
            <a:ext cx="13689011" cy="1097280"/>
          </a:xfrm>
          <a:prstGeom prst="rect">
            <a:avLst/>
          </a:prstGeom>
        </p:spPr>
        <p:txBody>
          <a:bodyPr vert="horz" lIns="0" tIns="0" rIns="0" bIns="0" rtlCol="0" anchor="t" anchorCtr="0">
            <a:noAutofit/>
          </a:bodyPr>
          <a:lstStyle/>
          <a:p>
            <a:r>
              <a:rPr lang="en-US"/>
              <a:t>Click to edit Master title style</a:t>
            </a:r>
          </a:p>
        </p:txBody>
      </p:sp>
      <p:sp>
        <p:nvSpPr>
          <p:cNvPr id="2" name="Text Placeholder 2">
            <a:extLst>
              <a:ext uri="{FF2B5EF4-FFF2-40B4-BE49-F238E27FC236}">
                <a16:creationId xmlns:a16="http://schemas.microsoft.com/office/drawing/2014/main" id="{078D71ED-9D19-C6F9-2CB5-DED660B9BBAE}"/>
              </a:ext>
            </a:extLst>
          </p:cNvPr>
          <p:cNvSpPr>
            <a:spLocks noGrp="1"/>
          </p:cNvSpPr>
          <p:nvPr>
            <p:ph type="body" idx="1"/>
          </p:nvPr>
        </p:nvSpPr>
        <p:spPr>
          <a:xfrm>
            <a:off x="484188" y="2506980"/>
            <a:ext cx="13689012" cy="5162551"/>
          </a:xfrm>
          <a:prstGeom prst="rect">
            <a:avLst/>
          </a:prstGeom>
        </p:spPr>
        <p:txBody>
          <a:bodyPr vert="horz" lIns="0" tIns="45720" rIns="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8F1740BB-194C-8CB0-E91C-E0A8396C52B4}"/>
              </a:ext>
            </a:extLst>
          </p:cNvPr>
          <p:cNvSpPr txBox="1"/>
          <p:nvPr/>
        </p:nvSpPr>
        <p:spPr>
          <a:xfrm>
            <a:off x="12008591" y="7985760"/>
            <a:ext cx="2354579" cy="123111"/>
          </a:xfrm>
          <a:prstGeom prst="rect">
            <a:avLst/>
          </a:prstGeom>
          <a:noFill/>
        </p:spPr>
        <p:txBody>
          <a:bodyPr wrap="square" lIns="0" tIns="0" rIns="0" bIns="0">
            <a:spAutoFit/>
          </a:bodyPr>
          <a:lstStyle/>
          <a:p>
            <a:pPr algn="r"/>
            <a:r>
              <a:rPr lang="en-US" sz="800" b="0">
                <a:solidFill>
                  <a:srgbClr val="B4B0AC"/>
                </a:solidFill>
                <a:latin typeface="Inter" panose="02000503000000020004" pitchFamily="50" charset="0"/>
                <a:cs typeface="Inter" panose="02000503000000020004" pitchFamily="50" charset="0"/>
              </a:rPr>
              <a:t>DXC Internal</a:t>
            </a:r>
          </a:p>
        </p:txBody>
      </p:sp>
      <p:sp>
        <p:nvSpPr>
          <p:cNvPr id="13" name="Footer Placeholder 4">
            <a:extLst>
              <a:ext uri="{FF2B5EF4-FFF2-40B4-BE49-F238E27FC236}">
                <a16:creationId xmlns:a16="http://schemas.microsoft.com/office/drawing/2014/main" id="{DD39F452-F205-21C0-5578-B7519A84CA15}"/>
              </a:ext>
            </a:extLst>
          </p:cNvPr>
          <p:cNvSpPr txBox="1">
            <a:spLocks/>
          </p:cNvSpPr>
          <p:nvPr/>
        </p:nvSpPr>
        <p:spPr>
          <a:xfrm>
            <a:off x="11296392" y="7788274"/>
            <a:ext cx="3066778" cy="17526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tx1"/>
                </a:solidFill>
                <a:latin typeface="Inter" panose="02000503000000020004" pitchFamily="50" charset="0"/>
                <a:cs typeface="Inter" panose="02000503000000020004" pitchFamily="50" charset="0"/>
              </a:rPr>
              <a:t>© </a:t>
            </a:r>
            <a:fld id="{C0650B53-F5B1-403A-BD70-58B7AE2589AD}" type="datetimeyyyy">
              <a:rPr lang="en-US" sz="850" smtClean="0">
                <a:solidFill>
                  <a:schemeClr val="tx1"/>
                </a:solidFill>
                <a:latin typeface="Inter" panose="02000503000000020004" pitchFamily="50" charset="0"/>
                <a:cs typeface="Inter" panose="02000503000000020004" pitchFamily="50" charset="0"/>
              </a:rPr>
              <a:pPr algn="r"/>
              <a:t>2026</a:t>
            </a:fld>
            <a:r>
              <a:rPr lang="en-US" sz="850">
                <a:solidFill>
                  <a:schemeClr val="tx1"/>
                </a:solidFill>
                <a:latin typeface="Inter" panose="02000503000000020004" pitchFamily="50" charset="0"/>
                <a:cs typeface="Inter" panose="02000503000000020004" pitchFamily="50" charset="0"/>
              </a:rPr>
              <a:t> DXC Technology Company. All rights reserved.</a:t>
            </a:r>
          </a:p>
        </p:txBody>
      </p:sp>
      <p:grpSp>
        <p:nvGrpSpPr>
          <p:cNvPr id="4" name="Group 3">
            <a:extLst>
              <a:ext uri="{FF2B5EF4-FFF2-40B4-BE49-F238E27FC236}">
                <a16:creationId xmlns:a16="http://schemas.microsoft.com/office/drawing/2014/main" id="{F48242A9-9030-9BB8-FC00-BFF74862ABD3}"/>
              </a:ext>
            </a:extLst>
          </p:cNvPr>
          <p:cNvGrpSpPr/>
          <p:nvPr userDrawn="1"/>
        </p:nvGrpSpPr>
        <p:grpSpPr>
          <a:xfrm>
            <a:off x="-91440" y="-91440"/>
            <a:ext cx="14813280" cy="8412480"/>
            <a:chOff x="-91440" y="-91440"/>
            <a:chExt cx="14813280" cy="8412480"/>
          </a:xfrm>
        </p:grpSpPr>
        <p:cxnSp>
          <p:nvCxnSpPr>
            <p:cNvPr id="5" name="Straight Connector 4">
              <a:extLst>
                <a:ext uri="{FF2B5EF4-FFF2-40B4-BE49-F238E27FC236}">
                  <a16:creationId xmlns:a16="http://schemas.microsoft.com/office/drawing/2014/main" id="{561733B6-5D5C-C664-B53C-90E002F19136}"/>
                </a:ext>
              </a:extLst>
            </p:cNvPr>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782F5D06-0441-A161-456F-AC0EE1772689}"/>
                </a:ext>
              </a:extLst>
            </p:cNvPr>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82DB3B46-761F-4FA5-24BF-8E5B07F5BF87}"/>
                </a:ext>
              </a:extLst>
            </p:cNvPr>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CCB415D-F19D-72CD-2CD2-295D5607D3B9}"/>
                </a:ext>
              </a:extLst>
            </p:cNvPr>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019BCD32-09AB-CD28-9F40-68E308715234}"/>
                </a:ext>
              </a:extLst>
            </p:cNvPr>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D88667CB-50E3-E01E-E284-05C1918A482D}"/>
                </a:ext>
              </a:extLst>
            </p:cNvPr>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B2F58340-ACB3-0775-728C-E9FFA2BFFFB8}"/>
                </a:ext>
              </a:extLst>
            </p:cNvPr>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79F10C6-25EA-BAEE-9756-8275AB7CB4F5}"/>
                </a:ext>
              </a:extLst>
            </p:cNvPr>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5CC430A9-1D51-D131-E402-0F29BE4780F4}"/>
                </a:ext>
              </a:extLst>
            </p:cNvPr>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A9AD62CA-C5D2-C1E4-09CC-4A015C1B5878}"/>
                </a:ext>
              </a:extLst>
            </p:cNvPr>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BAD2B660-A116-5882-4877-7CD56E7AE815}"/>
                </a:ext>
              </a:extLst>
            </p:cNvPr>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5E468359-C05E-1D74-AFF9-062C2DF56D3C}"/>
                </a:ext>
              </a:extLst>
            </p:cNvPr>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022D6E6F-E0F7-C0D4-C5EB-8A0C1218EC9E}"/>
                </a:ext>
              </a:extLst>
            </p:cNvPr>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802C991-0818-CACE-3AA2-6D4AB17447C1}"/>
                </a:ext>
              </a:extLst>
            </p:cNvPr>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3340081E-3F81-7894-7122-B62C0A7FE73C}"/>
                </a:ext>
              </a:extLst>
            </p:cNvPr>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96561427-C9D6-5123-8650-0B33E0DCECEC}"/>
                </a:ext>
              </a:extLst>
            </p:cNvPr>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7C1BC940-1633-51B1-1111-D317A91D2808}"/>
                </a:ext>
              </a:extLst>
            </p:cNvPr>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8FADAB61-0CDC-A51B-15CB-8A739928F48A}"/>
                </a:ext>
              </a:extLst>
            </p:cNvPr>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68F5729A-CE0A-155B-A97B-B1B51AF172F3}"/>
                </a:ext>
              </a:extLst>
            </p:cNvPr>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0DEE29EC-BA45-85FC-25EE-4A05EC5F3809}"/>
                </a:ext>
              </a:extLst>
            </p:cNvPr>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7F57017F-CE8E-9582-38C4-60BB8CD62655}"/>
                </a:ext>
              </a:extLst>
            </p:cNvPr>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F05E88CF-2727-F898-D7C9-72C9D62D0A8C}"/>
                </a:ext>
              </a:extLst>
            </p:cNvPr>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E72DD274-8D12-1A3D-2F05-074ACD5BA48E}"/>
                </a:ext>
              </a:extLst>
            </p:cNvPr>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83A4B883-34F2-CBE8-BF63-2308AC7A8D5B}"/>
                </a:ext>
              </a:extLst>
            </p:cNvPr>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E997B1EB-3BA3-C8A2-CFE2-C0BDF9434A85}"/>
                </a:ext>
              </a:extLst>
            </p:cNvPr>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9E749D36-75E6-E536-36DF-4ABF681E597B}"/>
                </a:ext>
              </a:extLst>
            </p:cNvPr>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B0251DB7-60DD-7EA0-6084-969EE694C558}"/>
                </a:ext>
              </a:extLst>
            </p:cNvPr>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6937057B-7C1F-0724-386A-96ECCF0DDED4}"/>
                </a:ext>
              </a:extLst>
            </p:cNvPr>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42" name="Text Box 115">
            <a:extLst>
              <a:ext uri="{FF2B5EF4-FFF2-40B4-BE49-F238E27FC236}">
                <a16:creationId xmlns:a16="http://schemas.microsoft.com/office/drawing/2014/main" id="{5DA53D0E-D562-3F29-B867-C57D6490A58D}"/>
              </a:ext>
            </a:extLst>
          </p:cNvPr>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ts val="0"/>
              </a:spcBef>
            </a:pPr>
            <a:fld id="{18E29826-F105-4F77-B977-03F4A4723A21}" type="slidenum">
              <a:rPr lang="en-US" sz="1100" b="1" smtClean="0">
                <a:solidFill>
                  <a:schemeClr val="tx1"/>
                </a:solidFill>
              </a:rPr>
              <a:pPr algn="r" defTabSz="820738">
                <a:spcBef>
                  <a:spcPts val="0"/>
                </a:spcBef>
              </a:pPr>
              <a:t>‹#›</a:t>
            </a:fld>
            <a:endParaRPr lang="en-US" sz="1100" b="1">
              <a:solidFill>
                <a:schemeClr val="tx1"/>
              </a:solidFill>
            </a:endParaRPr>
          </a:p>
        </p:txBody>
      </p:sp>
      <p:sp>
        <p:nvSpPr>
          <p:cNvPr id="44" name="TextBox 43">
            <a:extLst>
              <a:ext uri="{FF2B5EF4-FFF2-40B4-BE49-F238E27FC236}">
                <a16:creationId xmlns:a16="http://schemas.microsoft.com/office/drawing/2014/main" id="{8EDCDE2C-4193-18CC-6BB2-11DCAF01E4DF}"/>
              </a:ext>
            </a:extLst>
          </p:cNvPr>
          <p:cNvSpPr txBox="1"/>
          <p:nvPr userDrawn="1"/>
        </p:nvSpPr>
        <p:spPr>
          <a:xfrm>
            <a:off x="6137910" y="7868126"/>
            <a:ext cx="2354579" cy="215444"/>
          </a:xfrm>
          <a:prstGeom prst="rect">
            <a:avLst/>
          </a:prstGeom>
          <a:noFill/>
        </p:spPr>
        <p:txBody>
          <a:bodyPr wrap="square">
            <a:spAutoFit/>
          </a:bodyPr>
          <a:lstStyle/>
          <a:p>
            <a:pPr algn="ctr"/>
            <a:r>
              <a:rPr lang="en-US" sz="800" b="1"/>
              <a:t>DXC Internal</a:t>
            </a:r>
          </a:p>
        </p:txBody>
      </p:sp>
      <p:grpSp>
        <p:nvGrpSpPr>
          <p:cNvPr id="46" name="Group 45">
            <a:extLst>
              <a:ext uri="{FF2B5EF4-FFF2-40B4-BE49-F238E27FC236}">
                <a16:creationId xmlns:a16="http://schemas.microsoft.com/office/drawing/2014/main" id="{DF1ADE89-069A-8A8F-6198-6D41C00D8F7A}"/>
              </a:ext>
            </a:extLst>
          </p:cNvPr>
          <p:cNvGrpSpPr/>
          <p:nvPr userDrawn="1"/>
        </p:nvGrpSpPr>
        <p:grpSpPr>
          <a:xfrm>
            <a:off x="1546698" y="171495"/>
            <a:ext cx="5390580" cy="316648"/>
            <a:chOff x="1546698" y="171495"/>
            <a:chExt cx="5390580" cy="316648"/>
          </a:xfrm>
        </p:grpSpPr>
        <p:pic>
          <p:nvPicPr>
            <p:cNvPr id="47" name="Graphic 46">
              <a:extLst>
                <a:ext uri="{FF2B5EF4-FFF2-40B4-BE49-F238E27FC236}">
                  <a16:creationId xmlns:a16="http://schemas.microsoft.com/office/drawing/2014/main" id="{CCEA3DB3-193D-8E5A-6D58-983FE037FE97}"/>
                </a:ext>
              </a:extLst>
            </p:cNvPr>
            <p:cNvPicPr>
              <a:picLocks noChangeAspect="1"/>
            </p:cNvPicPr>
            <p:nvPr userDrawn="1"/>
          </p:nvPicPr>
          <p:blipFill>
            <a:blip>
              <a:extLst>
                <a:ext uri="{96DAC541-7B7A-43D3-8B79-37D633B846F1}">
                  <asvg:svgBlip xmlns:asvg="http://schemas.microsoft.com/office/drawing/2016/SVG/main" r:embed="rId33"/>
                </a:ext>
              </a:extLst>
            </a:blip>
            <a:stretch>
              <a:fillRect/>
            </a:stretch>
          </p:blipFill>
          <p:spPr>
            <a:xfrm>
              <a:off x="1546698" y="171495"/>
              <a:ext cx="1428120" cy="266627"/>
            </a:xfrm>
            <a:prstGeom prst="rect">
              <a:avLst/>
            </a:prstGeom>
          </p:spPr>
        </p:pic>
        <p:sp>
          <p:nvSpPr>
            <p:cNvPr id="48" name="COMPANY OVERVIEW">
              <a:extLst>
                <a:ext uri="{FF2B5EF4-FFF2-40B4-BE49-F238E27FC236}">
                  <a16:creationId xmlns:a16="http://schemas.microsoft.com/office/drawing/2014/main" id="{6BDD72A1-BF94-CB03-4E93-B32C6AC55826}"/>
                </a:ext>
              </a:extLst>
            </p:cNvPr>
            <p:cNvSpPr/>
            <p:nvPr userDrawn="1"/>
          </p:nvSpPr>
          <p:spPr>
            <a:xfrm>
              <a:off x="2171700" y="274378"/>
              <a:ext cx="4765578" cy="213765"/>
            </a:xfrm>
            <a:prstGeom prst="rect">
              <a:avLst/>
            </a:prstGeom>
            <a:noFill/>
            <a:ln/>
          </p:spPr>
          <p:txBody>
            <a:bodyPr wrap="square" lIns="0" tIns="0" rIns="0" bIns="0" rtlCol="0" anchor="t"/>
            <a:lstStyle/>
            <a:p>
              <a:pPr marL="0" indent="0" algn="ctr">
                <a:lnSpc>
                  <a:spcPts val="1020"/>
                </a:lnSpc>
                <a:buNone/>
              </a:pPr>
              <a:r>
                <a:rPr lang="en-US" sz="1400" b="0" kern="0" cap="all" spc="168" baseline="0" dirty="0">
                  <a:solidFill>
                    <a:schemeClr val="tx1"/>
                  </a:solidFill>
                  <a:latin typeface="GT Standard L Extended" pitchFamily="2" charset="0"/>
                  <a:ea typeface="Inter" panose="02000503000000020004" pitchFamily="50" charset="0"/>
                  <a:cs typeface="Inter" panose="02000503000000020004" pitchFamily="50" charset="0"/>
                </a:rPr>
                <a:t>Process Framework</a:t>
              </a:r>
              <a:endParaRPr lang="en-US" sz="1400" b="0" cap="all" baseline="0" dirty="0">
                <a:solidFill>
                  <a:schemeClr val="tx1"/>
                </a:solidFill>
                <a:latin typeface="GT Standard L Extended" pitchFamily="2" charset="0"/>
                <a:ea typeface="Inter" panose="02000503000000020004" pitchFamily="50" charset="0"/>
                <a:cs typeface="Inter" panose="02000503000000020004" pitchFamily="50" charset="0"/>
              </a:endParaRPr>
            </a:p>
          </p:txBody>
        </p:sp>
      </p:grpSp>
    </p:spTree>
    <p:extLst>
      <p:ext uri="{BB962C8B-B14F-4D97-AF65-F5344CB8AC3E}">
        <p14:creationId xmlns:p14="http://schemas.microsoft.com/office/powerpoint/2010/main" val="815949018"/>
      </p:ext>
    </p:extLst>
  </p:cSld>
  <p:clrMap bg1="lt1" tx1="dk1" bg2="lt2" tx2="dk2" accent1="accent1" accent2="accent2" accent3="accent3" accent4="accent4" accent5="accent5" accent6="accent6" hlink="hlink" folHlink="folHlink"/>
  <p:sldLayoutIdLst>
    <p:sldLayoutId id="2147483949" r:id="rId1"/>
    <p:sldLayoutId id="2147483950" r:id="rId2"/>
    <p:sldLayoutId id="2147483974" r:id="rId3"/>
    <p:sldLayoutId id="2147483975" r:id="rId4"/>
    <p:sldLayoutId id="2147483976" r:id="rId5"/>
    <p:sldLayoutId id="2147483978" r:id="rId6"/>
    <p:sldLayoutId id="2147483980" r:id="rId7"/>
    <p:sldLayoutId id="2147483951" r:id="rId8"/>
    <p:sldLayoutId id="2147483953" r:id="rId9"/>
    <p:sldLayoutId id="2147483954" r:id="rId10"/>
    <p:sldLayoutId id="2147483955" r:id="rId11"/>
    <p:sldLayoutId id="2147483956" r:id="rId12"/>
    <p:sldLayoutId id="2147483957" r:id="rId13"/>
    <p:sldLayoutId id="2147483958" r:id="rId14"/>
    <p:sldLayoutId id="2147483959" r:id="rId15"/>
    <p:sldLayoutId id="2147483960" r:id="rId16"/>
    <p:sldLayoutId id="2147483961" r:id="rId17"/>
    <p:sldLayoutId id="2147483962" r:id="rId18"/>
    <p:sldLayoutId id="2147483963" r:id="rId19"/>
    <p:sldLayoutId id="2147483964" r:id="rId20"/>
    <p:sldLayoutId id="2147483965" r:id="rId21"/>
    <p:sldLayoutId id="2147483966" r:id="rId22"/>
    <p:sldLayoutId id="2147483967" r:id="rId23"/>
    <p:sldLayoutId id="2147483968" r:id="rId24"/>
    <p:sldLayoutId id="2147483969" r:id="rId25"/>
    <p:sldLayoutId id="2147483970" r:id="rId26"/>
    <p:sldLayoutId id="2147483971" r:id="rId27"/>
    <p:sldLayoutId id="2147483972" r:id="rId28"/>
    <p:sldLayoutId id="2147483973"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1097280" rtl="0" eaLnBrk="1" latinLnBrk="0" hangingPunct="1">
        <a:lnSpc>
          <a:spcPct val="90000"/>
        </a:lnSpc>
        <a:spcBef>
          <a:spcPct val="0"/>
        </a:spcBef>
        <a:buNone/>
        <a:defRPr sz="3600" kern="1200" cap="all" baseline="0">
          <a:solidFill>
            <a:schemeClr val="tx1"/>
          </a:solidFill>
          <a:latin typeface="GT Standard L Extended" pitchFamily="50" charset="0"/>
          <a:ea typeface="Inter Medium" panose="02000603000000020004" pitchFamily="50" charset="0"/>
          <a:cs typeface="Inter Medium" panose="02000603000000020004" pitchFamily="50" charset="0"/>
        </a:defRPr>
      </a:lvl1pPr>
    </p:titleStyle>
    <p:bodyStyle>
      <a:lvl1pPr marL="0" indent="0" algn="l" defTabSz="1097280" rtl="0" eaLnBrk="1" latinLnBrk="0" hangingPunct="1">
        <a:lnSpc>
          <a:spcPct val="100000"/>
        </a:lnSpc>
        <a:spcBef>
          <a:spcPts val="600"/>
        </a:spcBef>
        <a:spcAft>
          <a:spcPts val="400"/>
        </a:spcAft>
        <a:buFont typeface="Arial" panose="020B0604020202020204" pitchFamily="34" charset="0"/>
        <a:buNone/>
        <a:defRPr sz="1600" kern="1200">
          <a:solidFill>
            <a:schemeClr val="tx1"/>
          </a:solidFill>
          <a:latin typeface="Inter Light" panose="02000403000000020004" pitchFamily="50" charset="0"/>
          <a:ea typeface="Inter Light" panose="02000403000000020004" pitchFamily="50" charset="0"/>
          <a:cs typeface="Inter Light" panose="02000403000000020004" pitchFamily="50" charset="0"/>
        </a:defRPr>
      </a:lvl1pPr>
      <a:lvl2pPr marL="0" indent="0" algn="l" defTabSz="1097280" rtl="0" eaLnBrk="1" latinLnBrk="0" hangingPunct="1">
        <a:lnSpc>
          <a:spcPct val="100000"/>
        </a:lnSpc>
        <a:spcBef>
          <a:spcPts val="600"/>
        </a:spcBef>
        <a:spcAft>
          <a:spcPts val="400"/>
        </a:spcAft>
        <a:buFont typeface="Arial" panose="020B0604020202020204" pitchFamily="34" charset="0"/>
        <a:buNone/>
        <a:defRPr sz="1600" kern="1200">
          <a:solidFill>
            <a:schemeClr val="tx1"/>
          </a:solidFill>
          <a:latin typeface="Inter Light" panose="02000403000000020004" pitchFamily="50" charset="0"/>
          <a:ea typeface="Inter Light" panose="02000403000000020004" pitchFamily="50" charset="0"/>
          <a:cs typeface="Inter Light" panose="02000403000000020004" pitchFamily="50" charset="0"/>
        </a:defRPr>
      </a:lvl2pPr>
      <a:lvl3pPr marL="228600" indent="-228600" algn="l" defTabSz="1097280" rtl="0" eaLnBrk="1" latinLnBrk="0" hangingPunct="1">
        <a:lnSpc>
          <a:spcPct val="100000"/>
        </a:lnSpc>
        <a:spcBef>
          <a:spcPts val="600"/>
        </a:spcBef>
        <a:spcAft>
          <a:spcPts val="400"/>
        </a:spcAft>
        <a:buFont typeface="Arial" panose="020B0604020202020204" pitchFamily="34" charset="0"/>
        <a:buChar char="•"/>
        <a:defRPr sz="1400" kern="1200">
          <a:solidFill>
            <a:schemeClr val="tx1"/>
          </a:solidFill>
          <a:latin typeface="Inter Light" panose="02000403000000020004" pitchFamily="50" charset="0"/>
          <a:ea typeface="Inter Light" panose="02000403000000020004" pitchFamily="50" charset="0"/>
          <a:cs typeface="Inter Light" panose="02000403000000020004" pitchFamily="50" charset="0"/>
        </a:defRPr>
      </a:lvl3pPr>
      <a:lvl4pPr marL="517525" indent="-288925" algn="l" defTabSz="1097280" rtl="0" eaLnBrk="1" latinLnBrk="0" hangingPunct="1">
        <a:lnSpc>
          <a:spcPct val="100000"/>
        </a:lnSpc>
        <a:spcBef>
          <a:spcPts val="600"/>
        </a:spcBef>
        <a:spcAft>
          <a:spcPts val="400"/>
        </a:spcAft>
        <a:buFont typeface="Arial" panose="020B0604020202020204" pitchFamily="34" charset="0"/>
        <a:buChar char="–"/>
        <a:defRPr sz="1400" kern="1200">
          <a:solidFill>
            <a:schemeClr val="tx1"/>
          </a:solidFill>
          <a:latin typeface="Inter Light" panose="02000403000000020004" pitchFamily="50" charset="0"/>
          <a:ea typeface="Inter Light" panose="02000403000000020004" pitchFamily="50" charset="0"/>
          <a:cs typeface="Inter Light" panose="02000403000000020004" pitchFamily="50" charset="0"/>
        </a:defRPr>
      </a:lvl4pPr>
      <a:lvl5pPr marL="800100" indent="-273050" algn="l" defTabSz="1097280" rtl="0" eaLnBrk="1" latinLnBrk="0" hangingPunct="1">
        <a:lnSpc>
          <a:spcPct val="100000"/>
        </a:lnSpc>
        <a:spcBef>
          <a:spcPts val="600"/>
        </a:spcBef>
        <a:spcAft>
          <a:spcPts val="400"/>
        </a:spcAft>
        <a:buFont typeface="Arial" panose="020B0604020202020204" pitchFamily="34" charset="0"/>
        <a:buChar char="–"/>
        <a:defRPr sz="1400" kern="1200">
          <a:solidFill>
            <a:schemeClr val="tx1"/>
          </a:solidFill>
          <a:latin typeface="Inter Light" panose="02000403000000020004" pitchFamily="50" charset="0"/>
          <a:ea typeface="Inter Light" panose="02000403000000020004" pitchFamily="50" charset="0"/>
          <a:cs typeface="Inter Light" panose="02000403000000020004" pitchFamily="50"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p15:clr>
            <a:srgbClr val="F26B43"/>
          </p15:clr>
        </p15:guide>
        <p15:guide id="4" pos="8928">
          <p15:clr>
            <a:srgbClr val="F26B43"/>
          </p15:clr>
        </p15:guide>
        <p15:guide id="5" orient="horz" pos="384">
          <p15:clr>
            <a:srgbClr val="F26B43"/>
          </p15:clr>
        </p15:guide>
        <p15:guide id="6" orient="horz" pos="5034">
          <p15:clr>
            <a:srgbClr val="F26B43"/>
          </p15:clr>
        </p15:guide>
        <p15:guide id="7" pos="288">
          <p15:clr>
            <a:srgbClr val="F26B43"/>
          </p15:clr>
        </p15:guide>
        <p15:guide id="8" pos="1836">
          <p15:clr>
            <a:srgbClr val="F26B43"/>
          </p15:clr>
        </p15:guide>
        <p15:guide id="9" pos="1956">
          <p15:clr>
            <a:srgbClr val="F26B43"/>
          </p15:clr>
        </p15:guide>
        <p15:guide id="10" pos="3648">
          <p15:clr>
            <a:srgbClr val="F26B43"/>
          </p15:clr>
        </p15:guide>
        <p15:guide id="11" pos="3768">
          <p15:clr>
            <a:srgbClr val="F26B43"/>
          </p15:clr>
        </p15:guide>
        <p15:guide id="12" pos="5448">
          <p15:clr>
            <a:srgbClr val="F26B43"/>
          </p15:clr>
        </p15:guide>
        <p15:guide id="13" pos="5568">
          <p15:clr>
            <a:srgbClr val="F26B43"/>
          </p15:clr>
        </p15:guide>
        <p15:guide id="14" pos="7248">
          <p15:clr>
            <a:srgbClr val="F26B43"/>
          </p15:clr>
        </p15:guide>
        <p15:guide id="15" pos="7368">
          <p15:clr>
            <a:srgbClr val="F26B43"/>
          </p15:clr>
        </p15:guide>
        <p15:guide id="16" pos="168">
          <p15:clr>
            <a:srgbClr val="F26B43"/>
          </p15:clr>
        </p15:guide>
        <p15:guide id="17" pos="9048">
          <p15:clr>
            <a:srgbClr val="F26B43"/>
          </p15:clr>
        </p15:guide>
        <p15:guide id="18" orient="horz" pos="4848">
          <p15:clr>
            <a:srgbClr val="F26B43"/>
          </p15:clr>
        </p15:guide>
        <p15:guide id="19" orient="horz" pos="403" userDrawn="1">
          <p15:clr>
            <a:srgbClr val="F26B43"/>
          </p15:clr>
        </p15:guide>
        <p15:guide id="20" pos="4608" userDrawn="1">
          <p15:clr>
            <a:srgbClr val="F26B43"/>
          </p15:clr>
        </p15:guide>
        <p15:guide id="21" pos="432" userDrawn="1">
          <p15:clr>
            <a:srgbClr val="F26B43"/>
          </p15:clr>
        </p15:guide>
        <p15:guide id="22" pos="3024" userDrawn="1">
          <p15:clr>
            <a:srgbClr val="F26B43"/>
          </p15:clr>
        </p15:guide>
        <p15:guide id="23" pos="3312" userDrawn="1">
          <p15:clr>
            <a:srgbClr val="F26B43"/>
          </p15:clr>
        </p15:guide>
        <p15:guide id="24" pos="4464" userDrawn="1">
          <p15:clr>
            <a:srgbClr val="F26B43"/>
          </p15:clr>
        </p15:guide>
        <p15:guide id="25" pos="4752" userDrawn="1">
          <p15:clr>
            <a:srgbClr val="F26B43"/>
          </p15:clr>
        </p15:guide>
        <p15:guide id="26" pos="5904" userDrawn="1">
          <p15:clr>
            <a:srgbClr val="F26B43"/>
          </p15:clr>
        </p15:guide>
        <p15:guide id="27" pos="6192" userDrawn="1">
          <p15:clr>
            <a:srgbClr val="F26B43"/>
          </p15:clr>
        </p15:guide>
        <p15:guide id="28" pos="7488" userDrawn="1">
          <p15:clr>
            <a:srgbClr val="F26B43"/>
          </p15:clr>
        </p15:guide>
        <p15:guide id="29" pos="8784" userDrawn="1">
          <p15:clr>
            <a:srgbClr val="F26B43"/>
          </p15:clr>
        </p15:guide>
        <p15:guide id="30" orient="horz" pos="1296" userDrawn="1">
          <p15:clr>
            <a:srgbClr val="F26B43"/>
          </p15:clr>
        </p15:guide>
        <p15:guide id="31" orient="horz" pos="4522" userDrawn="1">
          <p15:clr>
            <a:srgbClr val="F26B43"/>
          </p15:clr>
        </p15:guide>
        <p15:guide id="32" orient="horz" pos="489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github.blog/changelog/2026-09-10-control-github-actions-cache-access-with-cache-mod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docs.github.com/actions/reference/workflows-and-actions/workflow-syntax#cache-mod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github.blog/changelog/2026-09-10-control-github-actions-cache-access-with-cache-mode/"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github.blog/changelog/2026-09-17-workflow-execution-protections-in-github-actions-generally-availabl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docs.github.com/en/rest/actions/policie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github.blog/changelog/2026-09-24-expired-github-actions-artifacts-no-longer-shown-in-ui-and-api/"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github.blog/changelog/2026-09-24-expired-github-actions-artifacts-no-longer-shown-in-ui-and-api/"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github.blog/changelog/2026-09-25-changes-to-query-results-in-the-github-actions-api-and-ui/"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docs.github.com/rest/actions/workflow-runs#list-workflow-runs-for-a-repository"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github.blog/changelog/2026-09-28-self-hosted-runner-version-enforcement-date-has-moved/"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blog/changelog/2026-09-10-control-github-actions-cache-access-with-cache-mode/" TargetMode="External"/><Relationship Id="rId3" Type="http://schemas.openxmlformats.org/officeDocument/2006/relationships/hyperlink" Target="https://github.blog/changelog/2026-09-17-workflow-execution-protections-in-github-actions-generally-available/" TargetMode="External"/><Relationship Id="rId4" Type="http://schemas.openxmlformats.org/officeDocument/2006/relationships/hyperlink" Target="https://github.blog/changelog/2026-09-24-expired-github-actions-artifacts-no-longer-shown-in-ui-and-api/" TargetMode="External"/><Relationship Id="rId5" Type="http://schemas.openxmlformats.org/officeDocument/2006/relationships/hyperlink" Target="https://github.blog/changelog/2026-09-25-changes-to-query-results-in-the-github-actions-api-and-ui/" TargetMode="External"/><Relationship Id="rId6" Type="http://schemas.openxmlformats.org/officeDocument/2006/relationships/hyperlink" Target="https://github.blog/changelog/2026-09-28-self-hosted-runner-version-enforcement-date-has-moved/" TargetMode="Externa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ocs.github.com/actions/reference/workflows-and-actions/workflow-syntax#cache-mode" TargetMode="External"/><Relationship Id="rId3" Type="http://schemas.openxmlformats.org/officeDocument/2006/relationships/hyperlink" Target="https://docs.github.com/en/actions/concepts/about-actions-policies" TargetMode="External"/><Relationship Id="rId4" Type="http://schemas.openxmlformats.org/officeDocument/2006/relationships/hyperlink" Target="https://docs.github.com/en/actions/how-tos/administer/control-workflow-execution" TargetMode="External"/><Relationship Id="rId5" Type="http://schemas.openxmlformats.org/officeDocument/2006/relationships/hyperlink" Target="https://docs.github.com/en/rest/actions/policies" TargetMode="External"/><Relationship Id="rId6" Type="http://schemas.openxmlformats.org/officeDocument/2006/relationships/hyperlink" Target="https://docs.github.com/rest/actions/workflow-runs#list-workflow-runs-for-a-repository" TargetMode="External"/><Relationship Id="rId7" Type="http://schemas.openxmlformats.org/officeDocument/2006/relationships/hyperlink" Target="https://github.blog/changelog/2026-09-03-github-actions-early-september-2026-updates/#new-rest-api-for-runner-version-deprecations" TargetMode="Externa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71032" y="5376672"/>
            <a:ext cx="7680960" cy="329184"/>
          </a:xfrm>
          <a:prstGeom prst="rect">
            <a:avLst/>
          </a:prstGeom>
          <a:noFill/>
        </p:spPr>
        <p:txBody>
          <a:bodyPr wrap="square" lIns="18288" rIns="18288" tIns="18288" bIns="18288" anchor="t">
            <a:normAutofit/>
          </a:bodyPr>
          <a:lstStyle/>
          <a:p>
            <a:pPr algn="l">
              <a:spcAft>
                <a:spcPts val="800"/>
              </a:spcAft>
            </a:pPr>
            <a:r>
              <a:rPr sz="1200" b="0">
                <a:solidFill>
                  <a:srgbClr val="555B65"/>
                </a:solidFill>
                <a:latin typeface="Arial"/>
              </a:rPr>
              <a:t>Security controls, reliable evidence, and runner readiness</a:t>
            </a:r>
          </a:p>
        </p:txBody>
      </p:sp>
      <p:sp>
        <p:nvSpPr>
          <p:cNvPr id="3" name="TextBox 2"/>
          <p:cNvSpPr txBox="1"/>
          <p:nvPr/>
        </p:nvSpPr>
        <p:spPr>
          <a:xfrm>
            <a:off x="5971032" y="5715000"/>
            <a:ext cx="7772400" cy="1078992"/>
          </a:xfrm>
          <a:prstGeom prst="rect">
            <a:avLst/>
          </a:prstGeom>
          <a:noFill/>
        </p:spPr>
        <p:txBody>
          <a:bodyPr wrap="square" lIns="18288" rIns="18288" tIns="18288" bIns="18288" anchor="t">
            <a:normAutofit/>
          </a:bodyPr>
          <a:lstStyle/>
          <a:p>
            <a:pPr algn="l">
              <a:spcAft>
                <a:spcPts val="800"/>
              </a:spcAft>
            </a:pPr>
            <a:r>
              <a:rPr sz="3400" b="1">
                <a:solidFill>
                  <a:srgbClr val="0E1022"/>
                </a:solidFill>
                <a:latin typeface="Arial"/>
              </a:rPr>
              <a:t>GitHub Actions</a:t>
            </a:r>
          </a:p>
          <a:p>
            <a:pPr algn="l">
              <a:spcAft>
                <a:spcPts val="800"/>
              </a:spcAft>
            </a:pPr>
            <a:r>
              <a:rPr sz="3400" b="1">
                <a:solidFill>
                  <a:srgbClr val="0E1022"/>
                </a:solidFill>
                <a:latin typeface="Arial"/>
              </a:rPr>
              <a:t>Monthly Office Hour</a:t>
            </a:r>
          </a:p>
        </p:txBody>
      </p:sp>
      <p:sp>
        <p:nvSpPr>
          <p:cNvPr id="4" name="TextBox 3"/>
          <p:cNvSpPr txBox="1"/>
          <p:nvPr/>
        </p:nvSpPr>
        <p:spPr>
          <a:xfrm>
            <a:off x="5971032" y="6949440"/>
            <a:ext cx="7772400" cy="365760"/>
          </a:xfrm>
          <a:prstGeom prst="rect">
            <a:avLst/>
          </a:prstGeom>
          <a:noFill/>
        </p:spPr>
        <p:txBody>
          <a:bodyPr wrap="square" lIns="18288" rIns="18288" tIns="18288" bIns="18288" anchor="t">
            <a:normAutofit/>
          </a:bodyPr>
          <a:lstStyle/>
          <a:p>
            <a:pPr algn="l">
              <a:spcAft>
                <a:spcPts val="800"/>
              </a:spcAft>
            </a:pPr>
            <a:r>
              <a:rPr sz="1500" b="0">
                <a:solidFill>
                  <a:srgbClr val="0E1022"/>
                </a:solidFill>
                <a:latin typeface="Arial"/>
              </a:rPr>
              <a:t>DXC | 13 October 2026</a:t>
            </a:r>
          </a:p>
        </p:txBody>
      </p:sp>
      <p:sp>
        <p:nvSpPr>
          <p:cNvPr id="5" name="TextBox 4"/>
          <p:cNvSpPr txBox="1"/>
          <p:nvPr/>
        </p:nvSpPr>
        <p:spPr>
          <a:xfrm>
            <a:off x="10972800" y="7406640"/>
            <a:ext cx="3063240" cy="228600"/>
          </a:xfrm>
          <a:prstGeom prst="rect">
            <a:avLst/>
          </a:prstGeom>
          <a:noFill/>
        </p:spPr>
        <p:txBody>
          <a:bodyPr wrap="square" lIns="18288" rIns="18288" tIns="18288" bIns="18288" anchor="t">
            <a:normAutofit/>
          </a:bodyPr>
          <a:lstStyle/>
          <a:p>
            <a:pPr algn="r">
              <a:spcAft>
                <a:spcPts val="800"/>
              </a:spcAft>
            </a:pPr>
            <a:r>
              <a:rPr sz="1100" b="0">
                <a:solidFill>
                  <a:srgbClr val="555B65"/>
                </a:solidFill>
                <a:latin typeface="Arial"/>
              </a:rPr>
              <a:t>00-02 min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886968"/>
            <a:ext cx="13441680" cy="237744"/>
          </a:xfrm>
          <a:prstGeom prst="rect">
            <a:avLst/>
          </a:prstGeom>
          <a:noFill/>
        </p:spPr>
        <p:txBody>
          <a:bodyPr wrap="square" lIns="18288" rIns="18288" tIns="18288" bIns="18288" anchor="t">
            <a:normAutofit/>
          </a:bodyPr>
          <a:lstStyle/>
          <a:p>
            <a:pPr algn="l">
              <a:spcAft>
                <a:spcPts val="800"/>
              </a:spcAft>
            </a:pPr>
            <a:r>
              <a:rPr sz="1100" b="0">
                <a:solidFill>
                  <a:srgbClr val="555B65"/>
                </a:solidFill>
                <a:latin typeface="Arial"/>
              </a:rPr>
              <a:t>DXC | GitHub Actions Office Hour</a:t>
            </a:r>
          </a:p>
        </p:txBody>
      </p:sp>
      <p:sp>
        <p:nvSpPr>
          <p:cNvPr id="3" name="TextBox 2"/>
          <p:cNvSpPr txBox="1"/>
          <p:nvPr/>
        </p:nvSpPr>
        <p:spPr>
          <a:xfrm>
            <a:off x="484632" y="1261872"/>
            <a:ext cx="13670280" cy="987552"/>
          </a:xfrm>
          <a:prstGeom prst="rect">
            <a:avLst/>
          </a:prstGeom>
          <a:noFill/>
        </p:spPr>
        <p:txBody>
          <a:bodyPr wrap="square" lIns="18288" rIns="18288" tIns="18288" bIns="18288" anchor="t">
            <a:normAutofit/>
          </a:bodyPr>
          <a:lstStyle/>
          <a:p>
            <a:pPr algn="l">
              <a:spcAft>
                <a:spcPts val="800"/>
              </a:spcAft>
            </a:pPr>
            <a:r>
              <a:rPr sz="3200" b="1">
                <a:solidFill>
                  <a:srgbClr val="0E1022"/>
                </a:solidFill>
                <a:latin typeface="Arial"/>
              </a:rPr>
              <a:t>Five updates. Fifty minutes. Ten minutes for questions.</a:t>
            </a:r>
          </a:p>
        </p:txBody>
      </p:sp>
      <p:graphicFrame>
        <p:nvGraphicFramePr>
          <p:cNvPr id="4" name="Table 3"/>
          <p:cNvGraphicFramePr>
            <a:graphicFrameLocks noGrp="1"/>
          </p:cNvGraphicFramePr>
          <p:nvPr/>
        </p:nvGraphicFramePr>
        <p:xfrm>
          <a:off x="594360" y="2697480"/>
          <a:ext cx="13441680" cy="4343400"/>
        </p:xfrm>
        <a:graphic>
          <a:graphicData uri="http://schemas.openxmlformats.org/drawingml/2006/table">
            <a:tbl>
              <a:tblPr firstRow="1" bandRow="1">
                <a:tableStyleId>{5C22544A-7EE6-4342-B048-85BDC9FD1C3A}</a:tableStyleId>
              </a:tblPr>
              <a:tblGrid>
                <a:gridCol w="1417320"/>
                <a:gridCol w="4251960"/>
                <a:gridCol w="7772400"/>
              </a:tblGrid>
              <a:tr h="482600">
                <a:tc>
                  <a:txBody>
                    <a:bodyPr wrap="square">
                      <a:normAutofit/>
                    </a:bodyPr>
                    <a:lstStyle/>
                    <a:p>
                      <a:pPr>
                        <a:lnSpc>
                          <a:spcPct val="100000"/>
                        </a:lnSpc>
                      </a:pPr>
                      <a:r>
                        <a:rPr sz="1800" b="1">
                          <a:solidFill>
                            <a:srgbClr val="FFFFFF"/>
                          </a:solidFill>
                          <a:latin typeface="Arial"/>
                        </a:rPr>
                        <a:t>Minutes</a:t>
                      </a:r>
                    </a:p>
                  </a:txBody>
                  <a:tcPr marL="137160" marR="137160" marT="59436" marB="59436" anchor="ctr">
                    <a:solidFill>
                      <a:srgbClr val="0E1022"/>
                    </a:solidFill>
                  </a:tcPr>
                </a:tc>
                <a:tc>
                  <a:txBody>
                    <a:bodyPr wrap="square">
                      <a:normAutofit/>
                    </a:bodyPr>
                    <a:lstStyle/>
                    <a:p>
                      <a:pPr>
                        <a:lnSpc>
                          <a:spcPct val="100000"/>
                        </a:lnSpc>
                      </a:pPr>
                      <a:r>
                        <a:rPr sz="1800" b="1">
                          <a:solidFill>
                            <a:srgbClr val="FFFFFF"/>
                          </a:solidFill>
                          <a:latin typeface="Arial"/>
                        </a:rPr>
                        <a:t>Segment</a:t>
                      </a:r>
                    </a:p>
                  </a:txBody>
                  <a:tcPr marL="137160" marR="137160" marT="59436" marB="59436" anchor="ctr">
                    <a:solidFill>
                      <a:srgbClr val="0E1022"/>
                    </a:solidFill>
                  </a:tcPr>
                </a:tc>
                <a:tc>
                  <a:txBody>
                    <a:bodyPr wrap="square">
                      <a:normAutofit/>
                    </a:bodyPr>
                    <a:lstStyle/>
                    <a:p>
                      <a:pPr>
                        <a:lnSpc>
                          <a:spcPct val="100000"/>
                        </a:lnSpc>
                      </a:pPr>
                      <a:r>
                        <a:rPr sz="1800" b="1">
                          <a:solidFill>
                            <a:srgbClr val="FFFFFF"/>
                          </a:solidFill>
                          <a:latin typeface="Arial"/>
                        </a:rPr>
                        <a:t>Outcome</a:t>
                      </a:r>
                    </a:p>
                  </a:txBody>
                  <a:tcPr marL="137160" marR="137160" marT="59436" marB="59436" anchor="ctr">
                    <a:solidFill>
                      <a:srgbClr val="0E1022"/>
                    </a:solidFill>
                  </a:tcPr>
                </a:tc>
              </a:tr>
              <a:tr h="482600">
                <a:tc>
                  <a:txBody>
                    <a:bodyPr wrap="square">
                      <a:normAutofit/>
                    </a:bodyPr>
                    <a:lstStyle/>
                    <a:p>
                      <a:pPr>
                        <a:lnSpc>
                          <a:spcPct val="100000"/>
                        </a:lnSpc>
                      </a:pPr>
                      <a:r>
                        <a:rPr sz="1800" b="0">
                          <a:solidFill>
                            <a:srgbClr val="0E1022"/>
                          </a:solidFill>
                          <a:latin typeface="Arial"/>
                        </a:rPr>
                        <a:t>00-04</a:t>
                      </a:r>
                    </a:p>
                  </a:txBody>
                  <a:tcPr marL="137160" marR="137160" marT="59436" marB="59436" anchor="ctr">
                    <a:solidFill>
                      <a:srgbClr val="F2F4F7"/>
                    </a:solidFill>
                  </a:tcPr>
                </a:tc>
                <a:tc>
                  <a:txBody>
                    <a:bodyPr wrap="square">
                      <a:normAutofit/>
                    </a:bodyPr>
                    <a:lstStyle/>
                    <a:p>
                      <a:pPr>
                        <a:lnSpc>
                          <a:spcPct val="100000"/>
                        </a:lnSpc>
                      </a:pPr>
                      <a:r>
                        <a:rPr sz="1800" b="0">
                          <a:solidFill>
                            <a:srgbClr val="0E1022"/>
                          </a:solidFill>
                          <a:latin typeface="Arial"/>
                        </a:rPr>
                        <a:t>Welcome and demo contract</a:t>
                      </a:r>
                    </a:p>
                  </a:txBody>
                  <a:tcPr marL="137160" marR="137160" marT="59436" marB="59436" anchor="ctr">
                    <a:solidFill>
                      <a:srgbClr val="F2F4F7"/>
                    </a:solidFill>
                  </a:tcPr>
                </a:tc>
                <a:tc>
                  <a:txBody>
                    <a:bodyPr wrap="square">
                      <a:normAutofit/>
                    </a:bodyPr>
                    <a:lstStyle/>
                    <a:p>
                      <a:pPr>
                        <a:lnSpc>
                          <a:spcPct val="100000"/>
                        </a:lnSpc>
                      </a:pPr>
                      <a:r>
                        <a:rPr sz="1800" b="0">
                          <a:solidFill>
                            <a:srgbClr val="0E1022"/>
                          </a:solidFill>
                          <a:latin typeface="Arial"/>
                        </a:rPr>
                        <a:t>What is verified and what is conditional</a:t>
                      </a:r>
                    </a:p>
                  </a:txBody>
                  <a:tcPr marL="137160" marR="137160" marT="59436" marB="59436" anchor="ctr">
                    <a:solidFill>
                      <a:srgbClr val="F2F4F7"/>
                    </a:solidFill>
                  </a:tcPr>
                </a:tc>
              </a:tr>
              <a:tr h="482600">
                <a:tc>
                  <a:txBody>
                    <a:bodyPr wrap="square">
                      <a:normAutofit/>
                    </a:bodyPr>
                    <a:lstStyle/>
                    <a:p>
                      <a:pPr>
                        <a:lnSpc>
                          <a:spcPct val="100000"/>
                        </a:lnSpc>
                      </a:pPr>
                      <a:r>
                        <a:rPr sz="1800" b="0">
                          <a:solidFill>
                            <a:srgbClr val="0E1022"/>
                          </a:solidFill>
                          <a:latin typeface="Arial"/>
                        </a:rPr>
                        <a:t>04-16</a:t>
                      </a:r>
                    </a:p>
                  </a:txBody>
                  <a:tcPr marL="137160" marR="137160" marT="59436" marB="59436" anchor="ctr">
                    <a:solidFill>
                      <a:srgbClr val="FFFFFF"/>
                    </a:solidFill>
                  </a:tcPr>
                </a:tc>
                <a:tc>
                  <a:txBody>
                    <a:bodyPr wrap="square">
                      <a:normAutofit/>
                    </a:bodyPr>
                    <a:lstStyle/>
                    <a:p>
                      <a:pPr>
                        <a:lnSpc>
                          <a:spcPct val="100000"/>
                        </a:lnSpc>
                      </a:pPr>
                      <a:r>
                        <a:rPr sz="1800" b="0">
                          <a:solidFill>
                            <a:srgbClr val="0E1022"/>
                          </a:solidFill>
                          <a:latin typeface="Arial"/>
                        </a:rPr>
                        <a:t>Cache least privilege</a:t>
                      </a:r>
                    </a:p>
                  </a:txBody>
                  <a:tcPr marL="137160" marR="137160" marT="59436" marB="59436" anchor="ctr">
                    <a:solidFill>
                      <a:srgbClr val="FFFFFF"/>
                    </a:solidFill>
                  </a:tcPr>
                </a:tc>
                <a:tc>
                  <a:txBody>
                    <a:bodyPr wrap="square">
                      <a:normAutofit/>
                    </a:bodyPr>
                    <a:lstStyle/>
                    <a:p>
                      <a:pPr>
                        <a:lnSpc>
                          <a:spcPct val="100000"/>
                        </a:lnSpc>
                      </a:pPr>
                      <a:r>
                        <a:rPr sz="1800" b="0">
                          <a:solidFill>
                            <a:srgbClr val="0E1022"/>
                          </a:solidFill>
                          <a:latin typeface="Arial"/>
                        </a:rPr>
                        <a:t>Four modes; reusable-workflow ceiling</a:t>
                      </a:r>
                    </a:p>
                  </a:txBody>
                  <a:tcPr marL="137160" marR="137160" marT="59436" marB="59436" anchor="ctr">
                    <a:solidFill>
                      <a:srgbClr val="FFFFFF"/>
                    </a:solidFill>
                  </a:tcPr>
                </a:tc>
              </a:tr>
              <a:tr h="482600">
                <a:tc>
                  <a:txBody>
                    <a:bodyPr wrap="square">
                      <a:normAutofit/>
                    </a:bodyPr>
                    <a:lstStyle/>
                    <a:p>
                      <a:pPr>
                        <a:lnSpc>
                          <a:spcPct val="100000"/>
                        </a:lnSpc>
                      </a:pPr>
                      <a:r>
                        <a:rPr sz="1800" b="0">
                          <a:solidFill>
                            <a:srgbClr val="0E1022"/>
                          </a:solidFill>
                          <a:latin typeface="Arial"/>
                        </a:rPr>
                        <a:t>16-27</a:t>
                      </a:r>
                    </a:p>
                  </a:txBody>
                  <a:tcPr marL="137160" marR="137160" marT="59436" marB="59436" anchor="ctr">
                    <a:solidFill>
                      <a:srgbClr val="F2F4F7"/>
                    </a:solidFill>
                  </a:tcPr>
                </a:tc>
                <a:tc>
                  <a:txBody>
                    <a:bodyPr wrap="square">
                      <a:normAutofit/>
                    </a:bodyPr>
                    <a:lstStyle/>
                    <a:p>
                      <a:pPr>
                        <a:lnSpc>
                          <a:spcPct val="100000"/>
                        </a:lnSpc>
                      </a:pPr>
                      <a:r>
                        <a:rPr sz="1800" b="0">
                          <a:solidFill>
                            <a:srgbClr val="0E1022"/>
                          </a:solidFill>
                          <a:latin typeface="Arial"/>
                        </a:rPr>
                        <a:t>Execution protections</a:t>
                      </a:r>
                    </a:p>
                  </a:txBody>
                  <a:tcPr marL="137160" marR="137160" marT="59436" marB="59436" anchor="ctr">
                    <a:solidFill>
                      <a:srgbClr val="F2F4F7"/>
                    </a:solidFill>
                  </a:tcPr>
                </a:tc>
                <a:tc>
                  <a:txBody>
                    <a:bodyPr wrap="square">
                      <a:normAutofit/>
                    </a:bodyPr>
                    <a:lstStyle/>
                    <a:p>
                      <a:pPr>
                        <a:lnSpc>
                          <a:spcPct val="100000"/>
                        </a:lnSpc>
                      </a:pPr>
                      <a:r>
                        <a:rPr sz="1800" b="0">
                          <a:solidFill>
                            <a:srgbClr val="0E1022"/>
                          </a:solidFill>
                          <a:latin typeface="Arial"/>
                        </a:rPr>
                        <a:t>File-scoped policy and real trigger outcomes</a:t>
                      </a:r>
                    </a:p>
                  </a:txBody>
                  <a:tcPr marL="137160" marR="137160" marT="59436" marB="59436" anchor="ctr">
                    <a:solidFill>
                      <a:srgbClr val="F2F4F7"/>
                    </a:solidFill>
                  </a:tcPr>
                </a:tc>
              </a:tr>
              <a:tr h="482600">
                <a:tc>
                  <a:txBody>
                    <a:bodyPr wrap="square">
                      <a:normAutofit/>
                    </a:bodyPr>
                    <a:lstStyle/>
                    <a:p>
                      <a:pPr>
                        <a:lnSpc>
                          <a:spcPct val="100000"/>
                        </a:lnSpc>
                      </a:pPr>
                      <a:r>
                        <a:rPr sz="1800" b="0">
                          <a:solidFill>
                            <a:srgbClr val="0E1022"/>
                          </a:solidFill>
                          <a:latin typeface="Arial"/>
                        </a:rPr>
                        <a:t>27-35</a:t>
                      </a:r>
                    </a:p>
                  </a:txBody>
                  <a:tcPr marL="137160" marR="137160" marT="59436" marB="59436" anchor="ctr">
                    <a:solidFill>
                      <a:srgbClr val="FFFFFF"/>
                    </a:solidFill>
                  </a:tcPr>
                </a:tc>
                <a:tc>
                  <a:txBody>
                    <a:bodyPr wrap="square">
                      <a:normAutofit/>
                    </a:bodyPr>
                    <a:lstStyle/>
                    <a:p>
                      <a:pPr>
                        <a:lnSpc>
                          <a:spcPct val="100000"/>
                        </a:lnSpc>
                      </a:pPr>
                      <a:r>
                        <a:rPr sz="1800" b="0">
                          <a:solidFill>
                            <a:srgbClr val="0E1022"/>
                          </a:solidFill>
                          <a:latin typeface="Arial"/>
                        </a:rPr>
                        <a:t>Expired artifact visibility</a:t>
                      </a:r>
                    </a:p>
                  </a:txBody>
                  <a:tcPr marL="137160" marR="137160" marT="59436" marB="59436" anchor="ctr">
                    <a:solidFill>
                      <a:srgbClr val="FFFFFF"/>
                    </a:solidFill>
                  </a:tcPr>
                </a:tc>
                <a:tc>
                  <a:txBody>
                    <a:bodyPr wrap="square">
                      <a:normAutofit/>
                    </a:bodyPr>
                    <a:lstStyle/>
                    <a:p>
                      <a:pPr>
                        <a:lnSpc>
                          <a:spcPct val="100000"/>
                        </a:lnSpc>
                      </a:pPr>
                      <a:r>
                        <a:rPr sz="1800" b="0">
                          <a:solidFill>
                            <a:srgbClr val="0E1022"/>
                          </a:solidFill>
                          <a:latin typeface="Arial"/>
                        </a:rPr>
                        <a:t>Natural expiry with retained provenance</a:t>
                      </a:r>
                    </a:p>
                  </a:txBody>
                  <a:tcPr marL="137160" marR="137160" marT="59436" marB="59436" anchor="ctr">
                    <a:solidFill>
                      <a:srgbClr val="FFFFFF"/>
                    </a:solidFill>
                  </a:tcPr>
                </a:tc>
              </a:tr>
              <a:tr h="482600">
                <a:tc>
                  <a:txBody>
                    <a:bodyPr wrap="square">
                      <a:normAutofit/>
                    </a:bodyPr>
                    <a:lstStyle/>
                    <a:p>
                      <a:pPr>
                        <a:lnSpc>
                          <a:spcPct val="100000"/>
                        </a:lnSpc>
                      </a:pPr>
                      <a:r>
                        <a:rPr sz="1800" b="0">
                          <a:solidFill>
                            <a:srgbClr val="0E1022"/>
                          </a:solidFill>
                          <a:latin typeface="Arial"/>
                        </a:rPr>
                        <a:t>35-41</a:t>
                      </a:r>
                    </a:p>
                  </a:txBody>
                  <a:tcPr marL="137160" marR="137160" marT="59436" marB="59436" anchor="ctr">
                    <a:solidFill>
                      <a:srgbClr val="F2F4F7"/>
                    </a:solidFill>
                  </a:tcPr>
                </a:tc>
                <a:tc>
                  <a:txBody>
                    <a:bodyPr wrap="square">
                      <a:normAutofit/>
                    </a:bodyPr>
                    <a:lstStyle/>
                    <a:p>
                      <a:pPr>
                        <a:lnSpc>
                          <a:spcPct val="100000"/>
                        </a:lnSpc>
                      </a:pPr>
                      <a:r>
                        <a:rPr sz="1800" b="0">
                          <a:solidFill>
                            <a:srgbClr val="0E1022"/>
                          </a:solidFill>
                          <a:latin typeface="Arial"/>
                        </a:rPr>
                        <a:t>Bounded reporting</a:t>
                      </a:r>
                    </a:p>
                  </a:txBody>
                  <a:tcPr marL="137160" marR="137160" marT="59436" marB="59436" anchor="ctr">
                    <a:solidFill>
                      <a:srgbClr val="F2F4F7"/>
                    </a:solidFill>
                  </a:tcPr>
                </a:tc>
                <a:tc>
                  <a:txBody>
                    <a:bodyPr wrap="square">
                      <a:normAutofit/>
                    </a:bodyPr>
                    <a:lstStyle/>
                    <a:p>
                      <a:pPr>
                        <a:lnSpc>
                          <a:spcPct val="100000"/>
                        </a:lnSpc>
                      </a:pPr>
                      <a:r>
                        <a:rPr sz="1800" b="0">
                          <a:solidFill>
                            <a:srgbClr val="0E1022"/>
                          </a:solidFill>
                          <a:latin typeface="Arial"/>
                        </a:rPr>
                        <a:t>Counts, retrieval caps, and time windows</a:t>
                      </a:r>
                    </a:p>
                  </a:txBody>
                  <a:tcPr marL="137160" marR="137160" marT="59436" marB="59436" anchor="ctr">
                    <a:solidFill>
                      <a:srgbClr val="F2F4F7"/>
                    </a:solidFill>
                  </a:tcPr>
                </a:tc>
              </a:tr>
              <a:tr h="482600">
                <a:tc>
                  <a:txBody>
                    <a:bodyPr wrap="square">
                      <a:normAutofit/>
                    </a:bodyPr>
                    <a:lstStyle/>
                    <a:p>
                      <a:pPr>
                        <a:lnSpc>
                          <a:spcPct val="100000"/>
                        </a:lnSpc>
                      </a:pPr>
                      <a:r>
                        <a:rPr sz="1800" b="0">
                          <a:solidFill>
                            <a:srgbClr val="0E1022"/>
                          </a:solidFill>
                          <a:latin typeface="Arial"/>
                        </a:rPr>
                        <a:t>41-46</a:t>
                      </a:r>
                    </a:p>
                  </a:txBody>
                  <a:tcPr marL="137160" marR="137160" marT="59436" marB="59436" anchor="ctr">
                    <a:solidFill>
                      <a:srgbClr val="FFFFFF"/>
                    </a:solidFill>
                  </a:tcPr>
                </a:tc>
                <a:tc>
                  <a:txBody>
                    <a:bodyPr wrap="square">
                      <a:normAutofit/>
                    </a:bodyPr>
                    <a:lstStyle/>
                    <a:p>
                      <a:pPr>
                        <a:lnSpc>
                          <a:spcPct val="100000"/>
                        </a:lnSpc>
                      </a:pPr>
                      <a:r>
                        <a:rPr sz="1800" b="0">
                          <a:solidFill>
                            <a:srgbClr val="0E1022"/>
                          </a:solidFill>
                          <a:latin typeface="Arial"/>
                        </a:rPr>
                        <a:t>Runner readiness</a:t>
                      </a:r>
                    </a:p>
                  </a:txBody>
                  <a:tcPr marL="137160" marR="137160" marT="59436" marB="59436" anchor="ctr">
                    <a:solidFill>
                      <a:srgbClr val="FFFFFF"/>
                    </a:solidFill>
                  </a:tcPr>
                </a:tc>
                <a:tc>
                  <a:txBody>
                    <a:bodyPr wrap="square">
                      <a:normAutofit/>
                    </a:bodyPr>
                    <a:lstStyle/>
                    <a:p>
                      <a:pPr>
                        <a:lnSpc>
                          <a:spcPct val="100000"/>
                        </a:lnSpc>
                      </a:pPr>
                      <a:r>
                        <a:rPr sz="1800" b="0">
                          <a:solidFill>
                            <a:srgbClr val="0E1022"/>
                          </a:solidFill>
                          <a:latin typeface="Arial"/>
                        </a:rPr>
                        <a:t>Registration is not runtime support</a:t>
                      </a:r>
                    </a:p>
                  </a:txBody>
                  <a:tcPr marL="137160" marR="137160" marT="59436" marB="59436" anchor="ctr">
                    <a:solidFill>
                      <a:srgbClr val="FFFFFF"/>
                    </a:solidFill>
                  </a:tcPr>
                </a:tc>
              </a:tr>
              <a:tr h="482600">
                <a:tc>
                  <a:txBody>
                    <a:bodyPr wrap="square">
                      <a:normAutofit/>
                    </a:bodyPr>
                    <a:lstStyle/>
                    <a:p>
                      <a:pPr>
                        <a:lnSpc>
                          <a:spcPct val="100000"/>
                        </a:lnSpc>
                      </a:pPr>
                      <a:r>
                        <a:rPr sz="1800" b="0">
                          <a:solidFill>
                            <a:srgbClr val="0E1022"/>
                          </a:solidFill>
                          <a:latin typeface="Arial"/>
                        </a:rPr>
                        <a:t>46-50</a:t>
                      </a:r>
                    </a:p>
                  </a:txBody>
                  <a:tcPr marL="137160" marR="137160" marT="59436" marB="59436" anchor="ctr">
                    <a:solidFill>
                      <a:srgbClr val="F2F4F7"/>
                    </a:solidFill>
                  </a:tcPr>
                </a:tc>
                <a:tc>
                  <a:txBody>
                    <a:bodyPr wrap="square">
                      <a:normAutofit/>
                    </a:bodyPr>
                    <a:lstStyle/>
                    <a:p>
                      <a:pPr>
                        <a:lnSpc>
                          <a:spcPct val="100000"/>
                        </a:lnSpc>
                      </a:pPr>
                      <a:r>
                        <a:rPr sz="1800" b="0">
                          <a:solidFill>
                            <a:srgbClr val="0E1022"/>
                          </a:solidFill>
                          <a:latin typeface="Arial"/>
                        </a:rPr>
                        <a:t>DXC adoption checklist</a:t>
                      </a:r>
                    </a:p>
                  </a:txBody>
                  <a:tcPr marL="137160" marR="137160" marT="59436" marB="59436" anchor="ctr">
                    <a:solidFill>
                      <a:srgbClr val="F2F4F7"/>
                    </a:solidFill>
                  </a:tcPr>
                </a:tc>
                <a:tc>
                  <a:txBody>
                    <a:bodyPr wrap="square">
                      <a:normAutofit/>
                    </a:bodyPr>
                    <a:lstStyle/>
                    <a:p>
                      <a:pPr>
                        <a:lnSpc>
                          <a:spcPct val="100000"/>
                        </a:lnSpc>
                      </a:pPr>
                      <a:r>
                        <a:rPr sz="1800" b="0">
                          <a:solidFill>
                            <a:srgbClr val="0E1022"/>
                          </a:solidFill>
                          <a:latin typeface="Arial"/>
                        </a:rPr>
                        <a:t>Owners, next actions, and buffer</a:t>
                      </a:r>
                    </a:p>
                  </a:txBody>
                  <a:tcPr marL="137160" marR="137160" marT="59436" marB="59436" anchor="ctr">
                    <a:solidFill>
                      <a:srgbClr val="F2F4F7"/>
                    </a:solidFill>
                  </a:tcPr>
                </a:tc>
              </a:tr>
              <a:tr h="482600">
                <a:tc>
                  <a:txBody>
                    <a:bodyPr wrap="square">
                      <a:normAutofit/>
                    </a:bodyPr>
                    <a:lstStyle/>
                    <a:p>
                      <a:pPr>
                        <a:lnSpc>
                          <a:spcPct val="100000"/>
                        </a:lnSpc>
                      </a:pPr>
                      <a:r>
                        <a:rPr sz="1800" b="0">
                          <a:solidFill>
                            <a:srgbClr val="0E1022"/>
                          </a:solidFill>
                          <a:latin typeface="Arial"/>
                        </a:rPr>
                        <a:t>50-60</a:t>
                      </a:r>
                    </a:p>
                  </a:txBody>
                  <a:tcPr marL="137160" marR="137160" marT="59436" marB="59436" anchor="ctr">
                    <a:solidFill>
                      <a:srgbClr val="FFFFFF"/>
                    </a:solidFill>
                  </a:tcPr>
                </a:tc>
                <a:tc>
                  <a:txBody>
                    <a:bodyPr wrap="square">
                      <a:normAutofit/>
                    </a:bodyPr>
                    <a:lstStyle/>
                    <a:p>
                      <a:pPr>
                        <a:lnSpc>
                          <a:spcPct val="100000"/>
                        </a:lnSpc>
                      </a:pPr>
                      <a:r>
                        <a:rPr sz="1800" b="0">
                          <a:solidFill>
                            <a:srgbClr val="0E1022"/>
                          </a:solidFill>
                          <a:latin typeface="Arial"/>
                        </a:rPr>
                        <a:t>Q&amp;A</a:t>
                      </a:r>
                    </a:p>
                  </a:txBody>
                  <a:tcPr marL="137160" marR="137160" marT="59436" marB="59436" anchor="ctr">
                    <a:solidFill>
                      <a:srgbClr val="FFFFFF"/>
                    </a:solidFill>
                  </a:tcPr>
                </a:tc>
                <a:tc>
                  <a:txBody>
                    <a:bodyPr wrap="square">
                      <a:normAutofit/>
                    </a:bodyPr>
                    <a:lstStyle/>
                    <a:p>
                      <a:pPr>
                        <a:lnSpc>
                          <a:spcPct val="100000"/>
                        </a:lnSpc>
                      </a:pPr>
                      <a:r>
                        <a:rPr sz="1800" b="0">
                          <a:solidFill>
                            <a:srgbClr val="0E1022"/>
                          </a:solidFill>
                          <a:latin typeface="Arial"/>
                        </a:rPr>
                        <a:t>Hard stop on presentation and demos</a:t>
                      </a:r>
                    </a:p>
                  </a:txBody>
                  <a:tcPr marL="137160" marR="137160" marT="59436" marB="59436" anchor="ctr">
                    <a:solidFill>
                      <a:srgbClr val="FFFFFF"/>
                    </a:solidFill>
                  </a:tcPr>
                </a:tc>
              </a:tr>
            </a:tbl>
          </a:graphicData>
        </a:graphic>
      </p:graphicFrame>
      <p:sp>
        <p:nvSpPr>
          <p:cNvPr id="5" name="TextBox 4"/>
          <p:cNvSpPr txBox="1"/>
          <p:nvPr/>
        </p:nvSpPr>
        <p:spPr>
          <a:xfrm>
            <a:off x="10972800" y="7406640"/>
            <a:ext cx="3063240" cy="228600"/>
          </a:xfrm>
          <a:prstGeom prst="rect">
            <a:avLst/>
          </a:prstGeom>
          <a:noFill/>
        </p:spPr>
        <p:txBody>
          <a:bodyPr wrap="square" lIns="18288" rIns="18288" tIns="18288" bIns="18288" anchor="t">
            <a:normAutofit/>
          </a:bodyPr>
          <a:lstStyle/>
          <a:p>
            <a:pPr algn="r">
              <a:spcAft>
                <a:spcPts val="800"/>
              </a:spcAft>
            </a:pPr>
            <a:r>
              <a:rPr sz="1100" b="0">
                <a:solidFill>
                  <a:srgbClr val="555B65"/>
                </a:solidFill>
                <a:latin typeface="Arial"/>
              </a:rPr>
              <a:t>02-03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886968"/>
            <a:ext cx="13441680" cy="237744"/>
          </a:xfrm>
          <a:prstGeom prst="rect">
            <a:avLst/>
          </a:prstGeom>
          <a:noFill/>
        </p:spPr>
        <p:txBody>
          <a:bodyPr wrap="square" lIns="18288" rIns="18288" tIns="18288" bIns="18288" anchor="t">
            <a:normAutofit/>
          </a:bodyPr>
          <a:lstStyle/>
          <a:p>
            <a:pPr algn="l">
              <a:spcAft>
                <a:spcPts val="800"/>
              </a:spcAft>
            </a:pPr>
            <a:r>
              <a:rPr sz="1100" b="0">
                <a:solidFill>
                  <a:srgbClr val="555B65"/>
                </a:solidFill>
                <a:latin typeface="Arial"/>
              </a:rPr>
              <a:t>DXC | GitHub Actions Office Hour</a:t>
            </a:r>
          </a:p>
        </p:txBody>
      </p:sp>
      <p:sp>
        <p:nvSpPr>
          <p:cNvPr id="3" name="TextBox 2"/>
          <p:cNvSpPr txBox="1"/>
          <p:nvPr/>
        </p:nvSpPr>
        <p:spPr>
          <a:xfrm>
            <a:off x="484632" y="1261872"/>
            <a:ext cx="13670280" cy="987552"/>
          </a:xfrm>
          <a:prstGeom prst="rect">
            <a:avLst/>
          </a:prstGeom>
          <a:noFill/>
        </p:spPr>
        <p:txBody>
          <a:bodyPr wrap="square" lIns="18288" rIns="18288" tIns="18288" bIns="18288" anchor="t">
            <a:normAutofit/>
          </a:bodyPr>
          <a:lstStyle/>
          <a:p>
            <a:pPr algn="l">
              <a:spcAft>
                <a:spcPts val="800"/>
              </a:spcAft>
            </a:pPr>
            <a:r>
              <a:rPr sz="3200" b="1">
                <a:solidFill>
                  <a:srgbClr val="0E1022"/>
                </a:solidFill>
                <a:latin typeface="Arial"/>
              </a:rPr>
              <a:t>The demo contract: observable, safe, and honest</a:t>
            </a:r>
          </a:p>
        </p:txBody>
      </p:sp>
      <p:sp>
        <p:nvSpPr>
          <p:cNvPr id="4" name="Rounded Rectangle 3"/>
          <p:cNvSpPr/>
          <p:nvPr/>
        </p:nvSpPr>
        <p:spPr>
          <a:xfrm>
            <a:off x="594360" y="2834640"/>
            <a:ext cx="4297680" cy="333756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3017520"/>
            <a:ext cx="3895344" cy="530352"/>
          </a:xfrm>
          <a:prstGeom prst="rect">
            <a:avLst/>
          </a:prstGeom>
          <a:noFill/>
        </p:spPr>
        <p:txBody>
          <a:bodyPr wrap="square" lIns="18288" rIns="18288" tIns="18288" bIns="18288" anchor="t">
            <a:normAutofit/>
          </a:bodyPr>
          <a:lstStyle/>
          <a:p>
            <a:pPr algn="l">
              <a:spcAft>
                <a:spcPts val="800"/>
              </a:spcAft>
            </a:pPr>
            <a:r>
              <a:rPr sz="2300" b="1">
                <a:solidFill>
                  <a:srgbClr val="0E1022"/>
                </a:solidFill>
                <a:latin typeface="Arial"/>
              </a:rPr>
              <a:t>Workflow-driven</a:t>
            </a:r>
          </a:p>
        </p:txBody>
      </p:sp>
      <p:sp>
        <p:nvSpPr>
          <p:cNvPr id="6" name="TextBox 5"/>
          <p:cNvSpPr txBox="1"/>
          <p:nvPr/>
        </p:nvSpPr>
        <p:spPr>
          <a:xfrm>
            <a:off x="795528" y="3767328"/>
            <a:ext cx="3895344" cy="2203704"/>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Manual triggers in GitHub.</a:t>
            </a:r>
          </a:p>
          <a:p>
            <a:pPr algn="l">
              <a:spcAft>
                <a:spcPts val="800"/>
              </a:spcAft>
            </a:pPr>
            <a:r>
              <a:rPr sz="2000" b="0">
                <a:solidFill>
                  <a:srgbClr val="555B65"/>
                </a:solidFill>
                <a:latin typeface="Arial"/>
              </a:rPr>
              <a:t>Harmless data and isolated keys.</a:t>
            </a:r>
          </a:p>
          <a:p>
            <a:pPr algn="l">
              <a:spcAft>
                <a:spcPts val="800"/>
              </a:spcAft>
            </a:pPr>
            <a:r>
              <a:rPr sz="2000" b="0">
                <a:solidFill>
                  <a:srgbClr val="555B65"/>
                </a:solidFill>
                <a:latin typeface="Arial"/>
              </a:rPr>
              <a:t>No production fleet changes.</a:t>
            </a:r>
          </a:p>
        </p:txBody>
      </p:sp>
      <p:sp>
        <p:nvSpPr>
          <p:cNvPr id="7" name="Rounded Rectangle 6"/>
          <p:cNvSpPr/>
          <p:nvPr/>
        </p:nvSpPr>
        <p:spPr>
          <a:xfrm>
            <a:off x="5166360" y="2834640"/>
            <a:ext cx="4297680" cy="333756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67528" y="3017520"/>
            <a:ext cx="3895344" cy="530352"/>
          </a:xfrm>
          <a:prstGeom prst="rect">
            <a:avLst/>
          </a:prstGeom>
          <a:noFill/>
        </p:spPr>
        <p:txBody>
          <a:bodyPr wrap="square" lIns="18288" rIns="18288" tIns="18288" bIns="18288" anchor="t">
            <a:normAutofit/>
          </a:bodyPr>
          <a:lstStyle/>
          <a:p>
            <a:pPr algn="l">
              <a:spcAft>
                <a:spcPts val="800"/>
              </a:spcAft>
            </a:pPr>
            <a:r>
              <a:rPr sz="2300" b="1">
                <a:solidFill>
                  <a:srgbClr val="0E1022"/>
                </a:solidFill>
                <a:latin typeface="Arial"/>
              </a:rPr>
              <a:t>Real evidence</a:t>
            </a:r>
          </a:p>
        </p:txBody>
      </p:sp>
      <p:sp>
        <p:nvSpPr>
          <p:cNvPr id="9" name="TextBox 8"/>
          <p:cNvSpPr txBox="1"/>
          <p:nvPr/>
        </p:nvSpPr>
        <p:spPr>
          <a:xfrm>
            <a:off x="5367528" y="3767328"/>
            <a:ext cx="3895344" cy="2203704"/>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Cache contents and API state.</a:t>
            </a:r>
          </a:p>
          <a:p>
            <a:pPr algn="l">
              <a:spcAft>
                <a:spcPts val="800"/>
              </a:spcAft>
            </a:pPr>
            <a:r>
              <a:rPr sz="2000" b="0">
                <a:solidFill>
                  <a:srgbClr val="555B65"/>
                </a:solidFill>
                <a:latin typeface="Arial"/>
              </a:rPr>
              <a:t>Actual policy errors and insights.</a:t>
            </a:r>
          </a:p>
          <a:p>
            <a:pPr algn="l">
              <a:spcAft>
                <a:spcPts val="800"/>
              </a:spcAft>
            </a:pPr>
            <a:r>
              <a:rPr sz="2000" b="0">
                <a:solidFill>
                  <a:srgbClr val="555B65"/>
                </a:solidFill>
                <a:latin typeface="Arial"/>
              </a:rPr>
              <a:t>Original artifact receipts.</a:t>
            </a:r>
          </a:p>
        </p:txBody>
      </p:sp>
      <p:sp>
        <p:nvSpPr>
          <p:cNvPr id="10" name="Rounded Rectangle 9"/>
          <p:cNvSpPr/>
          <p:nvPr/>
        </p:nvSpPr>
        <p:spPr>
          <a:xfrm>
            <a:off x="9738360" y="2834640"/>
            <a:ext cx="4297680" cy="333756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39528" y="3017520"/>
            <a:ext cx="3895344" cy="530352"/>
          </a:xfrm>
          <a:prstGeom prst="rect">
            <a:avLst/>
          </a:prstGeom>
          <a:noFill/>
        </p:spPr>
        <p:txBody>
          <a:bodyPr wrap="square" lIns="18288" rIns="18288" tIns="18288" bIns="18288" anchor="t">
            <a:normAutofit/>
          </a:bodyPr>
          <a:lstStyle/>
          <a:p>
            <a:pPr algn="l">
              <a:spcAft>
                <a:spcPts val="800"/>
              </a:spcAft>
            </a:pPr>
            <a:r>
              <a:rPr sz="2300" b="1">
                <a:solidFill>
                  <a:srgbClr val="0E1022"/>
                </a:solidFill>
                <a:latin typeface="Arial"/>
              </a:rPr>
              <a:t>Explicit limits</a:t>
            </a:r>
          </a:p>
        </p:txBody>
      </p:sp>
      <p:sp>
        <p:nvSpPr>
          <p:cNvPr id="12" name="TextBox 11"/>
          <p:cNvSpPr txBox="1"/>
          <p:nvPr/>
        </p:nvSpPr>
        <p:spPr>
          <a:xfrm>
            <a:off x="9939528" y="3767328"/>
            <a:ext cx="3895344" cy="2203704"/>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Admin access for policies/fleet APIs.</a:t>
            </a:r>
          </a:p>
          <a:p>
            <a:pPr algn="l">
              <a:spcAft>
                <a:spcPts val="800"/>
              </a:spcAft>
            </a:pPr>
            <a:r>
              <a:rPr sz="2000" b="0">
                <a:solidFill>
                  <a:srgbClr val="555B65"/>
                </a:solidFill>
                <a:latin typeface="Arial"/>
              </a:rPr>
              <a:t>Expiry prepared in advance.</a:t>
            </a:r>
          </a:p>
          <a:p>
            <a:pPr algn="l">
              <a:spcAft>
                <a:spcPts val="800"/>
              </a:spcAft>
            </a:pPr>
            <a:r>
              <a:rPr sz="2000" b="0">
                <a:solidFill>
                  <a:srgbClr val="555B65"/>
                </a:solidFill>
                <a:latin typeface="Arial"/>
              </a:rPr>
              <a:t>Synthetic tests clearly labeled.</a:t>
            </a:r>
          </a:p>
        </p:txBody>
      </p:sp>
      <p:sp>
        <p:nvSpPr>
          <p:cNvPr id="13" name="Rounded Rectangle 12"/>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118872">
            <a:normAutofit/>
          </a:bodyPr>
          <a:lstStyle/>
          <a:p>
            <a:pPr algn="l">
              <a:spcAft>
                <a:spcPts val="800"/>
              </a:spcAft>
            </a:pPr>
            <a:r>
              <a:rPr sz="1700" b="0">
                <a:solidFill>
                  <a:srgbClr val="0E1022"/>
                </a:solidFill>
                <a:latin typeface="Arial"/>
              </a:rPr>
              <a:t>A green step, HTTP 204, or absent record is not sufficient proof by itself.</a:t>
            </a:r>
          </a:p>
        </p:txBody>
      </p:sp>
      <p:sp>
        <p:nvSpPr>
          <p:cNvPr id="14" name="TextBox 13"/>
          <p:cNvSpPr txBox="1"/>
          <p:nvPr/>
        </p:nvSpPr>
        <p:spPr>
          <a:xfrm>
            <a:off x="10972800" y="7406640"/>
            <a:ext cx="3063240" cy="228600"/>
          </a:xfrm>
          <a:prstGeom prst="rect">
            <a:avLst/>
          </a:prstGeom>
          <a:noFill/>
        </p:spPr>
        <p:txBody>
          <a:bodyPr wrap="square" lIns="18288" rIns="18288" tIns="18288" bIns="18288" anchor="t">
            <a:normAutofit/>
          </a:bodyPr>
          <a:lstStyle/>
          <a:p>
            <a:pPr algn="r">
              <a:spcAft>
                <a:spcPts val="800"/>
              </a:spcAft>
            </a:pPr>
            <a:r>
              <a:rPr sz="1100" b="0">
                <a:solidFill>
                  <a:srgbClr val="555B65"/>
                </a:solidFill>
                <a:latin typeface="Arial"/>
              </a:rPr>
              <a:t>03-04 min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886968"/>
            <a:ext cx="13441680" cy="237744"/>
          </a:xfrm>
          <a:prstGeom prst="rect">
            <a:avLst/>
          </a:prstGeom>
          <a:noFill/>
        </p:spPr>
        <p:txBody>
          <a:bodyPr wrap="square" lIns="18288" rIns="18288" tIns="18288" bIns="18288" anchor="t">
            <a:normAutofit/>
          </a:bodyPr>
          <a:lstStyle/>
          <a:p>
            <a:pPr algn="l">
              <a:spcAft>
                <a:spcPts val="800"/>
              </a:spcAft>
            </a:pPr>
            <a:r>
              <a:rPr sz="1100" b="0">
                <a:solidFill>
                  <a:srgbClr val="555B65"/>
                </a:solidFill>
                <a:latin typeface="Arial"/>
              </a:rPr>
              <a:t>1 | Cache permissions | GA on github.com</a:t>
            </a:r>
          </a:p>
        </p:txBody>
      </p:sp>
      <p:sp>
        <p:nvSpPr>
          <p:cNvPr id="3" name="TextBox 2"/>
          <p:cNvSpPr txBox="1"/>
          <p:nvPr/>
        </p:nvSpPr>
        <p:spPr>
          <a:xfrm>
            <a:off x="484632" y="1261872"/>
            <a:ext cx="13670280" cy="987552"/>
          </a:xfrm>
          <a:prstGeom prst="rect">
            <a:avLst/>
          </a:prstGeom>
          <a:noFill/>
        </p:spPr>
        <p:txBody>
          <a:bodyPr wrap="square" lIns="18288" rIns="18288" tIns="18288" bIns="18288" anchor="t">
            <a:normAutofit/>
          </a:bodyPr>
          <a:lstStyle/>
          <a:p>
            <a:pPr algn="l">
              <a:spcAft>
                <a:spcPts val="800"/>
              </a:spcAft>
            </a:pPr>
            <a:r>
              <a:rPr sz="3200" b="1">
                <a:solidFill>
                  <a:srgbClr val="0E1022"/>
                </a:solidFill>
                <a:latin typeface="Arial"/>
              </a:rPr>
              <a:t>Cache access can now follow the trust boundary</a:t>
            </a:r>
          </a:p>
        </p:txBody>
      </p:sp>
      <p:sp>
        <p:nvSpPr>
          <p:cNvPr id="4" name="Rounded Rectangle 3"/>
          <p:cNvSpPr/>
          <p:nvPr/>
        </p:nvSpPr>
        <p:spPr>
          <a:xfrm>
            <a:off x="594360" y="2834640"/>
            <a:ext cx="6583679" cy="333756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3017520"/>
            <a:ext cx="6181343" cy="530352"/>
          </a:xfrm>
          <a:prstGeom prst="rect">
            <a:avLst/>
          </a:prstGeom>
          <a:noFill/>
        </p:spPr>
        <p:txBody>
          <a:bodyPr wrap="square" lIns="18288" rIns="18288" tIns="18288" bIns="18288" anchor="t">
            <a:normAutofit/>
          </a:bodyPr>
          <a:lstStyle/>
          <a:p>
            <a:pPr algn="l">
              <a:spcAft>
                <a:spcPts val="800"/>
              </a:spcAft>
            </a:pPr>
            <a:r>
              <a:rPr sz="2300" b="1">
                <a:solidFill>
                  <a:srgbClr val="0E1022"/>
                </a:solidFill>
                <a:latin typeface="Arial"/>
              </a:rPr>
              <a:t>What changed</a:t>
            </a:r>
          </a:p>
        </p:txBody>
      </p:sp>
      <p:sp>
        <p:nvSpPr>
          <p:cNvPr id="6" name="TextBox 5"/>
          <p:cNvSpPr txBox="1"/>
          <p:nvPr/>
        </p:nvSpPr>
        <p:spPr>
          <a:xfrm>
            <a:off x="795528" y="3767328"/>
            <a:ext cx="6181343" cy="2203704"/>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cache-mode at workflow or job level.</a:t>
            </a:r>
          </a:p>
          <a:p>
            <a:pPr algn="l">
              <a:spcAft>
                <a:spcPts val="800"/>
              </a:spcAft>
            </a:pPr>
            <a:r>
              <a:rPr sz="2000" b="0">
                <a:solidFill>
                  <a:srgbClr val="555B65"/>
                </a:solidFill>
                <a:latin typeface="Arial"/>
              </a:rPr>
              <a:t>Four explicit restore/save combinations.</a:t>
            </a:r>
          </a:p>
          <a:p>
            <a:pPr algn="l">
              <a:spcAft>
                <a:spcPts val="800"/>
              </a:spcAft>
            </a:pPr>
            <a:r>
              <a:rPr sz="2000" b="0">
                <a:solidFill>
                  <a:srgbClr val="555B65"/>
                </a:solidFill>
                <a:latin typeface="Arial"/>
              </a:rPr>
              <a:t>Scoped cache tokens enforce access.</a:t>
            </a:r>
          </a:p>
          <a:p>
            <a:pPr algn="l">
              <a:spcAft>
                <a:spcPts val="800"/>
              </a:spcAft>
            </a:pPr>
            <a:r>
              <a:rPr sz="2000" b="0">
                <a:solidFill>
                  <a:srgbClr val="555B65"/>
                </a:solidFill>
                <a:latin typeface="Arial"/>
              </a:rPr>
              <a:t>Job settings override workflow defaults.</a:t>
            </a:r>
          </a:p>
        </p:txBody>
      </p:sp>
      <p:sp>
        <p:nvSpPr>
          <p:cNvPr id="7" name="Rounded Rectangle 6"/>
          <p:cNvSpPr/>
          <p:nvPr/>
        </p:nvSpPr>
        <p:spPr>
          <a:xfrm>
            <a:off x="7452359" y="2834640"/>
            <a:ext cx="6583679" cy="3337560"/>
          </a:xfrm>
          <a:prstGeom prst="roundRect">
            <a:avLst/>
          </a:prstGeom>
          <a:solidFill>
            <a:srgbClr val="0E1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53527" y="3017520"/>
            <a:ext cx="6181343" cy="530352"/>
          </a:xfrm>
          <a:prstGeom prst="rect">
            <a:avLst/>
          </a:prstGeom>
          <a:noFill/>
        </p:spPr>
        <p:txBody>
          <a:bodyPr wrap="square" lIns="18288" rIns="18288" tIns="18288" bIns="18288" anchor="t">
            <a:normAutofit/>
          </a:bodyPr>
          <a:lstStyle/>
          <a:p>
            <a:pPr algn="l">
              <a:spcAft>
                <a:spcPts val="800"/>
              </a:spcAft>
            </a:pPr>
            <a:r>
              <a:rPr sz="2300" b="1">
                <a:solidFill>
                  <a:srgbClr val="FFFFFF"/>
                </a:solidFill>
                <a:latin typeface="Arial"/>
              </a:rPr>
              <a:t>Why DXC should care</a:t>
            </a:r>
          </a:p>
        </p:txBody>
      </p:sp>
      <p:sp>
        <p:nvSpPr>
          <p:cNvPr id="9" name="TextBox 8"/>
          <p:cNvSpPr txBox="1"/>
          <p:nvPr/>
        </p:nvSpPr>
        <p:spPr>
          <a:xfrm>
            <a:off x="7653527" y="3767328"/>
            <a:ext cx="6181343" cy="2203704"/>
          </a:xfrm>
          <a:prstGeom prst="rect">
            <a:avLst/>
          </a:prstGeom>
          <a:noFill/>
        </p:spPr>
        <p:txBody>
          <a:bodyPr wrap="square" lIns="18288" rIns="18288" tIns="18288" bIns="18288" anchor="t">
            <a:normAutofit/>
          </a:bodyPr>
          <a:lstStyle/>
          <a:p>
            <a:pPr algn="l">
              <a:spcAft>
                <a:spcPts val="800"/>
              </a:spcAft>
            </a:pPr>
            <a:r>
              <a:rPr sz="2000" b="0">
                <a:solidFill>
                  <a:srgbClr val="FFFFFF"/>
                </a:solidFill>
                <a:latin typeface="Arial"/>
              </a:rPr>
              <a:t>Give tests only the cache access they need.</a:t>
            </a:r>
          </a:p>
          <a:p>
            <a:pPr algn="l">
              <a:spcAft>
                <a:spcPts val="800"/>
              </a:spcAft>
            </a:pPr>
            <a:r>
              <a:rPr sz="2000" b="0">
                <a:solidFill>
                  <a:srgbClr val="FFFFFF"/>
                </a:solidFill>
                <a:latin typeface="Arial"/>
              </a:rPr>
              <a:t>Separate trusted publishers from consumers.</a:t>
            </a:r>
          </a:p>
          <a:p>
            <a:pPr algn="l">
              <a:spcAft>
                <a:spcPts val="800"/>
              </a:spcAft>
            </a:pPr>
            <a:r>
              <a:rPr sz="2000" b="0">
                <a:solidFill>
                  <a:srgbClr val="FFFFFF"/>
                </a:solidFill>
                <a:latin typeface="Arial"/>
              </a:rPr>
              <a:t>Constrain shared reusable workflows.</a:t>
            </a:r>
          </a:p>
          <a:p>
            <a:pPr algn="l">
              <a:spcAft>
                <a:spcPts val="800"/>
              </a:spcAft>
            </a:pPr>
            <a:r>
              <a:rPr sz="2000" b="0">
                <a:solidFill>
                  <a:srgbClr val="FFFFFF"/>
                </a:solidFill>
                <a:latin typeface="Arial"/>
              </a:rPr>
              <a:t>Review low-trust event overrides carefully.</a:t>
            </a:r>
          </a:p>
        </p:txBody>
      </p:sp>
      <p:sp>
        <p:nvSpPr>
          <p:cNvPr id="10" name="Rounded Rectangle 9"/>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118872">
            <a:normAutofit/>
          </a:bodyPr>
          <a:lstStyle/>
          <a:p>
            <a:pPr algn="l">
              <a:spcAft>
                <a:spcPts val="800"/>
              </a:spcAft>
            </a:pPr>
            <a:r>
              <a:rPr sz="1700" b="0">
                <a:solidFill>
                  <a:srgbClr val="0E1022"/>
                </a:solidFill>
                <a:latin typeface="Arial"/>
              </a:rPr>
              <a:t>Do not grant cache writes to an untrusted trigger just to remove a warning.</a:t>
            </a:r>
          </a:p>
        </p:txBody>
      </p:sp>
      <p:sp>
        <p:nvSpPr>
          <p:cNvPr id="11" name="TextBox 10"/>
          <p:cNvSpPr txBox="1"/>
          <p:nvPr/>
        </p:nvSpPr>
        <p:spPr>
          <a:xfrm>
            <a:off x="594360" y="7406640"/>
            <a:ext cx="9601200" cy="228600"/>
          </a:xfrm>
          <a:prstGeom prst="rect">
            <a:avLst/>
          </a:prstGeom>
          <a:noFill/>
        </p:spPr>
        <p:txBody>
          <a:bodyPr wrap="square" lIns="18288" rIns="18288" tIns="18288" bIns="18288" anchor="t">
            <a:normAutofit/>
          </a:bodyPr>
          <a:lstStyle/>
          <a:p>
            <a:pPr algn="l">
              <a:spcAft>
                <a:spcPts val="800"/>
              </a:spcAft>
            </a:pPr>
            <a:r>
              <a:rPr sz="1100" b="0">
                <a:solidFill>
                  <a:srgbClr val="345282"/>
                </a:solidFill>
                <a:latin typeface="Arial"/>
                <a:hlinkClick r:id="rId3"/>
              </a:rPr>
              <a:t>GitHub Changelog | 10 Sep 2026</a:t>
            </a:r>
          </a:p>
        </p:txBody>
      </p:sp>
      <p:sp>
        <p:nvSpPr>
          <p:cNvPr id="12" name="TextBox 11"/>
          <p:cNvSpPr txBox="1"/>
          <p:nvPr/>
        </p:nvSpPr>
        <p:spPr>
          <a:xfrm>
            <a:off x="10972800" y="7406640"/>
            <a:ext cx="3063240" cy="228600"/>
          </a:xfrm>
          <a:prstGeom prst="rect">
            <a:avLst/>
          </a:prstGeom>
          <a:noFill/>
        </p:spPr>
        <p:txBody>
          <a:bodyPr wrap="square" lIns="18288" rIns="18288" tIns="18288" bIns="18288" anchor="t">
            <a:normAutofit/>
          </a:bodyPr>
          <a:lstStyle/>
          <a:p>
            <a:pPr algn="r">
              <a:spcAft>
                <a:spcPts val="800"/>
              </a:spcAft>
            </a:pPr>
            <a:r>
              <a:rPr sz="1100" b="0">
                <a:solidFill>
                  <a:srgbClr val="555B65"/>
                </a:solidFill>
                <a:latin typeface="Arial"/>
              </a:rPr>
              <a:t>04-07 min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886968"/>
            <a:ext cx="13441680" cy="237744"/>
          </a:xfrm>
          <a:prstGeom prst="rect">
            <a:avLst/>
          </a:prstGeom>
          <a:noFill/>
        </p:spPr>
        <p:txBody>
          <a:bodyPr wrap="square" lIns="18288" rIns="18288" tIns="18288" bIns="18288" anchor="t">
            <a:normAutofit/>
          </a:bodyPr>
          <a:lstStyle/>
          <a:p>
            <a:pPr algn="l">
              <a:spcAft>
                <a:spcPts val="800"/>
              </a:spcAft>
            </a:pPr>
            <a:r>
              <a:rPr sz="1100" b="0">
                <a:solidFill>
                  <a:srgbClr val="555B65"/>
                </a:solidFill>
                <a:latin typeface="Arial"/>
              </a:rPr>
              <a:t>1 | Read and write are independent capabilities</a:t>
            </a:r>
          </a:p>
        </p:txBody>
      </p:sp>
      <p:sp>
        <p:nvSpPr>
          <p:cNvPr id="3" name="TextBox 2"/>
          <p:cNvSpPr txBox="1"/>
          <p:nvPr/>
        </p:nvSpPr>
        <p:spPr>
          <a:xfrm>
            <a:off x="484632" y="1261872"/>
            <a:ext cx="13670280" cy="987552"/>
          </a:xfrm>
          <a:prstGeom prst="rect">
            <a:avLst/>
          </a:prstGeom>
          <a:noFill/>
        </p:spPr>
        <p:txBody>
          <a:bodyPr wrap="square" lIns="18288" rIns="18288" tIns="18288" bIns="18288" anchor="t">
            <a:normAutofit/>
          </a:bodyPr>
          <a:lstStyle/>
          <a:p>
            <a:pPr algn="l">
              <a:spcAft>
                <a:spcPts val="800"/>
              </a:spcAft>
            </a:pPr>
            <a:r>
              <a:rPr sz="3200" b="1">
                <a:solidFill>
                  <a:srgbClr val="0E1022"/>
                </a:solidFill>
                <a:latin typeface="Arial"/>
              </a:rPr>
              <a:t>The four cache modes have different guarantees</a:t>
            </a:r>
          </a:p>
        </p:txBody>
      </p:sp>
      <p:graphicFrame>
        <p:nvGraphicFramePr>
          <p:cNvPr id="4" name="Table 3"/>
          <p:cNvGraphicFramePr>
            <a:graphicFrameLocks noGrp="1"/>
          </p:cNvGraphicFramePr>
          <p:nvPr/>
        </p:nvGraphicFramePr>
        <p:xfrm>
          <a:off x="594360" y="2697480"/>
          <a:ext cx="13441680" cy="3566160"/>
        </p:xfrm>
        <a:graphic>
          <a:graphicData uri="http://schemas.openxmlformats.org/drawingml/2006/table">
            <a:tbl>
              <a:tblPr firstRow="1" bandRow="1">
                <a:tableStyleId>{5C22544A-7EE6-4342-B048-85BDC9FD1C3A}</a:tableStyleId>
              </a:tblPr>
              <a:tblGrid>
                <a:gridCol w="2651760"/>
                <a:gridCol w="2194560"/>
                <a:gridCol w="2194560"/>
                <a:gridCol w="6400800"/>
              </a:tblGrid>
              <a:tr h="713232">
                <a:tc>
                  <a:txBody>
                    <a:bodyPr wrap="square">
                      <a:normAutofit/>
                    </a:bodyPr>
                    <a:lstStyle/>
                    <a:p>
                      <a:pPr>
                        <a:lnSpc>
                          <a:spcPct val="100000"/>
                        </a:lnSpc>
                      </a:pPr>
                      <a:r>
                        <a:rPr sz="1800" b="1">
                          <a:solidFill>
                            <a:srgbClr val="FFFFFF"/>
                          </a:solidFill>
                          <a:latin typeface="Arial"/>
                        </a:rPr>
                        <a:t>Mode</a:t>
                      </a:r>
                    </a:p>
                  </a:txBody>
                  <a:tcPr marL="137160" marR="137160" marT="59436" marB="59436" anchor="ctr">
                    <a:solidFill>
                      <a:srgbClr val="0E1022"/>
                    </a:solidFill>
                  </a:tcPr>
                </a:tc>
                <a:tc>
                  <a:txBody>
                    <a:bodyPr wrap="square">
                      <a:normAutofit/>
                    </a:bodyPr>
                    <a:lstStyle/>
                    <a:p>
                      <a:pPr>
                        <a:lnSpc>
                          <a:spcPct val="100000"/>
                        </a:lnSpc>
                      </a:pPr>
                      <a:r>
                        <a:rPr sz="1800" b="1">
                          <a:solidFill>
                            <a:srgbClr val="FFFFFF"/>
                          </a:solidFill>
                          <a:latin typeface="Arial"/>
                        </a:rPr>
                        <a:t>Restore</a:t>
                      </a:r>
                    </a:p>
                  </a:txBody>
                  <a:tcPr marL="137160" marR="137160" marT="59436" marB="59436" anchor="ctr">
                    <a:solidFill>
                      <a:srgbClr val="0E1022"/>
                    </a:solidFill>
                  </a:tcPr>
                </a:tc>
                <a:tc>
                  <a:txBody>
                    <a:bodyPr wrap="square">
                      <a:normAutofit/>
                    </a:bodyPr>
                    <a:lstStyle/>
                    <a:p>
                      <a:pPr>
                        <a:lnSpc>
                          <a:spcPct val="100000"/>
                        </a:lnSpc>
                      </a:pPr>
                      <a:r>
                        <a:rPr sz="1800" b="1">
                          <a:solidFill>
                            <a:srgbClr val="FFFFFF"/>
                          </a:solidFill>
                          <a:latin typeface="Arial"/>
                        </a:rPr>
                        <a:t>Save</a:t>
                      </a:r>
                    </a:p>
                  </a:txBody>
                  <a:tcPr marL="137160" marR="137160" marT="59436" marB="59436" anchor="ctr">
                    <a:solidFill>
                      <a:srgbClr val="0E1022"/>
                    </a:solidFill>
                  </a:tcPr>
                </a:tc>
                <a:tc>
                  <a:txBody>
                    <a:bodyPr wrap="square">
                      <a:normAutofit/>
                    </a:bodyPr>
                    <a:lstStyle/>
                    <a:p>
                      <a:pPr>
                        <a:lnSpc>
                          <a:spcPct val="100000"/>
                        </a:lnSpc>
                      </a:pPr>
                      <a:r>
                        <a:rPr sz="1800" b="1">
                          <a:solidFill>
                            <a:srgbClr val="FFFFFF"/>
                          </a:solidFill>
                          <a:latin typeface="Arial"/>
                        </a:rPr>
                        <a:t>Typical design intent</a:t>
                      </a:r>
                    </a:p>
                  </a:txBody>
                  <a:tcPr marL="137160" marR="137160" marT="59436" marB="59436" anchor="ctr">
                    <a:solidFill>
                      <a:srgbClr val="0E1022"/>
                    </a:solidFill>
                  </a:tcPr>
                </a:tc>
              </a:tr>
              <a:tr h="713232">
                <a:tc>
                  <a:txBody>
                    <a:bodyPr wrap="square">
                      <a:normAutofit/>
                    </a:bodyPr>
                    <a:lstStyle/>
                    <a:p>
                      <a:pPr>
                        <a:lnSpc>
                          <a:spcPct val="100000"/>
                        </a:lnSpc>
                      </a:pPr>
                      <a:r>
                        <a:rPr sz="1800" b="0">
                          <a:solidFill>
                            <a:srgbClr val="0E1022"/>
                          </a:solidFill>
                          <a:latin typeface="Arial"/>
                        </a:rPr>
                        <a:t>read</a:t>
                      </a:r>
                    </a:p>
                  </a:txBody>
                  <a:tcPr marL="137160" marR="137160" marT="59436" marB="59436" anchor="ctr">
                    <a:solidFill>
                      <a:srgbClr val="F2F4F7"/>
                    </a:solidFill>
                  </a:tcPr>
                </a:tc>
                <a:tc>
                  <a:txBody>
                    <a:bodyPr wrap="square">
                      <a:normAutofit/>
                    </a:bodyPr>
                    <a:lstStyle/>
                    <a:p>
                      <a:pPr>
                        <a:lnSpc>
                          <a:spcPct val="100000"/>
                        </a:lnSpc>
                      </a:pPr>
                      <a:r>
                        <a:rPr sz="1800" b="0">
                          <a:solidFill>
                            <a:srgbClr val="0E1022"/>
                          </a:solidFill>
                          <a:latin typeface="Arial"/>
                        </a:rPr>
                        <a:t>Allowed</a:t>
                      </a:r>
                    </a:p>
                  </a:txBody>
                  <a:tcPr marL="137160" marR="137160" marT="59436" marB="59436" anchor="ctr">
                    <a:solidFill>
                      <a:srgbClr val="F2F4F7"/>
                    </a:solidFill>
                  </a:tcPr>
                </a:tc>
                <a:tc>
                  <a:txBody>
                    <a:bodyPr wrap="square">
                      <a:normAutofit/>
                    </a:bodyPr>
                    <a:lstStyle/>
                    <a:p>
                      <a:pPr>
                        <a:lnSpc>
                          <a:spcPct val="100000"/>
                        </a:lnSpc>
                      </a:pPr>
                      <a:r>
                        <a:rPr sz="1800" b="0">
                          <a:solidFill>
                            <a:srgbClr val="0E1022"/>
                          </a:solidFill>
                          <a:latin typeface="Arial"/>
                        </a:rPr>
                        <a:t>Denied</a:t>
                      </a:r>
                    </a:p>
                  </a:txBody>
                  <a:tcPr marL="137160" marR="137160" marT="59436" marB="59436" anchor="ctr">
                    <a:solidFill>
                      <a:srgbClr val="F2F4F7"/>
                    </a:solidFill>
                  </a:tcPr>
                </a:tc>
                <a:tc>
                  <a:txBody>
                    <a:bodyPr wrap="square">
                      <a:normAutofit/>
                    </a:bodyPr>
                    <a:lstStyle/>
                    <a:p>
                      <a:pPr>
                        <a:lnSpc>
                          <a:spcPct val="100000"/>
                        </a:lnSpc>
                      </a:pPr>
                      <a:r>
                        <a:rPr sz="1800" b="0">
                          <a:solidFill>
                            <a:srgbClr val="0E1022"/>
                          </a:solidFill>
                          <a:latin typeface="Arial"/>
                        </a:rPr>
                        <a:t>Consume trusted cache content</a:t>
                      </a:r>
                    </a:p>
                  </a:txBody>
                  <a:tcPr marL="137160" marR="137160" marT="59436" marB="59436" anchor="ctr">
                    <a:solidFill>
                      <a:srgbClr val="F2F4F7"/>
                    </a:solidFill>
                  </a:tcPr>
                </a:tc>
              </a:tr>
              <a:tr h="713232">
                <a:tc>
                  <a:txBody>
                    <a:bodyPr wrap="square">
                      <a:normAutofit/>
                    </a:bodyPr>
                    <a:lstStyle/>
                    <a:p>
                      <a:pPr>
                        <a:lnSpc>
                          <a:spcPct val="100000"/>
                        </a:lnSpc>
                      </a:pPr>
                      <a:r>
                        <a:rPr sz="1800" b="0">
                          <a:solidFill>
                            <a:srgbClr val="0E1022"/>
                          </a:solidFill>
                          <a:latin typeface="Arial"/>
                        </a:rPr>
                        <a:t>write</a:t>
                      </a:r>
                    </a:p>
                  </a:txBody>
                  <a:tcPr marL="137160" marR="137160" marT="59436" marB="59436" anchor="ctr">
                    <a:solidFill>
                      <a:srgbClr val="FFFFFF"/>
                    </a:solidFill>
                  </a:tcPr>
                </a:tc>
                <a:tc>
                  <a:txBody>
                    <a:bodyPr wrap="square">
                      <a:normAutofit/>
                    </a:bodyPr>
                    <a:lstStyle/>
                    <a:p>
                      <a:pPr>
                        <a:lnSpc>
                          <a:spcPct val="100000"/>
                        </a:lnSpc>
                      </a:pPr>
                      <a:r>
                        <a:rPr sz="1800" b="0">
                          <a:solidFill>
                            <a:srgbClr val="0E1022"/>
                          </a:solidFill>
                          <a:latin typeface="Arial"/>
                        </a:rPr>
                        <a:t>Allowed</a:t>
                      </a:r>
                    </a:p>
                  </a:txBody>
                  <a:tcPr marL="137160" marR="137160" marT="59436" marB="59436" anchor="ctr">
                    <a:solidFill>
                      <a:srgbClr val="FFFFFF"/>
                    </a:solidFill>
                  </a:tcPr>
                </a:tc>
                <a:tc>
                  <a:txBody>
                    <a:bodyPr wrap="square">
                      <a:normAutofit/>
                    </a:bodyPr>
                    <a:lstStyle/>
                    <a:p>
                      <a:pPr>
                        <a:lnSpc>
                          <a:spcPct val="100000"/>
                        </a:lnSpc>
                      </a:pPr>
                      <a:r>
                        <a:rPr sz="1800" b="0">
                          <a:solidFill>
                            <a:srgbClr val="0E1022"/>
                          </a:solidFill>
                          <a:latin typeface="Arial"/>
                        </a:rPr>
                        <a:t>Allowed</a:t>
                      </a:r>
                    </a:p>
                  </a:txBody>
                  <a:tcPr marL="137160" marR="137160" marT="59436" marB="59436" anchor="ctr">
                    <a:solidFill>
                      <a:srgbClr val="FFFFFF"/>
                    </a:solidFill>
                  </a:tcPr>
                </a:tc>
                <a:tc>
                  <a:txBody>
                    <a:bodyPr wrap="square">
                      <a:normAutofit/>
                    </a:bodyPr>
                    <a:lstStyle/>
                    <a:p>
                      <a:pPr>
                        <a:lnSpc>
                          <a:spcPct val="100000"/>
                        </a:lnSpc>
                      </a:pPr>
                      <a:r>
                        <a:rPr sz="1800" b="0">
                          <a:solidFill>
                            <a:srgbClr val="0E1022"/>
                          </a:solidFill>
                          <a:latin typeface="Arial"/>
                        </a:rPr>
                        <a:t>Trusted build/publisher</a:t>
                      </a:r>
                    </a:p>
                  </a:txBody>
                  <a:tcPr marL="137160" marR="137160" marT="59436" marB="59436" anchor="ctr">
                    <a:solidFill>
                      <a:srgbClr val="FFFFFF"/>
                    </a:solidFill>
                  </a:tcPr>
                </a:tc>
              </a:tr>
              <a:tr h="713232">
                <a:tc>
                  <a:txBody>
                    <a:bodyPr wrap="square">
                      <a:normAutofit/>
                    </a:bodyPr>
                    <a:lstStyle/>
                    <a:p>
                      <a:pPr>
                        <a:lnSpc>
                          <a:spcPct val="100000"/>
                        </a:lnSpc>
                      </a:pPr>
                      <a:r>
                        <a:rPr sz="1800" b="0">
                          <a:solidFill>
                            <a:srgbClr val="0E1022"/>
                          </a:solidFill>
                          <a:latin typeface="Arial"/>
                        </a:rPr>
                        <a:t>write-only</a:t>
                      </a:r>
                    </a:p>
                  </a:txBody>
                  <a:tcPr marL="137160" marR="137160" marT="59436" marB="59436" anchor="ctr">
                    <a:solidFill>
                      <a:srgbClr val="F2F4F7"/>
                    </a:solidFill>
                  </a:tcPr>
                </a:tc>
                <a:tc>
                  <a:txBody>
                    <a:bodyPr wrap="square">
                      <a:normAutofit/>
                    </a:bodyPr>
                    <a:lstStyle/>
                    <a:p>
                      <a:pPr>
                        <a:lnSpc>
                          <a:spcPct val="100000"/>
                        </a:lnSpc>
                      </a:pPr>
                      <a:r>
                        <a:rPr sz="1800" b="0">
                          <a:solidFill>
                            <a:srgbClr val="0E1022"/>
                          </a:solidFill>
                          <a:latin typeface="Arial"/>
                        </a:rPr>
                        <a:t>Denied</a:t>
                      </a:r>
                    </a:p>
                  </a:txBody>
                  <a:tcPr marL="137160" marR="137160" marT="59436" marB="59436" anchor="ctr">
                    <a:solidFill>
                      <a:srgbClr val="F2F4F7"/>
                    </a:solidFill>
                  </a:tcPr>
                </a:tc>
                <a:tc>
                  <a:txBody>
                    <a:bodyPr wrap="square">
                      <a:normAutofit/>
                    </a:bodyPr>
                    <a:lstStyle/>
                    <a:p>
                      <a:pPr>
                        <a:lnSpc>
                          <a:spcPct val="100000"/>
                        </a:lnSpc>
                      </a:pPr>
                      <a:r>
                        <a:rPr sz="1800" b="0">
                          <a:solidFill>
                            <a:srgbClr val="0E1022"/>
                          </a:solidFill>
                          <a:latin typeface="Arial"/>
                        </a:rPr>
                        <a:t>Allowed</a:t>
                      </a:r>
                    </a:p>
                  </a:txBody>
                  <a:tcPr marL="137160" marR="137160" marT="59436" marB="59436" anchor="ctr">
                    <a:solidFill>
                      <a:srgbClr val="F2F4F7"/>
                    </a:solidFill>
                  </a:tcPr>
                </a:tc>
                <a:tc>
                  <a:txBody>
                    <a:bodyPr wrap="square">
                      <a:normAutofit/>
                    </a:bodyPr>
                    <a:lstStyle/>
                    <a:p>
                      <a:pPr>
                        <a:lnSpc>
                          <a:spcPct val="100000"/>
                        </a:lnSpc>
                      </a:pPr>
                      <a:r>
                        <a:rPr sz="1800" b="0">
                          <a:solidFill>
                            <a:srgbClr val="0E1022"/>
                          </a:solidFill>
                          <a:latin typeface="Arial"/>
                        </a:rPr>
                        <a:t>Publish without consuming prior cache</a:t>
                      </a:r>
                    </a:p>
                  </a:txBody>
                  <a:tcPr marL="137160" marR="137160" marT="59436" marB="59436" anchor="ctr">
                    <a:solidFill>
                      <a:srgbClr val="F2F4F7"/>
                    </a:solidFill>
                  </a:tcPr>
                </a:tc>
              </a:tr>
              <a:tr h="713232">
                <a:tc>
                  <a:txBody>
                    <a:bodyPr wrap="square">
                      <a:normAutofit/>
                    </a:bodyPr>
                    <a:lstStyle/>
                    <a:p>
                      <a:pPr>
                        <a:lnSpc>
                          <a:spcPct val="100000"/>
                        </a:lnSpc>
                      </a:pPr>
                      <a:r>
                        <a:rPr sz="1800" b="0">
                          <a:solidFill>
                            <a:srgbClr val="0E1022"/>
                          </a:solidFill>
                          <a:latin typeface="Arial"/>
                        </a:rPr>
                        <a:t>none</a:t>
                      </a:r>
                    </a:p>
                  </a:txBody>
                  <a:tcPr marL="137160" marR="137160" marT="59436" marB="59436" anchor="ctr">
                    <a:solidFill>
                      <a:srgbClr val="FFFFFF"/>
                    </a:solidFill>
                  </a:tcPr>
                </a:tc>
                <a:tc>
                  <a:txBody>
                    <a:bodyPr wrap="square">
                      <a:normAutofit/>
                    </a:bodyPr>
                    <a:lstStyle/>
                    <a:p>
                      <a:pPr>
                        <a:lnSpc>
                          <a:spcPct val="100000"/>
                        </a:lnSpc>
                      </a:pPr>
                      <a:r>
                        <a:rPr sz="1800" b="0">
                          <a:solidFill>
                            <a:srgbClr val="0E1022"/>
                          </a:solidFill>
                          <a:latin typeface="Arial"/>
                        </a:rPr>
                        <a:t>Denied</a:t>
                      </a:r>
                    </a:p>
                  </a:txBody>
                  <a:tcPr marL="137160" marR="137160" marT="59436" marB="59436" anchor="ctr">
                    <a:solidFill>
                      <a:srgbClr val="FFFFFF"/>
                    </a:solidFill>
                  </a:tcPr>
                </a:tc>
                <a:tc>
                  <a:txBody>
                    <a:bodyPr wrap="square">
                      <a:normAutofit/>
                    </a:bodyPr>
                    <a:lstStyle/>
                    <a:p>
                      <a:pPr>
                        <a:lnSpc>
                          <a:spcPct val="100000"/>
                        </a:lnSpc>
                      </a:pPr>
                      <a:r>
                        <a:rPr sz="1800" b="0">
                          <a:solidFill>
                            <a:srgbClr val="0E1022"/>
                          </a:solidFill>
                          <a:latin typeface="Arial"/>
                        </a:rPr>
                        <a:t>Denied</a:t>
                      </a:r>
                    </a:p>
                  </a:txBody>
                  <a:tcPr marL="137160" marR="137160" marT="59436" marB="59436" anchor="ctr">
                    <a:solidFill>
                      <a:srgbClr val="FFFFFF"/>
                    </a:solidFill>
                  </a:tcPr>
                </a:tc>
                <a:tc>
                  <a:txBody>
                    <a:bodyPr wrap="square">
                      <a:normAutofit/>
                    </a:bodyPr>
                    <a:lstStyle/>
                    <a:p>
                      <a:pPr>
                        <a:lnSpc>
                          <a:spcPct val="100000"/>
                        </a:lnSpc>
                      </a:pPr>
                      <a:r>
                        <a:rPr sz="1800" b="0">
                          <a:solidFill>
                            <a:srgbClr val="0E1022"/>
                          </a:solidFill>
                          <a:latin typeface="Arial"/>
                        </a:rPr>
                        <a:t>No cache dependency or access</a:t>
                      </a:r>
                    </a:p>
                  </a:txBody>
                  <a:tcPr marL="137160" marR="137160" marT="59436" marB="59436" anchor="ctr">
                    <a:solidFill>
                      <a:srgbClr val="FFFFFF"/>
                    </a:solidFill>
                  </a:tcPr>
                </a:tc>
              </a:tr>
            </a:tbl>
          </a:graphicData>
        </a:graphic>
      </p:graphicFrame>
      <p:sp>
        <p:nvSpPr>
          <p:cNvPr id="5" name="Rounded Rectangle 4"/>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118872">
            <a:normAutofit/>
          </a:bodyPr>
          <a:lstStyle/>
          <a:p>
            <a:pPr algn="l">
              <a:spcAft>
                <a:spcPts val="800"/>
              </a:spcAft>
            </a:pPr>
            <a:r>
              <a:rPr sz="1700" b="0">
                <a:solidFill>
                  <a:srgbClr val="0E1022"/>
                </a:solidFill>
                <a:latin typeface="Arial"/>
              </a:rPr>
              <a:t>Denied cache operations can log and continue. Green does not mean restored or saved.</a:t>
            </a:r>
          </a:p>
        </p:txBody>
      </p:sp>
      <p:sp>
        <p:nvSpPr>
          <p:cNvPr id="6" name="TextBox 5"/>
          <p:cNvSpPr txBox="1"/>
          <p:nvPr/>
        </p:nvSpPr>
        <p:spPr>
          <a:xfrm>
            <a:off x="594360" y="7406640"/>
            <a:ext cx="9601200" cy="228600"/>
          </a:xfrm>
          <a:prstGeom prst="rect">
            <a:avLst/>
          </a:prstGeom>
          <a:noFill/>
        </p:spPr>
        <p:txBody>
          <a:bodyPr wrap="square" lIns="18288" rIns="18288" tIns="18288" bIns="18288" anchor="t">
            <a:normAutofit/>
          </a:bodyPr>
          <a:lstStyle/>
          <a:p>
            <a:pPr algn="l">
              <a:spcAft>
                <a:spcPts val="800"/>
              </a:spcAft>
            </a:pPr>
            <a:r>
              <a:rPr sz="1100" b="0">
                <a:solidFill>
                  <a:srgbClr val="345282"/>
                </a:solidFill>
                <a:latin typeface="Arial"/>
                <a:hlinkClick r:id="rId3"/>
              </a:rPr>
              <a:t>Workflow syntax | cache-mode</a:t>
            </a:r>
          </a:p>
        </p:txBody>
      </p:sp>
      <p:sp>
        <p:nvSpPr>
          <p:cNvPr id="7" name="TextBox 6"/>
          <p:cNvSpPr txBox="1"/>
          <p:nvPr/>
        </p:nvSpPr>
        <p:spPr>
          <a:xfrm>
            <a:off x="10972800" y="7406640"/>
            <a:ext cx="3063240" cy="228600"/>
          </a:xfrm>
          <a:prstGeom prst="rect">
            <a:avLst/>
          </a:prstGeom>
          <a:noFill/>
        </p:spPr>
        <p:txBody>
          <a:bodyPr wrap="square" lIns="18288" rIns="18288" tIns="18288" bIns="18288" anchor="t">
            <a:normAutofit/>
          </a:bodyPr>
          <a:lstStyle/>
          <a:p>
            <a:pPr algn="r">
              <a:spcAft>
                <a:spcPts val="800"/>
              </a:spcAft>
            </a:pPr>
            <a:r>
              <a:rPr sz="1100" b="0">
                <a:solidFill>
                  <a:srgbClr val="555B65"/>
                </a:solidFill>
                <a:latin typeface="Arial"/>
              </a:rPr>
              <a:t>07-09 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886968"/>
            <a:ext cx="13441680" cy="237744"/>
          </a:xfrm>
          <a:prstGeom prst="rect">
            <a:avLst/>
          </a:prstGeom>
          <a:noFill/>
        </p:spPr>
        <p:txBody>
          <a:bodyPr wrap="square" lIns="18288" rIns="18288" tIns="18288" bIns="18288" anchor="t">
            <a:normAutofit/>
          </a:bodyPr>
          <a:lstStyle/>
          <a:p>
            <a:pPr algn="l">
              <a:spcAft>
                <a:spcPts val="800"/>
              </a:spcAft>
            </a:pPr>
            <a:r>
              <a:rPr sz="1100" b="0">
                <a:solidFill>
                  <a:srgbClr val="555B65"/>
                </a:solidFill>
                <a:latin typeface="Arial"/>
              </a:rPr>
              <a:t>1 | The caller sets the ceiling</a:t>
            </a:r>
          </a:p>
        </p:txBody>
      </p:sp>
      <p:sp>
        <p:nvSpPr>
          <p:cNvPr id="3" name="TextBox 2"/>
          <p:cNvSpPr txBox="1"/>
          <p:nvPr/>
        </p:nvSpPr>
        <p:spPr>
          <a:xfrm>
            <a:off x="484632" y="1261872"/>
            <a:ext cx="13670280" cy="987552"/>
          </a:xfrm>
          <a:prstGeom prst="rect">
            <a:avLst/>
          </a:prstGeom>
          <a:noFill/>
        </p:spPr>
        <p:txBody>
          <a:bodyPr wrap="square" lIns="18288" rIns="18288" tIns="18288" bIns="18288" anchor="t">
            <a:normAutofit/>
          </a:bodyPr>
          <a:lstStyle/>
          <a:p>
            <a:pPr algn="l">
              <a:spcAft>
                <a:spcPts val="800"/>
              </a:spcAft>
            </a:pPr>
            <a:r>
              <a:rPr sz="3200" b="1">
                <a:solidFill>
                  <a:srgbClr val="0E1022"/>
                </a:solidFill>
                <a:latin typeface="Arial"/>
              </a:rPr>
              <a:t>A reusable workflow cannot elevate cache access</a:t>
            </a:r>
          </a:p>
        </p:txBody>
      </p:sp>
      <p:sp>
        <p:nvSpPr>
          <p:cNvPr id="4" name="Rounded Rectangle 3"/>
          <p:cNvSpPr/>
          <p:nvPr/>
        </p:nvSpPr>
        <p:spPr>
          <a:xfrm>
            <a:off x="594360" y="2761488"/>
            <a:ext cx="8412480" cy="361188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118872">
            <a:normAutofit/>
          </a:bodyPr>
          <a:lstStyle/>
          <a:p>
            <a:pPr algn="l">
              <a:lnSpc>
                <a:spcPct val="110000"/>
              </a:lnSpc>
              <a:spcAft>
                <a:spcPts val="0"/>
              </a:spcAft>
            </a:pPr>
            <a:r>
              <a:rPr sz="1500" b="0">
                <a:solidFill>
                  <a:srgbClr val="0E1022"/>
                </a:solidFill>
                <a:latin typeface="Consolas"/>
              </a:rPr>
              <a:t>jobs:</a:t>
            </a:r>
          </a:p>
          <a:p>
            <a:pPr algn="l">
              <a:lnSpc>
                <a:spcPct val="110000"/>
              </a:lnSpc>
              <a:spcAft>
                <a:spcPts val="0"/>
              </a:spcAft>
            </a:pPr>
            <a:r>
              <a:rPr sz="1500" b="0">
                <a:solidFill>
                  <a:srgbClr val="0E1022"/>
                </a:solidFill>
                <a:latin typeface="Consolas"/>
              </a:rPr>
              <a:t>  read:</a:t>
            </a:r>
          </a:p>
          <a:p>
            <a:pPr algn="l">
              <a:lnSpc>
                <a:spcPct val="110000"/>
              </a:lnSpc>
              <a:spcAft>
                <a:spcPts val="0"/>
              </a:spcAft>
            </a:pPr>
            <a:r>
              <a:rPr sz="1500" b="0">
                <a:solidFill>
                  <a:srgbClr val="0E1022"/>
                </a:solidFill>
                <a:latin typeface="Consolas"/>
              </a:rPr>
              <a:t>    cache-mode: read</a:t>
            </a:r>
          </a:p>
          <a:p>
            <a:pPr algn="l">
              <a:lnSpc>
                <a:spcPct val="110000"/>
              </a:lnSpc>
              <a:spcAft>
                <a:spcPts val="0"/>
              </a:spcAft>
            </a:pPr>
            <a:r>
              <a:rPr sz="1500" b="0">
                <a:solidFill>
                  <a:srgbClr val="0E1022"/>
                </a:solidFill>
                <a:latin typeface="Consolas"/>
              </a:rPr>
              <a:t>    uses: ./.github/workflows/demo-1-cache-probe.yml</a:t>
            </a:r>
          </a:p>
          <a:p>
            <a:pPr algn="l">
              <a:lnSpc>
                <a:spcPct val="110000"/>
              </a:lnSpc>
              <a:spcAft>
                <a:spcPts val="0"/>
              </a:spcAft>
            </a:pPr>
            <a:r>
              <a:rPr sz="1500" b="0">
                <a:solidFill>
                  <a:srgbClr val="0E1022"/>
                </a:solidFill>
                <a:latin typeface="Consolas"/>
              </a:rPr>
              <a:t>    with:</a:t>
            </a:r>
          </a:p>
          <a:p>
            <a:pPr algn="l">
              <a:lnSpc>
                <a:spcPct val="110000"/>
              </a:lnSpc>
              <a:spcAft>
                <a:spcPts val="0"/>
              </a:spcAft>
            </a:pPr>
            <a:r>
              <a:rPr sz="1500" b="0">
                <a:solidFill>
                  <a:srgbClr val="0E1022"/>
                </a:solidFill>
                <a:latin typeface="Consolas"/>
              </a:rPr>
              <a:t>      mode: read</a:t>
            </a:r>
          </a:p>
          <a:p>
            <a:pPr algn="l">
              <a:lnSpc>
                <a:spcPct val="110000"/>
              </a:lnSpc>
              <a:spcAft>
                <a:spcPts val="0"/>
              </a:spcAft>
            </a:pPr>
            <a:r>
              <a:rPr sz="1500" b="0">
                <a:solidFill>
                  <a:srgbClr val="0E1022"/>
                </a:solidFill>
                <a:latin typeface="Consolas"/>
              </a:rPr>
              <a:t/>
            </a:r>
          </a:p>
          <a:p>
            <a:pPr algn="l">
              <a:lnSpc>
                <a:spcPct val="110000"/>
              </a:lnSpc>
              <a:spcAft>
                <a:spcPts val="0"/>
              </a:spcAft>
            </a:pPr>
            <a:r>
              <a:rPr sz="1500" b="0">
                <a:solidFill>
                  <a:srgbClr val="0E1022"/>
                </a:solidFill>
                <a:latin typeface="Consolas"/>
              </a:rPr>
              <a:t># Inside the called workflow:</a:t>
            </a:r>
          </a:p>
          <a:p>
            <a:pPr algn="l">
              <a:lnSpc>
                <a:spcPct val="110000"/>
              </a:lnSpc>
              <a:spcAft>
                <a:spcPts val="0"/>
              </a:spcAft>
            </a:pPr>
            <a:r>
              <a:rPr sz="1500" b="0">
                <a:solidFill>
                  <a:srgbClr val="0E1022"/>
                </a:solidFill>
                <a:latin typeface="Consolas"/>
              </a:rPr>
              <a:t># cache-mode: write</a:t>
            </a:r>
          </a:p>
          <a:p>
            <a:pPr algn="l">
              <a:lnSpc>
                <a:spcPct val="110000"/>
              </a:lnSpc>
              <a:spcAft>
                <a:spcPts val="0"/>
              </a:spcAft>
            </a:pPr>
            <a:r>
              <a:rPr sz="1500" b="0">
                <a:solidFill>
                  <a:srgbClr val="0E1022"/>
                </a:solidFill>
                <a:latin typeface="Consolas"/>
              </a:rPr>
              <a:t># Effective access still cannot exceed the caller.</a:t>
            </a:r>
          </a:p>
        </p:txBody>
      </p:sp>
      <p:sp>
        <p:nvSpPr>
          <p:cNvPr id="5" name="TextBox 4"/>
          <p:cNvSpPr txBox="1"/>
          <p:nvPr/>
        </p:nvSpPr>
        <p:spPr>
          <a:xfrm>
            <a:off x="9326880" y="2834640"/>
            <a:ext cx="4663440" cy="320040"/>
          </a:xfrm>
          <a:prstGeom prst="rect">
            <a:avLst/>
          </a:prstGeom>
          <a:noFill/>
        </p:spPr>
        <p:txBody>
          <a:bodyPr wrap="square" lIns="18288" rIns="18288" tIns="18288" bIns="18288" anchor="t">
            <a:normAutofit/>
          </a:bodyPr>
          <a:lstStyle/>
          <a:p>
            <a:pPr algn="l">
              <a:spcAft>
                <a:spcPts val="800"/>
              </a:spcAft>
            </a:pPr>
            <a:r>
              <a:rPr sz="2000" b="1">
                <a:solidFill>
                  <a:srgbClr val="0E1022"/>
                </a:solidFill>
                <a:latin typeface="Arial"/>
              </a:rPr>
              <a:t>Caller</a:t>
            </a:r>
          </a:p>
        </p:txBody>
      </p:sp>
      <p:sp>
        <p:nvSpPr>
          <p:cNvPr id="6" name="TextBox 5"/>
          <p:cNvSpPr txBox="1"/>
          <p:nvPr/>
        </p:nvSpPr>
        <p:spPr>
          <a:xfrm>
            <a:off x="9326880" y="3264408"/>
            <a:ext cx="4663440" cy="612648"/>
          </a:xfrm>
          <a:prstGeom prst="rect">
            <a:avLst/>
          </a:prstGeom>
          <a:noFill/>
        </p:spPr>
        <p:txBody>
          <a:bodyPr wrap="square" lIns="18288" rIns="18288" tIns="18288" bIns="18288" anchor="t">
            <a:normAutofit/>
          </a:bodyPr>
          <a:lstStyle/>
          <a:p>
            <a:pPr algn="l">
              <a:spcAft>
                <a:spcPts val="800"/>
              </a:spcAft>
            </a:pPr>
            <a:r>
              <a:rPr sz="1900" b="0">
                <a:solidFill>
                  <a:srgbClr val="555B65"/>
                </a:solidFill>
                <a:latin typeface="Arial"/>
              </a:rPr>
              <a:t>Grants read-only cache access.</a:t>
            </a:r>
          </a:p>
        </p:txBody>
      </p:sp>
      <p:sp>
        <p:nvSpPr>
          <p:cNvPr id="7" name="TextBox 6"/>
          <p:cNvSpPr txBox="1"/>
          <p:nvPr/>
        </p:nvSpPr>
        <p:spPr>
          <a:xfrm>
            <a:off x="9326880" y="4023360"/>
            <a:ext cx="4663440" cy="320040"/>
          </a:xfrm>
          <a:prstGeom prst="rect">
            <a:avLst/>
          </a:prstGeom>
          <a:noFill/>
        </p:spPr>
        <p:txBody>
          <a:bodyPr wrap="square" lIns="18288" rIns="18288" tIns="18288" bIns="18288" anchor="t">
            <a:normAutofit/>
          </a:bodyPr>
          <a:lstStyle/>
          <a:p>
            <a:pPr algn="l">
              <a:spcAft>
                <a:spcPts val="800"/>
              </a:spcAft>
            </a:pPr>
            <a:r>
              <a:rPr sz="2000" b="1">
                <a:solidFill>
                  <a:srgbClr val="0E1022"/>
                </a:solidFill>
                <a:latin typeface="Arial"/>
              </a:rPr>
              <a:t>Called workflow</a:t>
            </a:r>
          </a:p>
        </p:txBody>
      </p:sp>
      <p:sp>
        <p:nvSpPr>
          <p:cNvPr id="8" name="TextBox 7"/>
          <p:cNvSpPr txBox="1"/>
          <p:nvPr/>
        </p:nvSpPr>
        <p:spPr>
          <a:xfrm>
            <a:off x="9326880" y="4453128"/>
            <a:ext cx="4663440" cy="612648"/>
          </a:xfrm>
          <a:prstGeom prst="rect">
            <a:avLst/>
          </a:prstGeom>
          <a:noFill/>
        </p:spPr>
        <p:txBody>
          <a:bodyPr wrap="square" lIns="18288" rIns="18288" tIns="18288" bIns="18288" anchor="t">
            <a:normAutofit/>
          </a:bodyPr>
          <a:lstStyle/>
          <a:p>
            <a:pPr algn="l">
              <a:spcAft>
                <a:spcPts val="800"/>
              </a:spcAft>
            </a:pPr>
            <a:r>
              <a:rPr sz="1900" b="0">
                <a:solidFill>
                  <a:srgbClr val="555B65"/>
                </a:solidFill>
                <a:latin typeface="Arial"/>
              </a:rPr>
              <a:t>Requests write but cannot elevate.</a:t>
            </a:r>
          </a:p>
        </p:txBody>
      </p:sp>
      <p:sp>
        <p:nvSpPr>
          <p:cNvPr id="9" name="TextBox 8"/>
          <p:cNvSpPr txBox="1"/>
          <p:nvPr/>
        </p:nvSpPr>
        <p:spPr>
          <a:xfrm>
            <a:off x="9326880" y="5212080"/>
            <a:ext cx="4663440" cy="320040"/>
          </a:xfrm>
          <a:prstGeom prst="rect">
            <a:avLst/>
          </a:prstGeom>
          <a:noFill/>
        </p:spPr>
        <p:txBody>
          <a:bodyPr wrap="square" lIns="18288" rIns="18288" tIns="18288" bIns="18288" anchor="t">
            <a:normAutofit/>
          </a:bodyPr>
          <a:lstStyle/>
          <a:p>
            <a:pPr algn="l">
              <a:spcAft>
                <a:spcPts val="800"/>
              </a:spcAft>
            </a:pPr>
            <a:r>
              <a:rPr sz="2000" b="1">
                <a:solidFill>
                  <a:srgbClr val="0E1022"/>
                </a:solidFill>
                <a:latin typeface="Arial"/>
              </a:rPr>
              <a:t>Evidence</a:t>
            </a:r>
          </a:p>
        </p:txBody>
      </p:sp>
      <p:sp>
        <p:nvSpPr>
          <p:cNvPr id="10" name="TextBox 9"/>
          <p:cNvSpPr txBox="1"/>
          <p:nvPr/>
        </p:nvSpPr>
        <p:spPr>
          <a:xfrm>
            <a:off x="9326880" y="5641848"/>
            <a:ext cx="4663440" cy="612648"/>
          </a:xfrm>
          <a:prstGeom prst="rect">
            <a:avLst/>
          </a:prstGeom>
          <a:noFill/>
        </p:spPr>
        <p:txBody>
          <a:bodyPr wrap="square" lIns="18288" rIns="18288" tIns="18288" bIns="18288" anchor="t">
            <a:normAutofit/>
          </a:bodyPr>
          <a:lstStyle/>
          <a:p>
            <a:pPr algn="l">
              <a:spcAft>
                <a:spcPts val="800"/>
              </a:spcAft>
            </a:pPr>
            <a:r>
              <a:rPr sz="1900" b="0">
                <a:solidFill>
                  <a:srgbClr val="555B65"/>
                </a:solidFill>
                <a:latin typeface="Arial"/>
              </a:rPr>
              <a:t>Restore succeeds; candidate save is absent.</a:t>
            </a:r>
          </a:p>
        </p:txBody>
      </p:sp>
      <p:sp>
        <p:nvSpPr>
          <p:cNvPr id="11" name="TextBox 10"/>
          <p:cNvSpPr txBox="1"/>
          <p:nvPr/>
        </p:nvSpPr>
        <p:spPr>
          <a:xfrm>
            <a:off x="594360" y="7406640"/>
            <a:ext cx="9601200" cy="228600"/>
          </a:xfrm>
          <a:prstGeom prst="rect">
            <a:avLst/>
          </a:prstGeom>
          <a:noFill/>
        </p:spPr>
        <p:txBody>
          <a:bodyPr wrap="square" lIns="18288" rIns="18288" tIns="18288" bIns="18288" anchor="t">
            <a:normAutofit/>
          </a:bodyPr>
          <a:lstStyle/>
          <a:p>
            <a:pPr algn="l">
              <a:spcAft>
                <a:spcPts val="800"/>
              </a:spcAft>
            </a:pPr>
            <a:r>
              <a:rPr sz="1100" b="0">
                <a:solidFill>
                  <a:srgbClr val="345282"/>
                </a:solidFill>
                <a:latin typeface="Arial"/>
                <a:hlinkClick r:id="rId3"/>
              </a:rPr>
              <a:t>Cache-mode release and reusable-workflow semantics</a:t>
            </a:r>
          </a:p>
        </p:txBody>
      </p:sp>
      <p:sp>
        <p:nvSpPr>
          <p:cNvPr id="12" name="TextBox 11"/>
          <p:cNvSpPr txBox="1"/>
          <p:nvPr/>
        </p:nvSpPr>
        <p:spPr>
          <a:xfrm>
            <a:off x="10972800" y="7406640"/>
            <a:ext cx="3063240" cy="228600"/>
          </a:xfrm>
          <a:prstGeom prst="rect">
            <a:avLst/>
          </a:prstGeom>
          <a:noFill/>
        </p:spPr>
        <p:txBody>
          <a:bodyPr wrap="square" lIns="18288" rIns="18288" tIns="18288" bIns="18288" anchor="t">
            <a:normAutofit/>
          </a:bodyPr>
          <a:lstStyle/>
          <a:p>
            <a:pPr algn="r">
              <a:spcAft>
                <a:spcPts val="800"/>
              </a:spcAft>
            </a:pPr>
            <a:r>
              <a:rPr sz="1100" b="0">
                <a:solidFill>
                  <a:srgbClr val="555B65"/>
                </a:solidFill>
                <a:latin typeface="Arial"/>
              </a:rPr>
              <a:t>09-11 min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886968"/>
            <a:ext cx="13441680" cy="237744"/>
          </a:xfrm>
          <a:prstGeom prst="rect">
            <a:avLst/>
          </a:prstGeom>
          <a:noFill/>
        </p:spPr>
        <p:txBody>
          <a:bodyPr wrap="square" lIns="18288" rIns="18288" tIns="18288" bIns="18288" anchor="t">
            <a:normAutofit/>
          </a:bodyPr>
          <a:lstStyle/>
          <a:p>
            <a:pPr algn="l">
              <a:spcAft>
                <a:spcPts val="800"/>
              </a:spcAft>
            </a:pPr>
            <a:r>
              <a:rPr sz="1100" b="0">
                <a:solidFill>
                  <a:srgbClr val="555B65"/>
                </a:solidFill>
                <a:latin typeface="Arial"/>
              </a:rPr>
              <a:t>DXC | GitHub Actions Office Hour</a:t>
            </a:r>
          </a:p>
        </p:txBody>
      </p:sp>
      <p:sp>
        <p:nvSpPr>
          <p:cNvPr id="3" name="TextBox 2"/>
          <p:cNvSpPr txBox="1"/>
          <p:nvPr/>
        </p:nvSpPr>
        <p:spPr>
          <a:xfrm>
            <a:off x="484632" y="1261872"/>
            <a:ext cx="13670280" cy="987552"/>
          </a:xfrm>
          <a:prstGeom prst="rect">
            <a:avLst/>
          </a:prstGeom>
          <a:noFill/>
        </p:spPr>
        <p:txBody>
          <a:bodyPr wrap="square" lIns="18288" rIns="18288" tIns="18288" bIns="18288" anchor="t">
            <a:normAutofit/>
          </a:bodyPr>
          <a:lstStyle/>
          <a:p>
            <a:pPr algn="l">
              <a:spcAft>
                <a:spcPts val="800"/>
              </a:spcAft>
            </a:pPr>
            <a:r>
              <a:rPr sz="3200" b="1">
                <a:solidFill>
                  <a:srgbClr val="0E1022"/>
                </a:solidFill>
                <a:latin typeface="Arial"/>
              </a:rPr>
              <a:t>Demo 1 | Prove the permission matrix</a:t>
            </a:r>
          </a:p>
        </p:txBody>
      </p:sp>
      <p:sp>
        <p:nvSpPr>
          <p:cNvPr id="4" name="TextBox 3"/>
          <p:cNvSpPr txBox="1"/>
          <p:nvPr/>
        </p:nvSpPr>
        <p:spPr>
          <a:xfrm>
            <a:off x="594360" y="2395728"/>
            <a:ext cx="13441680" cy="237744"/>
          </a:xfrm>
          <a:prstGeom prst="rect">
            <a:avLst/>
          </a:prstGeom>
          <a:noFill/>
        </p:spPr>
        <p:txBody>
          <a:bodyPr wrap="square" lIns="18288" rIns="18288" tIns="18288" bIns="18288" anchor="t">
            <a:normAutofit/>
          </a:bodyPr>
          <a:lstStyle/>
          <a:p>
            <a:pPr algn="l">
              <a:lnSpc>
                <a:spcPct val="110000"/>
              </a:lnSpc>
              <a:spcAft>
                <a:spcPts val="0"/>
              </a:spcAft>
            </a:pPr>
            <a:r>
              <a:rPr sz="1300" b="0">
                <a:solidFill>
                  <a:srgbClr val="345282"/>
                </a:solidFill>
                <a:latin typeface="Consolas"/>
              </a:rPr>
              <a:t>demo-1-cache-modes.yml</a:t>
            </a:r>
          </a:p>
        </p:txBody>
      </p:sp>
      <p:sp>
        <p:nvSpPr>
          <p:cNvPr id="5" name="Rounded Rectangle 4"/>
          <p:cNvSpPr/>
          <p:nvPr/>
        </p:nvSpPr>
        <p:spPr>
          <a:xfrm>
            <a:off x="594360" y="2798064"/>
            <a:ext cx="9829800" cy="1078992"/>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926080"/>
            <a:ext cx="2743200" cy="749808"/>
          </a:xfrm>
          <a:prstGeom prst="rect">
            <a:avLst/>
          </a:prstGeom>
          <a:noFill/>
        </p:spPr>
        <p:txBody>
          <a:bodyPr wrap="square" lIns="18288" rIns="18288" tIns="18288" bIns="18288" anchor="t">
            <a:normAutofit/>
          </a:bodyPr>
          <a:lstStyle/>
          <a:p>
            <a:pPr algn="l">
              <a:spcAft>
                <a:spcPts val="800"/>
              </a:spcAft>
            </a:pPr>
            <a:r>
              <a:rPr sz="2100" b="1">
                <a:solidFill>
                  <a:srgbClr val="0E1022"/>
                </a:solidFill>
                <a:latin typeface="Arial"/>
              </a:rPr>
              <a:t>1. Launch</a:t>
            </a:r>
          </a:p>
        </p:txBody>
      </p:sp>
      <p:sp>
        <p:nvSpPr>
          <p:cNvPr id="7" name="TextBox 6"/>
          <p:cNvSpPr txBox="1"/>
          <p:nvPr/>
        </p:nvSpPr>
        <p:spPr>
          <a:xfrm>
            <a:off x="3657600" y="2926080"/>
            <a:ext cx="6537960" cy="813816"/>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Actions &gt; Demo 1 - Cache least privilege &gt; Run workflow</a:t>
            </a:r>
          </a:p>
        </p:txBody>
      </p:sp>
      <p:sp>
        <p:nvSpPr>
          <p:cNvPr id="8" name="Rounded Rectangle 7"/>
          <p:cNvSpPr/>
          <p:nvPr/>
        </p:nvSpPr>
        <p:spPr>
          <a:xfrm>
            <a:off x="594360" y="4105656"/>
            <a:ext cx="9829800" cy="1078992"/>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233672"/>
            <a:ext cx="2743200" cy="749808"/>
          </a:xfrm>
          <a:prstGeom prst="rect">
            <a:avLst/>
          </a:prstGeom>
          <a:noFill/>
        </p:spPr>
        <p:txBody>
          <a:bodyPr wrap="square" lIns="18288" rIns="18288" tIns="18288" bIns="18288" anchor="t">
            <a:normAutofit/>
          </a:bodyPr>
          <a:lstStyle/>
          <a:p>
            <a:pPr algn="l">
              <a:spcAft>
                <a:spcPts val="800"/>
              </a:spcAft>
            </a:pPr>
            <a:r>
              <a:rPr sz="2100" b="1">
                <a:solidFill>
                  <a:srgbClr val="0E1022"/>
                </a:solidFill>
                <a:latin typeface="Arial"/>
              </a:rPr>
              <a:t>2. Observe restores</a:t>
            </a:r>
          </a:p>
        </p:txBody>
      </p:sp>
      <p:sp>
        <p:nvSpPr>
          <p:cNvPr id="10" name="TextBox 9"/>
          <p:cNvSpPr txBox="1"/>
          <p:nvPr/>
        </p:nvSpPr>
        <p:spPr>
          <a:xfrm>
            <a:off x="3657600" y="4233672"/>
            <a:ext cx="6537960" cy="813816"/>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Open the four reusable probe summaries and marker assertions.</a:t>
            </a:r>
          </a:p>
        </p:txBody>
      </p:sp>
      <p:sp>
        <p:nvSpPr>
          <p:cNvPr id="11" name="Rounded Rectangle 10"/>
          <p:cNvSpPr/>
          <p:nvPr/>
        </p:nvSpPr>
        <p:spPr>
          <a:xfrm>
            <a:off x="594360" y="5413248"/>
            <a:ext cx="9829800" cy="1078992"/>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5541264"/>
            <a:ext cx="2743200" cy="749808"/>
          </a:xfrm>
          <a:prstGeom prst="rect">
            <a:avLst/>
          </a:prstGeom>
          <a:noFill/>
        </p:spPr>
        <p:txBody>
          <a:bodyPr wrap="square" lIns="18288" rIns="18288" tIns="18288" bIns="18288" anchor="t">
            <a:normAutofit/>
          </a:bodyPr>
          <a:lstStyle/>
          <a:p>
            <a:pPr algn="l">
              <a:spcAft>
                <a:spcPts val="800"/>
              </a:spcAft>
            </a:pPr>
            <a:r>
              <a:rPr sz="2100" b="1">
                <a:solidFill>
                  <a:srgbClr val="0E1022"/>
                </a:solidFill>
                <a:latin typeface="Arial"/>
              </a:rPr>
              <a:t>3. Verify saves</a:t>
            </a:r>
          </a:p>
        </p:txBody>
      </p:sp>
      <p:sp>
        <p:nvSpPr>
          <p:cNvPr id="13" name="TextBox 12"/>
          <p:cNvSpPr txBox="1"/>
          <p:nvPr/>
        </p:nvSpPr>
        <p:spPr>
          <a:xfrm>
            <a:off x="3657600" y="5541264"/>
            <a:ext cx="6537960" cy="813816"/>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Open the independent cache-state verifier and evidence artifact.</a:t>
            </a:r>
          </a:p>
        </p:txBody>
      </p:sp>
      <p:sp>
        <p:nvSpPr>
          <p:cNvPr id="14" name="Rounded Rectangle 13"/>
          <p:cNvSpPr/>
          <p:nvPr/>
        </p:nvSpPr>
        <p:spPr>
          <a:xfrm>
            <a:off x="10716768" y="2798064"/>
            <a:ext cx="3319272" cy="3703320"/>
          </a:xfrm>
          <a:prstGeom prst="roundRect">
            <a:avLst/>
          </a:prstGeom>
          <a:solidFill>
            <a:srgbClr val="0E1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17936" y="2980944"/>
            <a:ext cx="2916936" cy="530352"/>
          </a:xfrm>
          <a:prstGeom prst="rect">
            <a:avLst/>
          </a:prstGeom>
          <a:noFill/>
        </p:spPr>
        <p:txBody>
          <a:bodyPr wrap="square" lIns="18288" rIns="18288" tIns="18288" bIns="18288" anchor="t">
            <a:normAutofit/>
          </a:bodyPr>
          <a:lstStyle/>
          <a:p>
            <a:pPr algn="l">
              <a:spcAft>
                <a:spcPts val="800"/>
              </a:spcAft>
            </a:pPr>
            <a:r>
              <a:rPr sz="2300" b="1">
                <a:solidFill>
                  <a:srgbClr val="FFFFFF"/>
                </a:solidFill>
                <a:latin typeface="Arial"/>
              </a:rPr>
              <a:t>Run from GitHub</a:t>
            </a:r>
          </a:p>
        </p:txBody>
      </p:sp>
      <p:sp>
        <p:nvSpPr>
          <p:cNvPr id="16" name="TextBox 15"/>
          <p:cNvSpPr txBox="1"/>
          <p:nvPr/>
        </p:nvSpPr>
        <p:spPr>
          <a:xfrm>
            <a:off x="10917936" y="3730752"/>
            <a:ext cx="2916936" cy="2569463"/>
          </a:xfrm>
          <a:prstGeom prst="rect">
            <a:avLst/>
          </a:prstGeom>
          <a:noFill/>
        </p:spPr>
        <p:txBody>
          <a:bodyPr wrap="square" lIns="18288" rIns="18288" tIns="18288" bIns="18288" anchor="t">
            <a:normAutofit/>
          </a:bodyPr>
          <a:lstStyle/>
          <a:p>
            <a:pPr algn="l">
              <a:spcAft>
                <a:spcPts val="800"/>
              </a:spcAft>
            </a:pPr>
            <a:r>
              <a:rPr sz="2000" b="0">
                <a:solidFill>
                  <a:srgbClr val="FFFFFF"/>
                </a:solidFill>
                <a:latin typeface="Arial"/>
              </a:rPr>
              <a:t>Actions tab</a:t>
            </a:r>
          </a:p>
          <a:p>
            <a:pPr algn="l">
              <a:spcAft>
                <a:spcPts val="800"/>
              </a:spcAft>
            </a:pPr>
            <a:r>
              <a:rPr sz="2000" b="0">
                <a:solidFill>
                  <a:srgbClr val="FFFFFF"/>
                </a:solidFill>
                <a:latin typeface="Arial"/>
              </a:rPr>
              <a:t>Manual trigger</a:t>
            </a:r>
          </a:p>
          <a:p>
            <a:pPr algn="l">
              <a:spcAft>
                <a:spcPts val="800"/>
              </a:spcAft>
            </a:pPr>
            <a:r>
              <a:rPr sz="2000" b="0">
                <a:solidFill>
                  <a:srgbClr val="FFFFFF"/>
                </a:solidFill>
                <a:latin typeface="Arial"/>
              </a:rPr>
              <a:t>Job summaries</a:t>
            </a:r>
          </a:p>
          <a:p>
            <a:pPr algn="l">
              <a:spcAft>
                <a:spcPts val="800"/>
              </a:spcAft>
            </a:pPr>
            <a:r>
              <a:rPr sz="2000" b="0">
                <a:solidFill>
                  <a:srgbClr val="FFFFFF"/>
                </a:solidFill>
                <a:latin typeface="Arial"/>
              </a:rPr>
              <a:t>Evidence artifacts</a:t>
            </a:r>
          </a:p>
        </p:txBody>
      </p:sp>
      <p:sp>
        <p:nvSpPr>
          <p:cNvPr id="17" name="Rounded Rectangle 16"/>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118872">
            <a:normAutofit/>
          </a:bodyPr>
          <a:lstStyle/>
          <a:p>
            <a:pPr algn="l">
              <a:spcAft>
                <a:spcPts val="800"/>
              </a:spcAft>
            </a:pPr>
            <a:r>
              <a:rPr sz="1700" b="0">
                <a:solidFill>
                  <a:srgbClr val="0E1022"/>
                </a:solidFill>
                <a:latin typeface="Arial"/>
              </a:rPr>
              <a:t>Expected saves: write + write-only only. Expected restores: read + write only.</a:t>
            </a:r>
          </a:p>
        </p:txBody>
      </p:sp>
      <p:sp>
        <p:nvSpPr>
          <p:cNvPr id="18" name="TextBox 17"/>
          <p:cNvSpPr txBox="1"/>
          <p:nvPr/>
        </p:nvSpPr>
        <p:spPr>
          <a:xfrm>
            <a:off x="10972800" y="7406640"/>
            <a:ext cx="3063240" cy="228600"/>
          </a:xfrm>
          <a:prstGeom prst="rect">
            <a:avLst/>
          </a:prstGeom>
          <a:noFill/>
        </p:spPr>
        <p:txBody>
          <a:bodyPr wrap="square" lIns="18288" rIns="18288" tIns="18288" bIns="18288" anchor="t">
            <a:normAutofit/>
          </a:bodyPr>
          <a:lstStyle/>
          <a:p>
            <a:pPr algn="r">
              <a:spcAft>
                <a:spcPts val="800"/>
              </a:spcAft>
            </a:pPr>
            <a:r>
              <a:rPr sz="1100" b="0">
                <a:solidFill>
                  <a:srgbClr val="555B65"/>
                </a:solidFill>
                <a:latin typeface="Arial"/>
              </a:rPr>
              <a:t>11-16 min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886968"/>
            <a:ext cx="13441680" cy="237744"/>
          </a:xfrm>
          <a:prstGeom prst="rect">
            <a:avLst/>
          </a:prstGeom>
          <a:noFill/>
        </p:spPr>
        <p:txBody>
          <a:bodyPr wrap="square" lIns="18288" rIns="18288" tIns="18288" bIns="18288" anchor="t">
            <a:normAutofit/>
          </a:bodyPr>
          <a:lstStyle/>
          <a:p>
            <a:pPr algn="l">
              <a:spcAft>
                <a:spcPts val="800"/>
              </a:spcAft>
            </a:pPr>
            <a:r>
              <a:rPr sz="1100" b="0">
                <a:solidFill>
                  <a:srgbClr val="555B65"/>
                </a:solidFill>
                <a:latin typeface="Arial"/>
              </a:rPr>
              <a:t>2 | Workflow execution protections | GA</a:t>
            </a:r>
          </a:p>
        </p:txBody>
      </p:sp>
      <p:sp>
        <p:nvSpPr>
          <p:cNvPr id="3" name="TextBox 2"/>
          <p:cNvSpPr txBox="1"/>
          <p:nvPr/>
        </p:nvSpPr>
        <p:spPr>
          <a:xfrm>
            <a:off x="484632" y="1261872"/>
            <a:ext cx="13670280" cy="987552"/>
          </a:xfrm>
          <a:prstGeom prst="rect">
            <a:avLst/>
          </a:prstGeom>
          <a:noFill/>
        </p:spPr>
        <p:txBody>
          <a:bodyPr wrap="square" lIns="18288" rIns="18288" tIns="18288" bIns="18288" anchor="t">
            <a:normAutofit/>
          </a:bodyPr>
          <a:lstStyle/>
          <a:p>
            <a:pPr algn="l">
              <a:spcAft>
                <a:spcPts val="800"/>
              </a:spcAft>
            </a:pPr>
            <a:r>
              <a:rPr sz="3200" b="1">
                <a:solidFill>
                  <a:srgbClr val="0E1022"/>
                </a:solidFill>
                <a:latin typeface="Arial"/>
              </a:rPr>
              <a:t>Execution protections now target individual workflow files</a:t>
            </a:r>
          </a:p>
        </p:txBody>
      </p:sp>
      <p:sp>
        <p:nvSpPr>
          <p:cNvPr id="4" name="Rounded Rectangle 3"/>
          <p:cNvSpPr/>
          <p:nvPr/>
        </p:nvSpPr>
        <p:spPr>
          <a:xfrm>
            <a:off x="594360" y="2834640"/>
            <a:ext cx="4297680" cy="333756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3017520"/>
            <a:ext cx="3895344" cy="530352"/>
          </a:xfrm>
          <a:prstGeom prst="rect">
            <a:avLst/>
          </a:prstGeom>
          <a:noFill/>
        </p:spPr>
        <p:txBody>
          <a:bodyPr wrap="square" lIns="18288" rIns="18288" tIns="18288" bIns="18288" anchor="t">
            <a:normAutofit/>
          </a:bodyPr>
          <a:lstStyle/>
          <a:p>
            <a:pPr algn="l">
              <a:spcAft>
                <a:spcPts val="800"/>
              </a:spcAft>
            </a:pPr>
            <a:r>
              <a:rPr sz="2300" b="1">
                <a:solidFill>
                  <a:srgbClr val="0E1022"/>
                </a:solidFill>
                <a:latin typeface="Arial"/>
              </a:rPr>
              <a:t>Who</a:t>
            </a:r>
          </a:p>
        </p:txBody>
      </p:sp>
      <p:sp>
        <p:nvSpPr>
          <p:cNvPr id="6" name="TextBox 5"/>
          <p:cNvSpPr txBox="1"/>
          <p:nvPr/>
        </p:nvSpPr>
        <p:spPr>
          <a:xfrm>
            <a:off x="795528" y="3767328"/>
            <a:ext cx="3895344" cy="2203704"/>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Actor rules allow selected users,</a:t>
            </a:r>
          </a:p>
          <a:p>
            <a:pPr algn="l">
              <a:spcAft>
                <a:spcPts val="800"/>
              </a:spcAft>
            </a:pPr>
            <a:r>
              <a:rPr sz="2000" b="0">
                <a:solidFill>
                  <a:srgbClr val="555B65"/>
                </a:solidFill>
                <a:latin typeface="Arial"/>
              </a:rPr>
              <a:t>roles, teams, or app identities.</a:t>
            </a:r>
          </a:p>
        </p:txBody>
      </p:sp>
      <p:sp>
        <p:nvSpPr>
          <p:cNvPr id="7" name="Rounded Rectangle 6"/>
          <p:cNvSpPr/>
          <p:nvPr/>
        </p:nvSpPr>
        <p:spPr>
          <a:xfrm>
            <a:off x="5166360" y="2834640"/>
            <a:ext cx="4297680" cy="333756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67528" y="3017520"/>
            <a:ext cx="3895344" cy="530352"/>
          </a:xfrm>
          <a:prstGeom prst="rect">
            <a:avLst/>
          </a:prstGeom>
          <a:noFill/>
        </p:spPr>
        <p:txBody>
          <a:bodyPr wrap="square" lIns="18288" rIns="18288" tIns="18288" bIns="18288" anchor="t">
            <a:normAutofit/>
          </a:bodyPr>
          <a:lstStyle/>
          <a:p>
            <a:pPr algn="l">
              <a:spcAft>
                <a:spcPts val="800"/>
              </a:spcAft>
            </a:pPr>
            <a:r>
              <a:rPr sz="2300" b="1">
                <a:solidFill>
                  <a:srgbClr val="0E1022"/>
                </a:solidFill>
                <a:latin typeface="Arial"/>
              </a:rPr>
              <a:t>What</a:t>
            </a:r>
          </a:p>
        </p:txBody>
      </p:sp>
      <p:sp>
        <p:nvSpPr>
          <p:cNvPr id="9" name="TextBox 8"/>
          <p:cNvSpPr txBox="1"/>
          <p:nvPr/>
        </p:nvSpPr>
        <p:spPr>
          <a:xfrm>
            <a:off x="5367528" y="3767328"/>
            <a:ext cx="3895344" cy="2203704"/>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Event rules allow selected triggers,</a:t>
            </a:r>
          </a:p>
          <a:p>
            <a:pPr algn="l">
              <a:spcAft>
                <a:spcPts val="800"/>
              </a:spcAft>
            </a:pPr>
            <a:r>
              <a:rPr sz="2000" b="0">
                <a:solidFill>
                  <a:srgbClr val="555B65"/>
                </a:solidFill>
                <a:latin typeface="Arial"/>
              </a:rPr>
              <a:t>including workflow_dispatch.</a:t>
            </a:r>
          </a:p>
        </p:txBody>
      </p:sp>
      <p:sp>
        <p:nvSpPr>
          <p:cNvPr id="10" name="Rounded Rectangle 9"/>
          <p:cNvSpPr/>
          <p:nvPr/>
        </p:nvSpPr>
        <p:spPr>
          <a:xfrm>
            <a:off x="9738360" y="2834640"/>
            <a:ext cx="4297680" cy="333756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39528" y="3017520"/>
            <a:ext cx="3895344" cy="530352"/>
          </a:xfrm>
          <a:prstGeom prst="rect">
            <a:avLst/>
          </a:prstGeom>
          <a:noFill/>
        </p:spPr>
        <p:txBody>
          <a:bodyPr wrap="square" lIns="18288" rIns="18288" tIns="18288" bIns="18288" anchor="t">
            <a:normAutofit/>
          </a:bodyPr>
          <a:lstStyle/>
          <a:p>
            <a:pPr algn="l">
              <a:spcAft>
                <a:spcPts val="800"/>
              </a:spcAft>
            </a:pPr>
            <a:r>
              <a:rPr sz="2300" b="1">
                <a:solidFill>
                  <a:srgbClr val="0E1022"/>
                </a:solidFill>
                <a:latin typeface="Arial"/>
              </a:rPr>
              <a:t>Where</a:t>
            </a:r>
          </a:p>
        </p:txBody>
      </p:sp>
      <p:sp>
        <p:nvSpPr>
          <p:cNvPr id="12" name="TextBox 11"/>
          <p:cNvSpPr txBox="1"/>
          <p:nvPr/>
        </p:nvSpPr>
        <p:spPr>
          <a:xfrm>
            <a:off x="9939528" y="3767328"/>
            <a:ext cx="3895344" cy="2203704"/>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Workflow-file targeting scopes policy</a:t>
            </a:r>
          </a:p>
          <a:p>
            <a:pPr algn="l">
              <a:spcAft>
                <a:spcPts val="800"/>
              </a:spcAft>
            </a:pPr>
            <a:r>
              <a:rPr sz="2000" b="0">
                <a:solidFill>
                  <a:srgbClr val="555B65"/>
                </a:solidFill>
                <a:latin typeface="Arial"/>
              </a:rPr>
              <a:t>to sensitive automation in one repo.</a:t>
            </a:r>
          </a:p>
        </p:txBody>
      </p:sp>
      <p:sp>
        <p:nvSpPr>
          <p:cNvPr id="13" name="Rounded Rectangle 12"/>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118872">
            <a:normAutofit/>
          </a:bodyPr>
          <a:lstStyle/>
          <a:p>
            <a:pPr algn="l">
              <a:spcAft>
                <a:spcPts val="800"/>
              </a:spcAft>
            </a:pPr>
            <a:r>
              <a:rPr sz="1700" b="0">
                <a:solidFill>
                  <a:srgbClr val="0E1022"/>
                </a:solidFill>
                <a:latin typeface="Arial"/>
              </a:rPr>
              <a:t>GA adds file targeting, insights, and REST administration. Evaluate requires Enterprise Cloud.</a:t>
            </a:r>
          </a:p>
        </p:txBody>
      </p:sp>
      <p:sp>
        <p:nvSpPr>
          <p:cNvPr id="14" name="TextBox 13"/>
          <p:cNvSpPr txBox="1"/>
          <p:nvPr/>
        </p:nvSpPr>
        <p:spPr>
          <a:xfrm>
            <a:off x="594360" y="7406640"/>
            <a:ext cx="9601200" cy="228600"/>
          </a:xfrm>
          <a:prstGeom prst="rect">
            <a:avLst/>
          </a:prstGeom>
          <a:noFill/>
        </p:spPr>
        <p:txBody>
          <a:bodyPr wrap="square" lIns="18288" rIns="18288" tIns="18288" bIns="18288" anchor="t">
            <a:normAutofit/>
          </a:bodyPr>
          <a:lstStyle/>
          <a:p>
            <a:pPr algn="l">
              <a:spcAft>
                <a:spcPts val="800"/>
              </a:spcAft>
            </a:pPr>
            <a:r>
              <a:rPr sz="1100" b="0">
                <a:solidFill>
                  <a:srgbClr val="345282"/>
                </a:solidFill>
                <a:latin typeface="Arial"/>
                <a:hlinkClick r:id="rId3"/>
              </a:rPr>
              <a:t>GitHub Changelog | 17 Sep 2026</a:t>
            </a:r>
          </a:p>
        </p:txBody>
      </p:sp>
      <p:sp>
        <p:nvSpPr>
          <p:cNvPr id="15" name="TextBox 14"/>
          <p:cNvSpPr txBox="1"/>
          <p:nvPr/>
        </p:nvSpPr>
        <p:spPr>
          <a:xfrm>
            <a:off x="10972800" y="7406640"/>
            <a:ext cx="3063240" cy="228600"/>
          </a:xfrm>
          <a:prstGeom prst="rect">
            <a:avLst/>
          </a:prstGeom>
          <a:noFill/>
        </p:spPr>
        <p:txBody>
          <a:bodyPr wrap="square" lIns="18288" rIns="18288" tIns="18288" bIns="18288" anchor="t">
            <a:normAutofit/>
          </a:bodyPr>
          <a:lstStyle/>
          <a:p>
            <a:pPr algn="r">
              <a:spcAft>
                <a:spcPts val="800"/>
              </a:spcAft>
            </a:pPr>
            <a:r>
              <a:rPr sz="1100" b="0">
                <a:solidFill>
                  <a:srgbClr val="555B65"/>
                </a:solidFill>
                <a:latin typeface="Arial"/>
              </a:rPr>
              <a:t>16-19 min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886968"/>
            <a:ext cx="13441680" cy="237744"/>
          </a:xfrm>
          <a:prstGeom prst="rect">
            <a:avLst/>
          </a:prstGeom>
          <a:noFill/>
        </p:spPr>
        <p:txBody>
          <a:bodyPr wrap="square" lIns="18288" rIns="18288" tIns="18288" bIns="18288" anchor="t">
            <a:normAutofit/>
          </a:bodyPr>
          <a:lstStyle/>
          <a:p>
            <a:pPr algn="l">
              <a:spcAft>
                <a:spcPts val="800"/>
              </a:spcAft>
            </a:pPr>
            <a:r>
              <a:rPr sz="1100" b="0">
                <a:solidFill>
                  <a:srgbClr val="555B65"/>
                </a:solidFill>
                <a:latin typeface="Arial"/>
              </a:rPr>
              <a:t>2 | This demo changes one disposable workflow only</a:t>
            </a:r>
          </a:p>
        </p:txBody>
      </p:sp>
      <p:sp>
        <p:nvSpPr>
          <p:cNvPr id="3" name="TextBox 2"/>
          <p:cNvSpPr txBox="1"/>
          <p:nvPr/>
        </p:nvSpPr>
        <p:spPr>
          <a:xfrm>
            <a:off x="484632" y="1261872"/>
            <a:ext cx="13670280" cy="987552"/>
          </a:xfrm>
          <a:prstGeom prst="rect">
            <a:avLst/>
          </a:prstGeom>
          <a:noFill/>
        </p:spPr>
        <p:txBody>
          <a:bodyPr wrap="square" lIns="18288" rIns="18288" tIns="18288" bIns="18288" anchor="t">
            <a:normAutofit/>
          </a:bodyPr>
          <a:lstStyle/>
          <a:p>
            <a:pPr algn="l">
              <a:spcAft>
                <a:spcPts val="800"/>
              </a:spcAft>
            </a:pPr>
            <a:r>
              <a:rPr sz="3200" b="1">
                <a:solidFill>
                  <a:srgbClr val="0E1022"/>
                </a:solidFill>
                <a:latin typeface="Arial"/>
              </a:rPr>
              <a:t>Policy as code, with a deliberately narrow target</a:t>
            </a:r>
          </a:p>
        </p:txBody>
      </p:sp>
      <p:sp>
        <p:nvSpPr>
          <p:cNvPr id="4" name="Rounded Rectangle 3"/>
          <p:cNvSpPr/>
          <p:nvPr/>
        </p:nvSpPr>
        <p:spPr>
          <a:xfrm>
            <a:off x="594360" y="2761488"/>
            <a:ext cx="8412480" cy="361188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118872">
            <a:normAutofit/>
          </a:bodyPr>
          <a:lstStyle/>
          <a:p>
            <a:pPr algn="l">
              <a:lnSpc>
                <a:spcPct val="110000"/>
              </a:lnSpc>
              <a:spcAft>
                <a:spcPts val="0"/>
              </a:spcAft>
            </a:pPr>
            <a:r>
              <a:rPr sz="1500" b="0">
                <a:solidFill>
                  <a:srgbClr val="0E1022"/>
                </a:solidFill>
                <a:latin typeface="Consolas"/>
              </a:rPr>
              <a:t>{</a:t>
            </a:r>
          </a:p>
          <a:p>
            <a:pPr algn="l">
              <a:lnSpc>
                <a:spcPct val="110000"/>
              </a:lnSpc>
              <a:spcAft>
                <a:spcPts val="0"/>
              </a:spcAft>
            </a:pPr>
            <a:r>
              <a:rPr sz="1500" b="0">
                <a:solidFill>
                  <a:srgbClr val="0E1022"/>
                </a:solidFill>
                <a:latin typeface="Consolas"/>
              </a:rPr>
              <a:t>  "enforcement": "evaluate",</a:t>
            </a:r>
          </a:p>
          <a:p>
            <a:pPr algn="l">
              <a:lnSpc>
                <a:spcPct val="110000"/>
              </a:lnSpc>
              <a:spcAft>
                <a:spcPts val="0"/>
              </a:spcAft>
            </a:pPr>
            <a:r>
              <a:rPr sz="1500" b="0">
                <a:solidFill>
                  <a:srgbClr val="0E1022"/>
                </a:solidFill>
                <a:latin typeface="Consolas"/>
              </a:rPr>
              <a:t>  "conditions": {</a:t>
            </a:r>
          </a:p>
          <a:p>
            <a:pPr algn="l">
              <a:lnSpc>
                <a:spcPct val="110000"/>
              </a:lnSpc>
              <a:spcAft>
                <a:spcPts val="0"/>
              </a:spcAft>
            </a:pPr>
            <a:r>
              <a:rPr sz="1500" b="0">
                <a:solidFill>
                  <a:srgbClr val="0E1022"/>
                </a:solidFill>
                <a:latin typeface="Consolas"/>
              </a:rPr>
              <a:t>    "workflow_path": {</a:t>
            </a:r>
          </a:p>
          <a:p>
            <a:pPr algn="l">
              <a:lnSpc>
                <a:spcPct val="110000"/>
              </a:lnSpc>
              <a:spcAft>
                <a:spcPts val="0"/>
              </a:spcAft>
            </a:pPr>
            <a:r>
              <a:rPr sz="1500" b="0">
                <a:solidFill>
                  <a:srgbClr val="0E1022"/>
                </a:solidFill>
                <a:latin typeface="Consolas"/>
              </a:rPr>
              <a:t>      "include": [".github/workflows/demo-2-policy-target.yml"],</a:t>
            </a:r>
          </a:p>
          <a:p>
            <a:pPr algn="l">
              <a:lnSpc>
                <a:spcPct val="110000"/>
              </a:lnSpc>
              <a:spcAft>
                <a:spcPts val="0"/>
              </a:spcAft>
            </a:pPr>
            <a:r>
              <a:rPr sz="1500" b="0">
                <a:solidFill>
                  <a:srgbClr val="0E1022"/>
                </a:solidFill>
                <a:latin typeface="Consolas"/>
              </a:rPr>
              <a:t>      "exclude": []</a:t>
            </a:r>
          </a:p>
          <a:p>
            <a:pPr algn="l">
              <a:lnSpc>
                <a:spcPct val="110000"/>
              </a:lnSpc>
              <a:spcAft>
                <a:spcPts val="0"/>
              </a:spcAft>
            </a:pPr>
            <a:r>
              <a:rPr sz="1500" b="0">
                <a:solidFill>
                  <a:srgbClr val="0E1022"/>
                </a:solidFill>
                <a:latin typeface="Consolas"/>
              </a:rPr>
              <a:t>    }</a:t>
            </a:r>
          </a:p>
          <a:p>
            <a:pPr algn="l">
              <a:lnSpc>
                <a:spcPct val="110000"/>
              </a:lnSpc>
              <a:spcAft>
                <a:spcPts val="0"/>
              </a:spcAft>
            </a:pPr>
            <a:r>
              <a:rPr sz="1500" b="0">
                <a:solidFill>
                  <a:srgbClr val="0E1022"/>
                </a:solidFill>
                <a:latin typeface="Consolas"/>
              </a:rPr>
              <a:t>  },</a:t>
            </a:r>
          </a:p>
          <a:p>
            <a:pPr algn="l">
              <a:lnSpc>
                <a:spcPct val="110000"/>
              </a:lnSpc>
              <a:spcAft>
                <a:spcPts val="0"/>
              </a:spcAft>
            </a:pPr>
            <a:r>
              <a:rPr sz="1500" b="0">
                <a:solidFill>
                  <a:srgbClr val="0E1022"/>
                </a:solidFill>
                <a:latin typeface="Consolas"/>
              </a:rPr>
              <a:t>  "rules": [{"type": "restrict_action_events",</a:t>
            </a:r>
          </a:p>
          <a:p>
            <a:pPr algn="l">
              <a:lnSpc>
                <a:spcPct val="110000"/>
              </a:lnSpc>
              <a:spcAft>
                <a:spcPts val="0"/>
              </a:spcAft>
            </a:pPr>
            <a:r>
              <a:rPr sz="1500" b="0">
                <a:solidFill>
                  <a:srgbClr val="0E1022"/>
                </a:solidFill>
                <a:latin typeface="Consolas"/>
              </a:rPr>
              <a:t>    "parameters": {"allowed_events": ["workflow_dispatch"]}}]</a:t>
            </a:r>
          </a:p>
          <a:p>
            <a:pPr algn="l">
              <a:lnSpc>
                <a:spcPct val="110000"/>
              </a:lnSpc>
              <a:spcAft>
                <a:spcPts val="0"/>
              </a:spcAft>
            </a:pPr>
            <a:r>
              <a:rPr sz="1500" b="0">
                <a:solidFill>
                  <a:srgbClr val="0E1022"/>
                </a:solidFill>
                <a:latin typeface="Consolas"/>
              </a:rPr>
              <a:t>}</a:t>
            </a:r>
          </a:p>
        </p:txBody>
      </p:sp>
      <p:sp>
        <p:nvSpPr>
          <p:cNvPr id="5" name="TextBox 4"/>
          <p:cNvSpPr txBox="1"/>
          <p:nvPr/>
        </p:nvSpPr>
        <p:spPr>
          <a:xfrm>
            <a:off x="9326880" y="2834640"/>
            <a:ext cx="4663440" cy="320040"/>
          </a:xfrm>
          <a:prstGeom prst="rect">
            <a:avLst/>
          </a:prstGeom>
          <a:noFill/>
        </p:spPr>
        <p:txBody>
          <a:bodyPr wrap="square" lIns="18288" rIns="18288" tIns="18288" bIns="18288" anchor="t">
            <a:normAutofit/>
          </a:bodyPr>
          <a:lstStyle/>
          <a:p>
            <a:pPr algn="l">
              <a:spcAft>
                <a:spcPts val="800"/>
              </a:spcAft>
            </a:pPr>
            <a:r>
              <a:rPr sz="2000" b="1">
                <a:solidFill>
                  <a:srgbClr val="0E1022"/>
                </a:solidFill>
                <a:latin typeface="Arial"/>
              </a:rPr>
              <a:t>Permitted</a:t>
            </a:r>
          </a:p>
        </p:txBody>
      </p:sp>
      <p:sp>
        <p:nvSpPr>
          <p:cNvPr id="6" name="TextBox 5"/>
          <p:cNvSpPr txBox="1"/>
          <p:nvPr/>
        </p:nvSpPr>
        <p:spPr>
          <a:xfrm>
            <a:off x="9326880" y="3264408"/>
            <a:ext cx="4663440" cy="612648"/>
          </a:xfrm>
          <a:prstGeom prst="rect">
            <a:avLst/>
          </a:prstGeom>
          <a:noFill/>
        </p:spPr>
        <p:txBody>
          <a:bodyPr wrap="square" lIns="18288" rIns="18288" tIns="18288" bIns="18288" anchor="t">
            <a:normAutofit/>
          </a:bodyPr>
          <a:lstStyle/>
          <a:p>
            <a:pPr algn="l">
              <a:spcAft>
                <a:spcPts val="800"/>
              </a:spcAft>
            </a:pPr>
            <a:r>
              <a:rPr sz="1900" b="0">
                <a:solidFill>
                  <a:srgbClr val="555B65"/>
                </a:solidFill>
                <a:latin typeface="Arial"/>
              </a:rPr>
              <a:t>Manual workflow_dispatch.</a:t>
            </a:r>
          </a:p>
        </p:txBody>
      </p:sp>
      <p:sp>
        <p:nvSpPr>
          <p:cNvPr id="7" name="TextBox 6"/>
          <p:cNvSpPr txBox="1"/>
          <p:nvPr/>
        </p:nvSpPr>
        <p:spPr>
          <a:xfrm>
            <a:off x="9326880" y="4023360"/>
            <a:ext cx="4663440" cy="320040"/>
          </a:xfrm>
          <a:prstGeom prst="rect">
            <a:avLst/>
          </a:prstGeom>
          <a:noFill/>
        </p:spPr>
        <p:txBody>
          <a:bodyPr wrap="square" lIns="18288" rIns="18288" tIns="18288" bIns="18288" anchor="t">
            <a:normAutofit/>
          </a:bodyPr>
          <a:lstStyle/>
          <a:p>
            <a:pPr algn="l">
              <a:spcAft>
                <a:spcPts val="800"/>
              </a:spcAft>
            </a:pPr>
            <a:r>
              <a:rPr sz="2000" b="1">
                <a:solidFill>
                  <a:srgbClr val="0E1022"/>
                </a:solidFill>
                <a:latin typeface="Arial"/>
              </a:rPr>
              <a:t>Disallowed</a:t>
            </a:r>
          </a:p>
        </p:txBody>
      </p:sp>
      <p:sp>
        <p:nvSpPr>
          <p:cNvPr id="8" name="TextBox 7"/>
          <p:cNvSpPr txBox="1"/>
          <p:nvPr/>
        </p:nvSpPr>
        <p:spPr>
          <a:xfrm>
            <a:off x="9326880" y="4453128"/>
            <a:ext cx="4663440" cy="612648"/>
          </a:xfrm>
          <a:prstGeom prst="rect">
            <a:avLst/>
          </a:prstGeom>
          <a:noFill/>
        </p:spPr>
        <p:txBody>
          <a:bodyPr wrap="square" lIns="18288" rIns="18288" tIns="18288" bIns="18288" anchor="t">
            <a:normAutofit/>
          </a:bodyPr>
          <a:lstStyle/>
          <a:p>
            <a:pPr algn="l">
              <a:spcAft>
                <a:spcPts val="800"/>
              </a:spcAft>
            </a:pPr>
            <a:r>
              <a:rPr sz="1900" b="0">
                <a:solidFill>
                  <a:srgbClr val="555B65"/>
                </a:solidFill>
                <a:latin typeface="Arial"/>
              </a:rPr>
              <a:t>Named repository_dispatch probe.</a:t>
            </a:r>
          </a:p>
        </p:txBody>
      </p:sp>
      <p:sp>
        <p:nvSpPr>
          <p:cNvPr id="9" name="TextBox 8"/>
          <p:cNvSpPr txBox="1"/>
          <p:nvPr/>
        </p:nvSpPr>
        <p:spPr>
          <a:xfrm>
            <a:off x="9326880" y="5212080"/>
            <a:ext cx="4663440" cy="320040"/>
          </a:xfrm>
          <a:prstGeom prst="rect">
            <a:avLst/>
          </a:prstGeom>
          <a:noFill/>
        </p:spPr>
        <p:txBody>
          <a:bodyPr wrap="square" lIns="18288" rIns="18288" tIns="18288" bIns="18288" anchor="t">
            <a:normAutofit/>
          </a:bodyPr>
          <a:lstStyle/>
          <a:p>
            <a:pPr algn="l">
              <a:spcAft>
                <a:spcPts val="800"/>
              </a:spcAft>
            </a:pPr>
            <a:r>
              <a:rPr sz="2000" b="1">
                <a:solidFill>
                  <a:srgbClr val="0E1022"/>
                </a:solidFill>
                <a:latin typeface="Arial"/>
              </a:rPr>
              <a:t>Recovery path</a:t>
            </a:r>
          </a:p>
        </p:txBody>
      </p:sp>
      <p:sp>
        <p:nvSpPr>
          <p:cNvPr id="10" name="TextBox 9"/>
          <p:cNvSpPr txBox="1"/>
          <p:nvPr/>
        </p:nvSpPr>
        <p:spPr>
          <a:xfrm>
            <a:off x="9326880" y="5641848"/>
            <a:ext cx="4663440" cy="612648"/>
          </a:xfrm>
          <a:prstGeom prst="rect">
            <a:avLst/>
          </a:prstGeom>
          <a:noFill/>
        </p:spPr>
        <p:txBody>
          <a:bodyPr wrap="square" lIns="18288" rIns="18288" tIns="18288" bIns="18288" anchor="t">
            <a:normAutofit/>
          </a:bodyPr>
          <a:lstStyle/>
          <a:p>
            <a:pPr algn="l">
              <a:spcAft>
                <a:spcPts val="800"/>
              </a:spcAft>
            </a:pPr>
            <a:r>
              <a:rPr sz="1900" b="0">
                <a:solidFill>
                  <a:srgbClr val="555B65"/>
                </a:solidFill>
                <a:latin typeface="Arial"/>
              </a:rPr>
              <a:t>Control workflow is outside the target.</a:t>
            </a:r>
          </a:p>
        </p:txBody>
      </p:sp>
      <p:sp>
        <p:nvSpPr>
          <p:cNvPr id="11" name="TextBox 10"/>
          <p:cNvSpPr txBox="1"/>
          <p:nvPr/>
        </p:nvSpPr>
        <p:spPr>
          <a:xfrm>
            <a:off x="594360" y="7406640"/>
            <a:ext cx="9601200" cy="228600"/>
          </a:xfrm>
          <a:prstGeom prst="rect">
            <a:avLst/>
          </a:prstGeom>
          <a:noFill/>
        </p:spPr>
        <p:txBody>
          <a:bodyPr wrap="square" lIns="18288" rIns="18288" tIns="18288" bIns="18288" anchor="t">
            <a:normAutofit/>
          </a:bodyPr>
          <a:lstStyle/>
          <a:p>
            <a:pPr algn="l">
              <a:spcAft>
                <a:spcPts val="800"/>
              </a:spcAft>
            </a:pPr>
            <a:r>
              <a:rPr sz="1100" b="0">
                <a:solidFill>
                  <a:srgbClr val="345282"/>
                </a:solidFill>
                <a:latin typeface="Arial"/>
                <a:hlinkClick r:id="rId3"/>
              </a:rPr>
              <a:t>Actions policies REST API</a:t>
            </a:r>
          </a:p>
        </p:txBody>
      </p:sp>
      <p:sp>
        <p:nvSpPr>
          <p:cNvPr id="12" name="TextBox 11"/>
          <p:cNvSpPr txBox="1"/>
          <p:nvPr/>
        </p:nvSpPr>
        <p:spPr>
          <a:xfrm>
            <a:off x="10972800" y="7406640"/>
            <a:ext cx="3063240" cy="228600"/>
          </a:xfrm>
          <a:prstGeom prst="rect">
            <a:avLst/>
          </a:prstGeom>
          <a:noFill/>
        </p:spPr>
        <p:txBody>
          <a:bodyPr wrap="square" lIns="18288" rIns="18288" tIns="18288" bIns="18288" anchor="t">
            <a:normAutofit/>
          </a:bodyPr>
          <a:lstStyle/>
          <a:p>
            <a:pPr algn="r">
              <a:spcAft>
                <a:spcPts val="800"/>
              </a:spcAft>
            </a:pPr>
            <a:r>
              <a:rPr sz="1100" b="0">
                <a:solidFill>
                  <a:srgbClr val="555B65"/>
                </a:solidFill>
                <a:latin typeface="Arial"/>
              </a:rPr>
              <a:t>19-21 min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886968"/>
            <a:ext cx="13441680" cy="237744"/>
          </a:xfrm>
          <a:prstGeom prst="rect">
            <a:avLst/>
          </a:prstGeom>
          <a:noFill/>
        </p:spPr>
        <p:txBody>
          <a:bodyPr wrap="square" lIns="18288" rIns="18288" tIns="18288" bIns="18288" anchor="t">
            <a:normAutofit/>
          </a:bodyPr>
          <a:lstStyle/>
          <a:p>
            <a:pPr algn="l">
              <a:spcAft>
                <a:spcPts val="800"/>
              </a:spcAft>
            </a:pPr>
            <a:r>
              <a:rPr sz="1100" b="0">
                <a:solidFill>
                  <a:srgbClr val="555B65"/>
                </a:solidFill>
                <a:latin typeface="Arial"/>
              </a:rPr>
              <a:t>DXC | GitHub Actions Office Hour</a:t>
            </a:r>
          </a:p>
        </p:txBody>
      </p:sp>
      <p:sp>
        <p:nvSpPr>
          <p:cNvPr id="3" name="TextBox 2"/>
          <p:cNvSpPr txBox="1"/>
          <p:nvPr/>
        </p:nvSpPr>
        <p:spPr>
          <a:xfrm>
            <a:off x="484632" y="1261872"/>
            <a:ext cx="13670280" cy="987552"/>
          </a:xfrm>
          <a:prstGeom prst="rect">
            <a:avLst/>
          </a:prstGeom>
          <a:noFill/>
        </p:spPr>
        <p:txBody>
          <a:bodyPr wrap="square" lIns="18288" rIns="18288" tIns="18288" bIns="18288" anchor="t">
            <a:normAutofit/>
          </a:bodyPr>
          <a:lstStyle/>
          <a:p>
            <a:pPr algn="l">
              <a:spcAft>
                <a:spcPts val="800"/>
              </a:spcAft>
            </a:pPr>
            <a:r>
              <a:rPr sz="3200" b="1">
                <a:solidFill>
                  <a:srgbClr val="0E1022"/>
                </a:solidFill>
                <a:latin typeface="Arial"/>
              </a:rPr>
              <a:t>Demo 2 | Evaluate, enforce, inspect, then clean up</a:t>
            </a:r>
          </a:p>
        </p:txBody>
      </p:sp>
      <p:sp>
        <p:nvSpPr>
          <p:cNvPr id="4" name="TextBox 3"/>
          <p:cNvSpPr txBox="1"/>
          <p:nvPr/>
        </p:nvSpPr>
        <p:spPr>
          <a:xfrm>
            <a:off x="594360" y="2395728"/>
            <a:ext cx="13441680" cy="237744"/>
          </a:xfrm>
          <a:prstGeom prst="rect">
            <a:avLst/>
          </a:prstGeom>
          <a:noFill/>
        </p:spPr>
        <p:txBody>
          <a:bodyPr wrap="square" lIns="18288" rIns="18288" tIns="18288" bIns="18288" anchor="t">
            <a:normAutofit/>
          </a:bodyPr>
          <a:lstStyle/>
          <a:p>
            <a:pPr algn="l">
              <a:lnSpc>
                <a:spcPct val="110000"/>
              </a:lnSpc>
              <a:spcAft>
                <a:spcPts val="0"/>
              </a:spcAft>
            </a:pPr>
            <a:r>
              <a:rPr sz="1300" b="0">
                <a:solidFill>
                  <a:srgbClr val="345282"/>
                </a:solidFill>
                <a:latin typeface="Consolas"/>
              </a:rPr>
              <a:t>demo-2-policy-control.yml</a:t>
            </a:r>
          </a:p>
        </p:txBody>
      </p:sp>
      <p:sp>
        <p:nvSpPr>
          <p:cNvPr id="5" name="Rounded Rectangle 4"/>
          <p:cNvSpPr/>
          <p:nvPr/>
        </p:nvSpPr>
        <p:spPr>
          <a:xfrm>
            <a:off x="594360" y="2798064"/>
            <a:ext cx="9829800" cy="1078992"/>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926080"/>
            <a:ext cx="2743200" cy="749808"/>
          </a:xfrm>
          <a:prstGeom prst="rect">
            <a:avLst/>
          </a:prstGeom>
          <a:noFill/>
        </p:spPr>
        <p:txBody>
          <a:bodyPr wrap="square" lIns="18288" rIns="18288" tIns="18288" bIns="18288" anchor="t">
            <a:normAutofit/>
          </a:bodyPr>
          <a:lstStyle/>
          <a:p>
            <a:pPr algn="l">
              <a:spcAft>
                <a:spcPts val="800"/>
              </a:spcAft>
            </a:pPr>
            <a:r>
              <a:rPr sz="2100" b="1">
                <a:solidFill>
                  <a:srgbClr val="0E1022"/>
                </a:solidFill>
                <a:latin typeface="Arial"/>
              </a:rPr>
              <a:t>1. Prepare</a:t>
            </a:r>
          </a:p>
        </p:txBody>
      </p:sp>
      <p:sp>
        <p:nvSpPr>
          <p:cNvPr id="7" name="TextBox 6"/>
          <p:cNvSpPr txBox="1"/>
          <p:nvPr/>
        </p:nvSpPr>
        <p:spPr>
          <a:xfrm>
            <a:off x="3657600" y="2926080"/>
            <a:ext cx="6537960" cy="813816"/>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Inspect inherited policies; create-evaluate or create-active; record the ID.</a:t>
            </a:r>
          </a:p>
        </p:txBody>
      </p:sp>
      <p:sp>
        <p:nvSpPr>
          <p:cNvPr id="8" name="Rounded Rectangle 7"/>
          <p:cNvSpPr/>
          <p:nvPr/>
        </p:nvSpPr>
        <p:spPr>
          <a:xfrm>
            <a:off x="594360" y="4105656"/>
            <a:ext cx="9829800" cy="1078992"/>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233672"/>
            <a:ext cx="2743200" cy="749808"/>
          </a:xfrm>
          <a:prstGeom prst="rect">
            <a:avLst/>
          </a:prstGeom>
          <a:noFill/>
        </p:spPr>
        <p:txBody>
          <a:bodyPr wrap="square" lIns="18288" rIns="18288" tIns="18288" bIns="18288" anchor="t">
            <a:normAutofit/>
          </a:bodyPr>
          <a:lstStyle/>
          <a:p>
            <a:pPr algn="l">
              <a:spcAft>
                <a:spcPts val="800"/>
              </a:spcAft>
            </a:pPr>
            <a:r>
              <a:rPr sz="2100" b="1">
                <a:solidFill>
                  <a:srgbClr val="0E1022"/>
                </a:solidFill>
                <a:latin typeface="Arial"/>
              </a:rPr>
              <a:t>2. Probe</a:t>
            </a:r>
          </a:p>
        </p:txBody>
      </p:sp>
      <p:sp>
        <p:nvSpPr>
          <p:cNvPr id="10" name="TextBox 9"/>
          <p:cNvSpPr txBox="1"/>
          <p:nvPr/>
        </p:nvSpPr>
        <p:spPr>
          <a:xfrm>
            <a:off x="3657600" y="4233672"/>
            <a:ext cx="6537960" cy="813816"/>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Send permitted manual dispatch and disallowed repository dispatch.</a:t>
            </a:r>
          </a:p>
        </p:txBody>
      </p:sp>
      <p:sp>
        <p:nvSpPr>
          <p:cNvPr id="11" name="Rounded Rectangle 10"/>
          <p:cNvSpPr/>
          <p:nvPr/>
        </p:nvSpPr>
        <p:spPr>
          <a:xfrm>
            <a:off x="594360" y="5413248"/>
            <a:ext cx="9829800" cy="1078992"/>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5541264"/>
            <a:ext cx="2743200" cy="749808"/>
          </a:xfrm>
          <a:prstGeom prst="rect">
            <a:avLst/>
          </a:prstGeom>
          <a:noFill/>
        </p:spPr>
        <p:txBody>
          <a:bodyPr wrap="square" lIns="18288" rIns="18288" tIns="18288" bIns="18288" anchor="t">
            <a:normAutofit/>
          </a:bodyPr>
          <a:lstStyle/>
          <a:p>
            <a:pPr algn="l">
              <a:spcAft>
                <a:spcPts val="800"/>
              </a:spcAft>
            </a:pPr>
            <a:r>
              <a:rPr sz="2100" b="1">
                <a:solidFill>
                  <a:srgbClr val="0E1022"/>
                </a:solidFill>
                <a:latin typeface="Arial"/>
              </a:rPr>
              <a:t>3. Enforce + recover</a:t>
            </a:r>
          </a:p>
        </p:txBody>
      </p:sp>
      <p:sp>
        <p:nvSpPr>
          <p:cNvPr id="13" name="TextBox 12"/>
          <p:cNvSpPr txBox="1"/>
          <p:nvPr/>
        </p:nvSpPr>
        <p:spPr>
          <a:xfrm>
            <a:off x="3657600" y="5541264"/>
            <a:ext cx="6537960" cy="813816"/>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Activate where needed; inspect actual error/insights; cleanup by ID.</a:t>
            </a:r>
          </a:p>
        </p:txBody>
      </p:sp>
      <p:sp>
        <p:nvSpPr>
          <p:cNvPr id="14" name="Rounded Rectangle 13"/>
          <p:cNvSpPr/>
          <p:nvPr/>
        </p:nvSpPr>
        <p:spPr>
          <a:xfrm>
            <a:off x="10716768" y="2798064"/>
            <a:ext cx="3319272" cy="3703320"/>
          </a:xfrm>
          <a:prstGeom prst="roundRect">
            <a:avLst/>
          </a:prstGeom>
          <a:solidFill>
            <a:srgbClr val="0E1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17936" y="2980944"/>
            <a:ext cx="2916936" cy="530352"/>
          </a:xfrm>
          <a:prstGeom prst="rect">
            <a:avLst/>
          </a:prstGeom>
          <a:noFill/>
        </p:spPr>
        <p:txBody>
          <a:bodyPr wrap="square" lIns="18288" rIns="18288" tIns="18288" bIns="18288" anchor="t">
            <a:normAutofit/>
          </a:bodyPr>
          <a:lstStyle/>
          <a:p>
            <a:pPr algn="l">
              <a:spcAft>
                <a:spcPts val="800"/>
              </a:spcAft>
            </a:pPr>
            <a:r>
              <a:rPr sz="2300" b="1">
                <a:solidFill>
                  <a:srgbClr val="FFFFFF"/>
                </a:solidFill>
                <a:latin typeface="Arial"/>
              </a:rPr>
              <a:t>Run from GitHub</a:t>
            </a:r>
          </a:p>
        </p:txBody>
      </p:sp>
      <p:sp>
        <p:nvSpPr>
          <p:cNvPr id="16" name="TextBox 15"/>
          <p:cNvSpPr txBox="1"/>
          <p:nvPr/>
        </p:nvSpPr>
        <p:spPr>
          <a:xfrm>
            <a:off x="10917936" y="3730752"/>
            <a:ext cx="2916936" cy="2569463"/>
          </a:xfrm>
          <a:prstGeom prst="rect">
            <a:avLst/>
          </a:prstGeom>
          <a:noFill/>
        </p:spPr>
        <p:txBody>
          <a:bodyPr wrap="square" lIns="18288" rIns="18288" tIns="18288" bIns="18288" anchor="t">
            <a:normAutofit/>
          </a:bodyPr>
          <a:lstStyle/>
          <a:p>
            <a:pPr algn="l">
              <a:spcAft>
                <a:spcPts val="800"/>
              </a:spcAft>
            </a:pPr>
            <a:r>
              <a:rPr sz="2000" b="0">
                <a:solidFill>
                  <a:srgbClr val="FFFFFF"/>
                </a:solidFill>
                <a:latin typeface="Arial"/>
              </a:rPr>
              <a:t>Actions tab</a:t>
            </a:r>
          </a:p>
          <a:p>
            <a:pPr algn="l">
              <a:spcAft>
                <a:spcPts val="800"/>
              </a:spcAft>
            </a:pPr>
            <a:r>
              <a:rPr sz="2000" b="0">
                <a:solidFill>
                  <a:srgbClr val="FFFFFF"/>
                </a:solidFill>
                <a:latin typeface="Arial"/>
              </a:rPr>
              <a:t>Manual trigger</a:t>
            </a:r>
          </a:p>
          <a:p>
            <a:pPr algn="l">
              <a:spcAft>
                <a:spcPts val="800"/>
              </a:spcAft>
            </a:pPr>
            <a:r>
              <a:rPr sz="2000" b="0">
                <a:solidFill>
                  <a:srgbClr val="FFFFFF"/>
                </a:solidFill>
                <a:latin typeface="Arial"/>
              </a:rPr>
              <a:t>Job summaries</a:t>
            </a:r>
          </a:p>
          <a:p>
            <a:pPr algn="l">
              <a:spcAft>
                <a:spcPts val="800"/>
              </a:spcAft>
            </a:pPr>
            <a:r>
              <a:rPr sz="2000" b="0">
                <a:solidFill>
                  <a:srgbClr val="FFFFFF"/>
                </a:solidFill>
                <a:latin typeface="Arial"/>
              </a:rPr>
              <a:t>Evidence artifacts</a:t>
            </a:r>
          </a:p>
        </p:txBody>
      </p:sp>
      <p:sp>
        <p:nvSpPr>
          <p:cNvPr id="17" name="Rounded Rectangle 16"/>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118872">
            <a:normAutofit/>
          </a:bodyPr>
          <a:lstStyle/>
          <a:p>
            <a:pPr algn="l">
              <a:spcAft>
                <a:spcPts val="800"/>
              </a:spcAft>
            </a:pPr>
            <a:r>
              <a:rPr sz="1700" b="0">
                <a:solidFill>
                  <a:srgbClr val="0E1022"/>
                </a:solidFill>
                <a:latin typeface="Arial"/>
              </a:rPr>
              <a:t>HTTP acceptance proves request delivery, not workflow execution or policy enforcement.</a:t>
            </a:r>
          </a:p>
        </p:txBody>
      </p:sp>
      <p:sp>
        <p:nvSpPr>
          <p:cNvPr id="18" name="TextBox 17"/>
          <p:cNvSpPr txBox="1"/>
          <p:nvPr/>
        </p:nvSpPr>
        <p:spPr>
          <a:xfrm>
            <a:off x="10972800" y="7406640"/>
            <a:ext cx="3063240" cy="228600"/>
          </a:xfrm>
          <a:prstGeom prst="rect">
            <a:avLst/>
          </a:prstGeom>
          <a:noFill/>
        </p:spPr>
        <p:txBody>
          <a:bodyPr wrap="square" lIns="18288" rIns="18288" tIns="18288" bIns="18288" anchor="t">
            <a:normAutofit/>
          </a:bodyPr>
          <a:lstStyle/>
          <a:p>
            <a:pPr algn="r">
              <a:spcAft>
                <a:spcPts val="800"/>
              </a:spcAft>
            </a:pPr>
            <a:r>
              <a:rPr sz="1100" b="0">
                <a:solidFill>
                  <a:srgbClr val="555B65"/>
                </a:solidFill>
                <a:latin typeface="Arial"/>
              </a:rPr>
              <a:t>21-27 min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886968"/>
            <a:ext cx="13441680" cy="237744"/>
          </a:xfrm>
          <a:prstGeom prst="rect">
            <a:avLst/>
          </a:prstGeom>
          <a:noFill/>
        </p:spPr>
        <p:txBody>
          <a:bodyPr wrap="square" lIns="18288" rIns="18288" tIns="18288" bIns="18288" anchor="t">
            <a:normAutofit/>
          </a:bodyPr>
          <a:lstStyle/>
          <a:p>
            <a:pPr algn="l">
              <a:spcAft>
                <a:spcPts val="800"/>
              </a:spcAft>
            </a:pPr>
            <a:r>
              <a:rPr sz="1100" b="0">
                <a:solidFill>
                  <a:srgbClr val="555B65"/>
                </a:solidFill>
                <a:latin typeface="Arial"/>
              </a:rPr>
              <a:t>7 | Artifact visibility change | Effective</a:t>
            </a:r>
          </a:p>
        </p:txBody>
      </p:sp>
      <p:sp>
        <p:nvSpPr>
          <p:cNvPr id="3" name="TextBox 2"/>
          <p:cNvSpPr txBox="1"/>
          <p:nvPr/>
        </p:nvSpPr>
        <p:spPr>
          <a:xfrm>
            <a:off x="484632" y="1261872"/>
            <a:ext cx="13670280" cy="987552"/>
          </a:xfrm>
          <a:prstGeom prst="rect">
            <a:avLst/>
          </a:prstGeom>
          <a:noFill/>
        </p:spPr>
        <p:txBody>
          <a:bodyPr wrap="square" lIns="18288" rIns="18288" tIns="18288" bIns="18288" anchor="t">
            <a:normAutofit/>
          </a:bodyPr>
          <a:lstStyle/>
          <a:p>
            <a:pPr algn="l">
              <a:spcAft>
                <a:spcPts val="800"/>
              </a:spcAft>
            </a:pPr>
            <a:r>
              <a:rPr sz="3200" b="1">
                <a:solidFill>
                  <a:srgbClr val="0E1022"/>
                </a:solidFill>
                <a:latin typeface="Arial"/>
              </a:rPr>
              <a:t>Expired artifacts are now absent, not stale UI entries</a:t>
            </a:r>
          </a:p>
        </p:txBody>
      </p:sp>
      <p:sp>
        <p:nvSpPr>
          <p:cNvPr id="4" name="Rounded Rectangle 3"/>
          <p:cNvSpPr/>
          <p:nvPr/>
        </p:nvSpPr>
        <p:spPr>
          <a:xfrm>
            <a:off x="594360" y="2834640"/>
            <a:ext cx="6583679" cy="333756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3017520"/>
            <a:ext cx="6181343" cy="530352"/>
          </a:xfrm>
          <a:prstGeom prst="rect">
            <a:avLst/>
          </a:prstGeom>
          <a:noFill/>
        </p:spPr>
        <p:txBody>
          <a:bodyPr wrap="square" lIns="18288" rIns="18288" tIns="18288" bIns="18288" anchor="t">
            <a:normAutofit/>
          </a:bodyPr>
          <a:lstStyle/>
          <a:p>
            <a:pPr algn="l">
              <a:spcAft>
                <a:spcPts val="800"/>
              </a:spcAft>
            </a:pPr>
            <a:r>
              <a:rPr sz="2300" b="1">
                <a:solidFill>
                  <a:srgbClr val="0E1022"/>
                </a:solidFill>
                <a:latin typeface="Arial"/>
              </a:rPr>
              <a:t>Previously</a:t>
            </a:r>
          </a:p>
        </p:txBody>
      </p:sp>
      <p:sp>
        <p:nvSpPr>
          <p:cNvPr id="6" name="TextBox 5"/>
          <p:cNvSpPr txBox="1"/>
          <p:nvPr/>
        </p:nvSpPr>
        <p:spPr>
          <a:xfrm>
            <a:off x="795528" y="3767328"/>
            <a:ext cx="6181343" cy="2203704"/>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An expired pill could remain visible.</a:t>
            </a:r>
          </a:p>
          <a:p>
            <a:pPr algn="l">
              <a:spcAft>
                <a:spcPts val="800"/>
              </a:spcAft>
            </a:pPr>
            <a:r>
              <a:rPr sz="2000" b="0">
                <a:solidFill>
                  <a:srgbClr val="555B65"/>
                </a:solidFill>
                <a:latin typeface="Arial"/>
              </a:rPr>
              <a:t>The underlying files were already gone.</a:t>
            </a:r>
          </a:p>
          <a:p>
            <a:pPr algn="l">
              <a:spcAft>
                <a:spcPts val="800"/>
              </a:spcAft>
            </a:pPr>
            <a:r>
              <a:rPr sz="2000" b="0">
                <a:solidFill>
                  <a:srgbClr val="555B65"/>
                </a:solidFill>
                <a:latin typeface="Arial"/>
              </a:rPr>
              <a:t>Consumers could mistake visibility for retained data.</a:t>
            </a:r>
          </a:p>
        </p:txBody>
      </p:sp>
      <p:sp>
        <p:nvSpPr>
          <p:cNvPr id="7" name="Rounded Rectangle 6"/>
          <p:cNvSpPr/>
          <p:nvPr/>
        </p:nvSpPr>
        <p:spPr>
          <a:xfrm>
            <a:off x="7452359" y="2834640"/>
            <a:ext cx="6583679" cy="3337560"/>
          </a:xfrm>
          <a:prstGeom prst="roundRect">
            <a:avLst/>
          </a:prstGeom>
          <a:solidFill>
            <a:srgbClr val="0E1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53527" y="3017520"/>
            <a:ext cx="6181343" cy="530352"/>
          </a:xfrm>
          <a:prstGeom prst="rect">
            <a:avLst/>
          </a:prstGeom>
          <a:noFill/>
        </p:spPr>
        <p:txBody>
          <a:bodyPr wrap="square" lIns="18288" rIns="18288" tIns="18288" bIns="18288" anchor="t">
            <a:normAutofit/>
          </a:bodyPr>
          <a:lstStyle/>
          <a:p>
            <a:pPr algn="l">
              <a:spcAft>
                <a:spcPts val="800"/>
              </a:spcAft>
            </a:pPr>
            <a:r>
              <a:rPr sz="2300" b="1">
                <a:solidFill>
                  <a:srgbClr val="FFFFFF"/>
                </a:solidFill>
                <a:latin typeface="Arial"/>
              </a:rPr>
              <a:t>Now</a:t>
            </a:r>
          </a:p>
        </p:txBody>
      </p:sp>
      <p:sp>
        <p:nvSpPr>
          <p:cNvPr id="9" name="TextBox 8"/>
          <p:cNvSpPr txBox="1"/>
          <p:nvPr/>
        </p:nvSpPr>
        <p:spPr>
          <a:xfrm>
            <a:off x="7653527" y="3767328"/>
            <a:ext cx="6181343" cy="2203704"/>
          </a:xfrm>
          <a:prstGeom prst="rect">
            <a:avLst/>
          </a:prstGeom>
          <a:noFill/>
        </p:spPr>
        <p:txBody>
          <a:bodyPr wrap="square" lIns="18288" rIns="18288" tIns="18288" bIns="18288" anchor="t">
            <a:normAutofit/>
          </a:bodyPr>
          <a:lstStyle/>
          <a:p>
            <a:pPr algn="l">
              <a:spcAft>
                <a:spcPts val="800"/>
              </a:spcAft>
            </a:pPr>
            <a:r>
              <a:rPr sz="2000" b="0">
                <a:solidFill>
                  <a:srgbClr val="FFFFFF"/>
                </a:solidFill>
                <a:latin typeface="Arial"/>
              </a:rPr>
              <a:t>Expired artifacts disappear from the run summary.</a:t>
            </a:r>
          </a:p>
          <a:p>
            <a:pPr algn="l">
              <a:spcAft>
                <a:spcPts val="800"/>
              </a:spcAft>
            </a:pPr>
            <a:r>
              <a:rPr sz="2000" b="0">
                <a:solidFill>
                  <a:srgbClr val="FFFFFF"/>
                </a:solidFill>
                <a:latin typeface="Arial"/>
              </a:rPr>
              <a:t>REST results no longer retain expired entries.</a:t>
            </a:r>
          </a:p>
          <a:p>
            <a:pPr algn="l">
              <a:spcAft>
                <a:spcPts val="800"/>
              </a:spcAft>
            </a:pPr>
            <a:r>
              <a:rPr sz="2000" b="0">
                <a:solidFill>
                  <a:srgbClr val="FFFFFF"/>
                </a:solidFill>
                <a:latin typeface="Arial"/>
              </a:rPr>
              <a:t>Creation evidence can still be found in retained logs.</a:t>
            </a:r>
          </a:p>
        </p:txBody>
      </p:sp>
      <p:sp>
        <p:nvSpPr>
          <p:cNvPr id="10" name="Rounded Rectangle 9"/>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118872">
            <a:normAutofit/>
          </a:bodyPr>
          <a:lstStyle/>
          <a:p>
            <a:pPr algn="l">
              <a:spcAft>
                <a:spcPts val="800"/>
              </a:spcAft>
            </a:pPr>
            <a:r>
              <a:rPr sz="1700" b="0">
                <a:solidFill>
                  <a:srgbClr val="0E1022"/>
                </a:solidFill>
                <a:latin typeface="Arial"/>
              </a:rPr>
              <a:t>This is a display/API change. Artifact retention settings and billing are unchanged.</a:t>
            </a:r>
          </a:p>
        </p:txBody>
      </p:sp>
      <p:sp>
        <p:nvSpPr>
          <p:cNvPr id="11" name="TextBox 10"/>
          <p:cNvSpPr txBox="1"/>
          <p:nvPr/>
        </p:nvSpPr>
        <p:spPr>
          <a:xfrm>
            <a:off x="594360" y="7406640"/>
            <a:ext cx="9601200" cy="228600"/>
          </a:xfrm>
          <a:prstGeom prst="rect">
            <a:avLst/>
          </a:prstGeom>
          <a:noFill/>
        </p:spPr>
        <p:txBody>
          <a:bodyPr wrap="square" lIns="18288" rIns="18288" tIns="18288" bIns="18288" anchor="t">
            <a:normAutofit/>
          </a:bodyPr>
          <a:lstStyle/>
          <a:p>
            <a:pPr algn="l">
              <a:spcAft>
                <a:spcPts val="800"/>
              </a:spcAft>
            </a:pPr>
            <a:r>
              <a:rPr sz="1100" b="0">
                <a:solidFill>
                  <a:srgbClr val="345282"/>
                </a:solidFill>
                <a:latin typeface="Arial"/>
                <a:hlinkClick r:id="rId3"/>
              </a:rPr>
              <a:t>GitHub Changelog | 24 Sep 2026</a:t>
            </a:r>
          </a:p>
        </p:txBody>
      </p:sp>
      <p:sp>
        <p:nvSpPr>
          <p:cNvPr id="12" name="TextBox 11"/>
          <p:cNvSpPr txBox="1"/>
          <p:nvPr/>
        </p:nvSpPr>
        <p:spPr>
          <a:xfrm>
            <a:off x="10972800" y="7406640"/>
            <a:ext cx="3063240" cy="228600"/>
          </a:xfrm>
          <a:prstGeom prst="rect">
            <a:avLst/>
          </a:prstGeom>
          <a:noFill/>
        </p:spPr>
        <p:txBody>
          <a:bodyPr wrap="square" lIns="18288" rIns="18288" tIns="18288" bIns="18288" anchor="t">
            <a:normAutofit/>
          </a:bodyPr>
          <a:lstStyle/>
          <a:p>
            <a:pPr algn="r">
              <a:spcAft>
                <a:spcPts val="800"/>
              </a:spcAft>
            </a:pPr>
            <a:r>
              <a:rPr sz="1100" b="0">
                <a:solidFill>
                  <a:srgbClr val="555B65"/>
                </a:solidFill>
                <a:latin typeface="Arial"/>
              </a:rPr>
              <a:t>27-29 min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886968"/>
            <a:ext cx="13441680" cy="237744"/>
          </a:xfrm>
          <a:prstGeom prst="rect">
            <a:avLst/>
          </a:prstGeom>
          <a:noFill/>
        </p:spPr>
        <p:txBody>
          <a:bodyPr wrap="square" lIns="18288" rIns="18288" tIns="18288" bIns="18288" anchor="t">
            <a:normAutofit/>
          </a:bodyPr>
          <a:lstStyle/>
          <a:p>
            <a:pPr algn="l">
              <a:spcAft>
                <a:spcPts val="800"/>
              </a:spcAft>
            </a:pPr>
            <a:r>
              <a:rPr sz="1100" b="0">
                <a:solidFill>
                  <a:srgbClr val="555B65"/>
                </a:solidFill>
                <a:latin typeface="Arial"/>
              </a:rPr>
              <a:t>7 | One-day artifact; fourteen-day receipt</a:t>
            </a:r>
          </a:p>
        </p:txBody>
      </p:sp>
      <p:sp>
        <p:nvSpPr>
          <p:cNvPr id="3" name="TextBox 2"/>
          <p:cNvSpPr txBox="1"/>
          <p:nvPr/>
        </p:nvSpPr>
        <p:spPr>
          <a:xfrm>
            <a:off x="484632" y="1261872"/>
            <a:ext cx="13670280" cy="987552"/>
          </a:xfrm>
          <a:prstGeom prst="rect">
            <a:avLst/>
          </a:prstGeom>
          <a:noFill/>
        </p:spPr>
        <p:txBody>
          <a:bodyPr wrap="square" lIns="18288" rIns="18288" tIns="18288" bIns="18288" anchor="t">
            <a:normAutofit/>
          </a:bodyPr>
          <a:lstStyle/>
          <a:p>
            <a:pPr algn="l">
              <a:spcAft>
                <a:spcPts val="800"/>
              </a:spcAft>
            </a:pPr>
            <a:r>
              <a:rPr sz="3200" b="1">
                <a:solidFill>
                  <a:srgbClr val="0E1022"/>
                </a:solidFill>
                <a:latin typeface="Arial"/>
              </a:rPr>
              <a:t>Natural expiry needs a prepared evidence chain</a:t>
            </a:r>
          </a:p>
        </p:txBody>
      </p:sp>
      <p:sp>
        <p:nvSpPr>
          <p:cNvPr id="4" name="Rounded Rectangle 3"/>
          <p:cNvSpPr/>
          <p:nvPr/>
        </p:nvSpPr>
        <p:spPr>
          <a:xfrm>
            <a:off x="594360" y="3383280"/>
            <a:ext cx="3051810" cy="246888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57650" y="3383280"/>
            <a:ext cx="3051810" cy="246888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520940" y="3383280"/>
            <a:ext cx="3051810" cy="246888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984230" y="3383280"/>
            <a:ext cx="3051810" cy="246888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Arrow 7"/>
          <p:cNvSpPr/>
          <p:nvPr/>
        </p:nvSpPr>
        <p:spPr>
          <a:xfrm>
            <a:off x="3714750" y="4315968"/>
            <a:ext cx="274320" cy="347472"/>
          </a:xfrm>
          <a:prstGeom prst="rightArrow">
            <a:avLst/>
          </a:prstGeom>
          <a:solidFill>
            <a:srgbClr val="3452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ight Arrow 8"/>
          <p:cNvSpPr/>
          <p:nvPr/>
        </p:nvSpPr>
        <p:spPr>
          <a:xfrm>
            <a:off x="7178040" y="4315968"/>
            <a:ext cx="274320" cy="347472"/>
          </a:xfrm>
          <a:prstGeom prst="rightArrow">
            <a:avLst/>
          </a:prstGeom>
          <a:solidFill>
            <a:srgbClr val="3452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10641330" y="4315968"/>
            <a:ext cx="274320" cy="347472"/>
          </a:xfrm>
          <a:prstGeom prst="rightArrow">
            <a:avLst/>
          </a:prstGeom>
          <a:solidFill>
            <a:srgbClr val="3452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611880"/>
            <a:ext cx="2686050" cy="502920"/>
          </a:xfrm>
          <a:prstGeom prst="rect">
            <a:avLst/>
          </a:prstGeom>
          <a:noFill/>
        </p:spPr>
        <p:txBody>
          <a:bodyPr wrap="square" lIns="18288" rIns="18288" tIns="18288" bIns="18288" anchor="t">
            <a:normAutofit/>
          </a:bodyPr>
          <a:lstStyle/>
          <a:p>
            <a:pPr algn="l">
              <a:spcAft>
                <a:spcPts val="800"/>
              </a:spcAft>
            </a:pPr>
            <a:r>
              <a:rPr sz="2300" b="1">
                <a:solidFill>
                  <a:srgbClr val="0E1022"/>
                </a:solidFill>
                <a:latin typeface="Arial"/>
              </a:rPr>
              <a:t>Seed</a:t>
            </a:r>
          </a:p>
        </p:txBody>
      </p:sp>
      <p:sp>
        <p:nvSpPr>
          <p:cNvPr id="12" name="TextBox 11"/>
          <p:cNvSpPr txBox="1"/>
          <p:nvPr/>
        </p:nvSpPr>
        <p:spPr>
          <a:xfrm>
            <a:off x="777240" y="4498848"/>
            <a:ext cx="2686050" cy="1033271"/>
          </a:xfrm>
          <a:prstGeom prst="rect">
            <a:avLst/>
          </a:prstGeom>
          <a:noFill/>
        </p:spPr>
        <p:txBody>
          <a:bodyPr wrap="square" lIns="18288" rIns="18288" tIns="18288" bIns="18288" anchor="t">
            <a:normAutofit/>
          </a:bodyPr>
          <a:lstStyle/>
          <a:p>
            <a:pPr algn="l">
              <a:spcAft>
                <a:spcPts val="800"/>
              </a:spcAft>
            </a:pPr>
            <a:r>
              <a:rPr sz="1900" b="0">
                <a:solidFill>
                  <a:srgbClr val="555B65"/>
                </a:solidFill>
                <a:latin typeface="Arial"/>
              </a:rPr>
              <a:t>Upload harmless content</a:t>
            </a:r>
          </a:p>
          <a:p>
            <a:pPr algn="l">
              <a:spcAft>
                <a:spcPts val="800"/>
              </a:spcAft>
            </a:pPr>
            <a:r>
              <a:rPr sz="1900" b="0">
                <a:solidFill>
                  <a:srgbClr val="555B65"/>
                </a:solidFill>
                <a:latin typeface="Arial"/>
              </a:rPr>
              <a:t>before the session.</a:t>
            </a:r>
          </a:p>
        </p:txBody>
      </p:sp>
      <p:sp>
        <p:nvSpPr>
          <p:cNvPr id="13" name="TextBox 12"/>
          <p:cNvSpPr txBox="1"/>
          <p:nvPr/>
        </p:nvSpPr>
        <p:spPr>
          <a:xfrm>
            <a:off x="4240530" y="3611880"/>
            <a:ext cx="2686050" cy="502920"/>
          </a:xfrm>
          <a:prstGeom prst="rect">
            <a:avLst/>
          </a:prstGeom>
          <a:noFill/>
        </p:spPr>
        <p:txBody>
          <a:bodyPr wrap="square" lIns="18288" rIns="18288" tIns="18288" bIns="18288" anchor="t">
            <a:normAutofit/>
          </a:bodyPr>
          <a:lstStyle/>
          <a:p>
            <a:pPr algn="l">
              <a:spcAft>
                <a:spcPts val="800"/>
              </a:spcAft>
            </a:pPr>
            <a:r>
              <a:rPr sz="2300" b="1">
                <a:solidFill>
                  <a:srgbClr val="0E1022"/>
                </a:solidFill>
                <a:latin typeface="Arial"/>
              </a:rPr>
              <a:t>Receipt</a:t>
            </a:r>
          </a:p>
        </p:txBody>
      </p:sp>
      <p:sp>
        <p:nvSpPr>
          <p:cNvPr id="14" name="TextBox 13"/>
          <p:cNvSpPr txBox="1"/>
          <p:nvPr/>
        </p:nvSpPr>
        <p:spPr>
          <a:xfrm>
            <a:off x="4240530" y="4498848"/>
            <a:ext cx="2686050" cy="1033271"/>
          </a:xfrm>
          <a:prstGeom prst="rect">
            <a:avLst/>
          </a:prstGeom>
          <a:noFill/>
        </p:spPr>
        <p:txBody>
          <a:bodyPr wrap="square" lIns="18288" rIns="18288" tIns="18288" bIns="18288" anchor="t">
            <a:normAutofit/>
          </a:bodyPr>
          <a:lstStyle/>
          <a:p>
            <a:pPr algn="l">
              <a:spcAft>
                <a:spcPts val="800"/>
              </a:spcAft>
            </a:pPr>
            <a:r>
              <a:rPr sz="1900" b="0">
                <a:solidFill>
                  <a:srgbClr val="555B65"/>
                </a:solidFill>
                <a:latin typeface="Arial"/>
              </a:rPr>
              <a:t>Record actual ID,</a:t>
            </a:r>
          </a:p>
          <a:p>
            <a:pPr algn="l">
              <a:spcAft>
                <a:spcPts val="800"/>
              </a:spcAft>
            </a:pPr>
            <a:r>
              <a:rPr sz="1900" b="0">
                <a:solidFill>
                  <a:srgbClr val="555B65"/>
                </a:solidFill>
                <a:latin typeface="Arial"/>
              </a:rPr>
              <a:t>created_at, expires_at.</a:t>
            </a:r>
          </a:p>
        </p:txBody>
      </p:sp>
      <p:sp>
        <p:nvSpPr>
          <p:cNvPr id="15" name="TextBox 14"/>
          <p:cNvSpPr txBox="1"/>
          <p:nvPr/>
        </p:nvSpPr>
        <p:spPr>
          <a:xfrm>
            <a:off x="7703819" y="3611880"/>
            <a:ext cx="2686050" cy="502920"/>
          </a:xfrm>
          <a:prstGeom prst="rect">
            <a:avLst/>
          </a:prstGeom>
          <a:noFill/>
        </p:spPr>
        <p:txBody>
          <a:bodyPr wrap="square" lIns="18288" rIns="18288" tIns="18288" bIns="18288" anchor="t">
            <a:normAutofit/>
          </a:bodyPr>
          <a:lstStyle/>
          <a:p>
            <a:pPr algn="l">
              <a:spcAft>
                <a:spcPts val="800"/>
              </a:spcAft>
            </a:pPr>
            <a:r>
              <a:rPr sz="2300" b="1">
                <a:solidFill>
                  <a:srgbClr val="0E1022"/>
                </a:solidFill>
                <a:latin typeface="Arial"/>
              </a:rPr>
              <a:t>Wait</a:t>
            </a:r>
          </a:p>
        </p:txBody>
      </p:sp>
      <p:sp>
        <p:nvSpPr>
          <p:cNvPr id="16" name="TextBox 15"/>
          <p:cNvSpPr txBox="1"/>
          <p:nvPr/>
        </p:nvSpPr>
        <p:spPr>
          <a:xfrm>
            <a:off x="7703819" y="4498848"/>
            <a:ext cx="2686050" cy="1033271"/>
          </a:xfrm>
          <a:prstGeom prst="rect">
            <a:avLst/>
          </a:prstGeom>
          <a:noFill/>
        </p:spPr>
        <p:txBody>
          <a:bodyPr wrap="square" lIns="18288" rIns="18288" tIns="18288" bIns="18288" anchor="t">
            <a:normAutofit/>
          </a:bodyPr>
          <a:lstStyle/>
          <a:p>
            <a:pPr algn="l">
              <a:spcAft>
                <a:spcPts val="800"/>
              </a:spcAft>
            </a:pPr>
            <a:r>
              <a:rPr sz="1900" b="0">
                <a:solidFill>
                  <a:srgbClr val="555B65"/>
                </a:solidFill>
                <a:latin typeface="Arial"/>
              </a:rPr>
              <a:t>Allow natural expiry</a:t>
            </a:r>
          </a:p>
          <a:p>
            <a:pPr algn="l">
              <a:spcAft>
                <a:spcPts val="800"/>
              </a:spcAft>
            </a:pPr>
            <a:r>
              <a:rPr sz="1900" b="0">
                <a:solidFill>
                  <a:srgbClr val="555B65"/>
                </a:solidFill>
                <a:latin typeface="Arial"/>
              </a:rPr>
              <a:t>and service cleanup.</a:t>
            </a:r>
          </a:p>
        </p:txBody>
      </p:sp>
      <p:sp>
        <p:nvSpPr>
          <p:cNvPr id="17" name="TextBox 16"/>
          <p:cNvSpPr txBox="1"/>
          <p:nvPr/>
        </p:nvSpPr>
        <p:spPr>
          <a:xfrm>
            <a:off x="11167110" y="3611880"/>
            <a:ext cx="2686050" cy="502920"/>
          </a:xfrm>
          <a:prstGeom prst="rect">
            <a:avLst/>
          </a:prstGeom>
          <a:noFill/>
        </p:spPr>
        <p:txBody>
          <a:bodyPr wrap="square" lIns="18288" rIns="18288" tIns="18288" bIns="18288" anchor="t">
            <a:normAutofit/>
          </a:bodyPr>
          <a:lstStyle/>
          <a:p>
            <a:pPr algn="l">
              <a:spcAft>
                <a:spcPts val="800"/>
              </a:spcAft>
            </a:pPr>
            <a:r>
              <a:rPr sz="2300" b="1">
                <a:solidFill>
                  <a:srgbClr val="0E1022"/>
                </a:solidFill>
                <a:latin typeface="Arial"/>
              </a:rPr>
              <a:t>Observe</a:t>
            </a:r>
          </a:p>
        </p:txBody>
      </p:sp>
      <p:sp>
        <p:nvSpPr>
          <p:cNvPr id="18" name="TextBox 17"/>
          <p:cNvSpPr txBox="1"/>
          <p:nvPr/>
        </p:nvSpPr>
        <p:spPr>
          <a:xfrm>
            <a:off x="11167110" y="4498848"/>
            <a:ext cx="2686050" cy="1033271"/>
          </a:xfrm>
          <a:prstGeom prst="rect">
            <a:avLst/>
          </a:prstGeom>
          <a:noFill/>
        </p:spPr>
        <p:txBody>
          <a:bodyPr wrap="square" lIns="18288" rIns="18288" tIns="18288" bIns="18288" anchor="t">
            <a:normAutofit/>
          </a:bodyPr>
          <a:lstStyle/>
          <a:p>
            <a:pPr algn="l">
              <a:spcAft>
                <a:spcPts val="800"/>
              </a:spcAft>
            </a:pPr>
            <a:r>
              <a:rPr sz="1900" b="0">
                <a:solidFill>
                  <a:srgbClr val="555B65"/>
                </a:solidFill>
                <a:latin typeface="Arial"/>
              </a:rPr>
              <a:t>Check list absence</a:t>
            </a:r>
          </a:p>
          <a:p>
            <a:pPr algn="l">
              <a:spcAft>
                <a:spcPts val="800"/>
              </a:spcAft>
            </a:pPr>
            <a:r>
              <a:rPr sz="1900" b="0">
                <a:solidFill>
                  <a:srgbClr val="555B65"/>
                </a:solidFill>
                <a:latin typeface="Arial"/>
              </a:rPr>
              <a:t>and direct GET 404.</a:t>
            </a:r>
          </a:p>
        </p:txBody>
      </p:sp>
      <p:sp>
        <p:nvSpPr>
          <p:cNvPr id="19" name="Rounded Rectangle 18"/>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118872">
            <a:normAutofit/>
          </a:bodyPr>
          <a:lstStyle/>
          <a:p>
            <a:pPr algn="l">
              <a:spcAft>
                <a:spcPts val="800"/>
              </a:spcAft>
            </a:pPr>
            <a:r>
              <a:rPr sz="1700" b="0">
                <a:solidFill>
                  <a:srgbClr val="0E1022"/>
                </a:solidFill>
                <a:latin typeface="Arial"/>
              </a:rPr>
              <a:t>No manual deletion. Absence alone cannot distinguish deletion from natural expiry.</a:t>
            </a:r>
          </a:p>
        </p:txBody>
      </p:sp>
      <p:sp>
        <p:nvSpPr>
          <p:cNvPr id="20" name="TextBox 19"/>
          <p:cNvSpPr txBox="1"/>
          <p:nvPr/>
        </p:nvSpPr>
        <p:spPr>
          <a:xfrm>
            <a:off x="594360" y="7406640"/>
            <a:ext cx="9601200" cy="228600"/>
          </a:xfrm>
          <a:prstGeom prst="rect">
            <a:avLst/>
          </a:prstGeom>
          <a:noFill/>
        </p:spPr>
        <p:txBody>
          <a:bodyPr wrap="square" lIns="18288" rIns="18288" tIns="18288" bIns="18288" anchor="t">
            <a:normAutofit/>
          </a:bodyPr>
          <a:lstStyle/>
          <a:p>
            <a:pPr algn="l">
              <a:spcAft>
                <a:spcPts val="800"/>
              </a:spcAft>
            </a:pPr>
            <a:r>
              <a:rPr sz="1100" b="0">
                <a:solidFill>
                  <a:srgbClr val="345282"/>
                </a:solidFill>
                <a:latin typeface="Arial"/>
                <a:hlinkClick r:id="rId3"/>
              </a:rPr>
              <a:t>Artifact visibility release</a:t>
            </a:r>
          </a:p>
        </p:txBody>
      </p:sp>
      <p:sp>
        <p:nvSpPr>
          <p:cNvPr id="21" name="TextBox 20"/>
          <p:cNvSpPr txBox="1"/>
          <p:nvPr/>
        </p:nvSpPr>
        <p:spPr>
          <a:xfrm>
            <a:off x="10972800" y="7406640"/>
            <a:ext cx="3063240" cy="228600"/>
          </a:xfrm>
          <a:prstGeom prst="rect">
            <a:avLst/>
          </a:prstGeom>
          <a:noFill/>
        </p:spPr>
        <p:txBody>
          <a:bodyPr wrap="square" lIns="18288" rIns="18288" tIns="18288" bIns="18288" anchor="t">
            <a:normAutofit/>
          </a:bodyPr>
          <a:lstStyle/>
          <a:p>
            <a:pPr algn="r">
              <a:spcAft>
                <a:spcPts val="800"/>
              </a:spcAft>
            </a:pPr>
            <a:r>
              <a:rPr sz="1100" b="0">
                <a:solidFill>
                  <a:srgbClr val="555B65"/>
                </a:solidFill>
                <a:latin typeface="Arial"/>
              </a:rPr>
              <a:t>29-31 min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886968"/>
            <a:ext cx="13441680" cy="237744"/>
          </a:xfrm>
          <a:prstGeom prst="rect">
            <a:avLst/>
          </a:prstGeom>
          <a:noFill/>
        </p:spPr>
        <p:txBody>
          <a:bodyPr wrap="square" lIns="18288" rIns="18288" tIns="18288" bIns="18288" anchor="t">
            <a:normAutofit/>
          </a:bodyPr>
          <a:lstStyle/>
          <a:p>
            <a:pPr algn="l">
              <a:spcAft>
                <a:spcPts val="800"/>
              </a:spcAft>
            </a:pPr>
            <a:r>
              <a:rPr sz="1100" b="0">
                <a:solidFill>
                  <a:srgbClr val="555B65"/>
                </a:solidFill>
                <a:latin typeface="Arial"/>
              </a:rPr>
              <a:t>DXC | GitHub Actions Office Hour</a:t>
            </a:r>
          </a:p>
        </p:txBody>
      </p:sp>
      <p:sp>
        <p:nvSpPr>
          <p:cNvPr id="3" name="TextBox 2"/>
          <p:cNvSpPr txBox="1"/>
          <p:nvPr/>
        </p:nvSpPr>
        <p:spPr>
          <a:xfrm>
            <a:off x="484632" y="1261872"/>
            <a:ext cx="13670280" cy="987552"/>
          </a:xfrm>
          <a:prstGeom prst="rect">
            <a:avLst/>
          </a:prstGeom>
          <a:noFill/>
        </p:spPr>
        <p:txBody>
          <a:bodyPr wrap="square" lIns="18288" rIns="18288" tIns="18288" bIns="18288" anchor="t">
            <a:normAutofit/>
          </a:bodyPr>
          <a:lstStyle/>
          <a:p>
            <a:pPr algn="l">
              <a:spcAft>
                <a:spcPts val="800"/>
              </a:spcAft>
            </a:pPr>
            <a:r>
              <a:rPr sz="3200" b="1">
                <a:solidFill>
                  <a:srgbClr val="0E1022"/>
                </a:solidFill>
                <a:latin typeface="Arial"/>
              </a:rPr>
              <a:t>Demo 3 | Inspect an earlier seeded artifact</a:t>
            </a:r>
          </a:p>
        </p:txBody>
      </p:sp>
      <p:sp>
        <p:nvSpPr>
          <p:cNvPr id="4" name="TextBox 3"/>
          <p:cNvSpPr txBox="1"/>
          <p:nvPr/>
        </p:nvSpPr>
        <p:spPr>
          <a:xfrm>
            <a:off x="594360" y="2395728"/>
            <a:ext cx="13441680" cy="237744"/>
          </a:xfrm>
          <a:prstGeom prst="rect">
            <a:avLst/>
          </a:prstGeom>
          <a:noFill/>
        </p:spPr>
        <p:txBody>
          <a:bodyPr wrap="square" lIns="18288" rIns="18288" tIns="18288" bIns="18288" anchor="t">
            <a:normAutofit/>
          </a:bodyPr>
          <a:lstStyle/>
          <a:p>
            <a:pPr algn="l">
              <a:lnSpc>
                <a:spcPct val="110000"/>
              </a:lnSpc>
              <a:spcAft>
                <a:spcPts val="0"/>
              </a:spcAft>
            </a:pPr>
            <a:r>
              <a:rPr sz="1300" b="0">
                <a:solidFill>
                  <a:srgbClr val="345282"/>
                </a:solidFill>
                <a:latin typeface="Consolas"/>
              </a:rPr>
              <a:t>demo-3-artifact-expiry.yml</a:t>
            </a:r>
          </a:p>
        </p:txBody>
      </p:sp>
      <p:sp>
        <p:nvSpPr>
          <p:cNvPr id="5" name="Rounded Rectangle 4"/>
          <p:cNvSpPr/>
          <p:nvPr/>
        </p:nvSpPr>
        <p:spPr>
          <a:xfrm>
            <a:off x="594360" y="2798064"/>
            <a:ext cx="9829800" cy="1078992"/>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926080"/>
            <a:ext cx="2743200" cy="749808"/>
          </a:xfrm>
          <a:prstGeom prst="rect">
            <a:avLst/>
          </a:prstGeom>
          <a:noFill/>
        </p:spPr>
        <p:txBody>
          <a:bodyPr wrap="square" lIns="18288" rIns="18288" tIns="18288" bIns="18288" anchor="t">
            <a:normAutofit/>
          </a:bodyPr>
          <a:lstStyle/>
          <a:p>
            <a:pPr algn="l">
              <a:spcAft>
                <a:spcPts val="800"/>
              </a:spcAft>
            </a:pPr>
            <a:r>
              <a:rPr sz="2100" b="1">
                <a:solidFill>
                  <a:srgbClr val="0E1022"/>
                </a:solidFill>
                <a:latin typeface="Arial"/>
              </a:rPr>
              <a:t>1. Open seed evidence</a:t>
            </a:r>
          </a:p>
        </p:txBody>
      </p:sp>
      <p:sp>
        <p:nvSpPr>
          <p:cNvPr id="7" name="TextBox 6"/>
          <p:cNvSpPr txBox="1"/>
          <p:nvPr/>
        </p:nvSpPr>
        <p:spPr>
          <a:xfrm>
            <a:off x="3657600" y="2926080"/>
            <a:ext cx="6537960" cy="813816"/>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Show the successful earlier seed run and retained receipt.</a:t>
            </a:r>
          </a:p>
        </p:txBody>
      </p:sp>
      <p:sp>
        <p:nvSpPr>
          <p:cNvPr id="8" name="Rounded Rectangle 7"/>
          <p:cNvSpPr/>
          <p:nvPr/>
        </p:nvSpPr>
        <p:spPr>
          <a:xfrm>
            <a:off x="594360" y="4105656"/>
            <a:ext cx="9829800" cy="1078992"/>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233672"/>
            <a:ext cx="2743200" cy="749808"/>
          </a:xfrm>
          <a:prstGeom prst="rect">
            <a:avLst/>
          </a:prstGeom>
          <a:noFill/>
        </p:spPr>
        <p:txBody>
          <a:bodyPr wrap="square" lIns="18288" rIns="18288" tIns="18288" bIns="18288" anchor="t">
            <a:normAutofit/>
          </a:bodyPr>
          <a:lstStyle/>
          <a:p>
            <a:pPr algn="l">
              <a:spcAft>
                <a:spcPts val="800"/>
              </a:spcAft>
            </a:pPr>
            <a:r>
              <a:rPr sz="2100" b="1">
                <a:solidFill>
                  <a:srgbClr val="0E1022"/>
                </a:solidFill>
                <a:latin typeface="Arial"/>
              </a:rPr>
              <a:t>2. Inspect</a:t>
            </a:r>
          </a:p>
        </p:txBody>
      </p:sp>
      <p:sp>
        <p:nvSpPr>
          <p:cNvPr id="10" name="TextBox 9"/>
          <p:cNvSpPr txBox="1"/>
          <p:nvPr/>
        </p:nvSpPr>
        <p:spPr>
          <a:xfrm>
            <a:off x="3657600" y="4233672"/>
            <a:ext cx="6537960" cy="813816"/>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operation=inspect; enter the recorded seed run ID.</a:t>
            </a:r>
          </a:p>
        </p:txBody>
      </p:sp>
      <p:sp>
        <p:nvSpPr>
          <p:cNvPr id="11" name="Rounded Rectangle 10"/>
          <p:cNvSpPr/>
          <p:nvPr/>
        </p:nvSpPr>
        <p:spPr>
          <a:xfrm>
            <a:off x="594360" y="5413248"/>
            <a:ext cx="9829800" cy="1078992"/>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5541264"/>
            <a:ext cx="2743200" cy="749808"/>
          </a:xfrm>
          <a:prstGeom prst="rect">
            <a:avLst/>
          </a:prstGeom>
          <a:noFill/>
        </p:spPr>
        <p:txBody>
          <a:bodyPr wrap="square" lIns="18288" rIns="18288" tIns="18288" bIns="18288" anchor="t">
            <a:normAutofit/>
          </a:bodyPr>
          <a:lstStyle/>
          <a:p>
            <a:pPr algn="l">
              <a:spcAft>
                <a:spcPts val="800"/>
              </a:spcAft>
            </a:pPr>
            <a:r>
              <a:rPr sz="2100" b="1">
                <a:solidFill>
                  <a:srgbClr val="0E1022"/>
                </a:solidFill>
                <a:latin typeface="Arial"/>
              </a:rPr>
              <a:t>3. Compare</a:t>
            </a:r>
          </a:p>
        </p:txBody>
      </p:sp>
      <p:sp>
        <p:nvSpPr>
          <p:cNvPr id="13" name="TextBox 12"/>
          <p:cNvSpPr txBox="1"/>
          <p:nvPr/>
        </p:nvSpPr>
        <p:spPr>
          <a:xfrm>
            <a:off x="3657600" y="5541264"/>
            <a:ext cx="6537960" cy="813816"/>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List absence + direct GET 404 + original expiry and upload logs.</a:t>
            </a:r>
          </a:p>
        </p:txBody>
      </p:sp>
      <p:sp>
        <p:nvSpPr>
          <p:cNvPr id="14" name="Rounded Rectangle 13"/>
          <p:cNvSpPr/>
          <p:nvPr/>
        </p:nvSpPr>
        <p:spPr>
          <a:xfrm>
            <a:off x="10716768" y="2798064"/>
            <a:ext cx="3319272" cy="3703320"/>
          </a:xfrm>
          <a:prstGeom prst="roundRect">
            <a:avLst/>
          </a:prstGeom>
          <a:solidFill>
            <a:srgbClr val="0E1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17936" y="2980944"/>
            <a:ext cx="2916936" cy="530352"/>
          </a:xfrm>
          <a:prstGeom prst="rect">
            <a:avLst/>
          </a:prstGeom>
          <a:noFill/>
        </p:spPr>
        <p:txBody>
          <a:bodyPr wrap="square" lIns="18288" rIns="18288" tIns="18288" bIns="18288" anchor="t">
            <a:normAutofit/>
          </a:bodyPr>
          <a:lstStyle/>
          <a:p>
            <a:pPr algn="l">
              <a:spcAft>
                <a:spcPts val="800"/>
              </a:spcAft>
            </a:pPr>
            <a:r>
              <a:rPr sz="2300" b="1">
                <a:solidFill>
                  <a:srgbClr val="FFFFFF"/>
                </a:solidFill>
                <a:latin typeface="Arial"/>
              </a:rPr>
              <a:t>Run from GitHub</a:t>
            </a:r>
          </a:p>
        </p:txBody>
      </p:sp>
      <p:sp>
        <p:nvSpPr>
          <p:cNvPr id="16" name="TextBox 15"/>
          <p:cNvSpPr txBox="1"/>
          <p:nvPr/>
        </p:nvSpPr>
        <p:spPr>
          <a:xfrm>
            <a:off x="10917936" y="3730752"/>
            <a:ext cx="2916936" cy="2569463"/>
          </a:xfrm>
          <a:prstGeom prst="rect">
            <a:avLst/>
          </a:prstGeom>
          <a:noFill/>
        </p:spPr>
        <p:txBody>
          <a:bodyPr wrap="square" lIns="18288" rIns="18288" tIns="18288" bIns="18288" anchor="t">
            <a:normAutofit/>
          </a:bodyPr>
          <a:lstStyle/>
          <a:p>
            <a:pPr algn="l">
              <a:spcAft>
                <a:spcPts val="800"/>
              </a:spcAft>
            </a:pPr>
            <a:r>
              <a:rPr sz="2000" b="0">
                <a:solidFill>
                  <a:srgbClr val="FFFFFF"/>
                </a:solidFill>
                <a:latin typeface="Arial"/>
              </a:rPr>
              <a:t>Actions tab</a:t>
            </a:r>
          </a:p>
          <a:p>
            <a:pPr algn="l">
              <a:spcAft>
                <a:spcPts val="800"/>
              </a:spcAft>
            </a:pPr>
            <a:r>
              <a:rPr sz="2000" b="0">
                <a:solidFill>
                  <a:srgbClr val="FFFFFF"/>
                </a:solidFill>
                <a:latin typeface="Arial"/>
              </a:rPr>
              <a:t>Manual trigger</a:t>
            </a:r>
          </a:p>
          <a:p>
            <a:pPr algn="l">
              <a:spcAft>
                <a:spcPts val="800"/>
              </a:spcAft>
            </a:pPr>
            <a:r>
              <a:rPr sz="2000" b="0">
                <a:solidFill>
                  <a:srgbClr val="FFFFFF"/>
                </a:solidFill>
                <a:latin typeface="Arial"/>
              </a:rPr>
              <a:t>Job summaries</a:t>
            </a:r>
          </a:p>
          <a:p>
            <a:pPr algn="l">
              <a:spcAft>
                <a:spcPts val="800"/>
              </a:spcAft>
            </a:pPr>
            <a:r>
              <a:rPr sz="2000" b="0">
                <a:solidFill>
                  <a:srgbClr val="FFFFFF"/>
                </a:solidFill>
                <a:latin typeface="Arial"/>
              </a:rPr>
              <a:t>Evidence artifacts</a:t>
            </a:r>
          </a:p>
        </p:txBody>
      </p:sp>
      <p:sp>
        <p:nvSpPr>
          <p:cNvPr id="17" name="Rounded Rectangle 16"/>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118872">
            <a:normAutofit/>
          </a:bodyPr>
          <a:lstStyle/>
          <a:p>
            <a:pPr algn="l">
              <a:spcAft>
                <a:spcPts val="800"/>
              </a:spcAft>
            </a:pPr>
            <a:r>
              <a:rPr sz="1700" b="0">
                <a:solidFill>
                  <a:srgbClr val="0E1022"/>
                </a:solidFill>
                <a:latin typeface="Arial"/>
              </a:rPr>
              <a:t>If the seed is too recent or cleanup is pending, say NOT READY and use genuine rehearsal evidence.</a:t>
            </a:r>
          </a:p>
        </p:txBody>
      </p:sp>
      <p:sp>
        <p:nvSpPr>
          <p:cNvPr id="18" name="TextBox 17"/>
          <p:cNvSpPr txBox="1"/>
          <p:nvPr/>
        </p:nvSpPr>
        <p:spPr>
          <a:xfrm>
            <a:off x="10972800" y="7406640"/>
            <a:ext cx="3063240" cy="228600"/>
          </a:xfrm>
          <a:prstGeom prst="rect">
            <a:avLst/>
          </a:prstGeom>
          <a:noFill/>
        </p:spPr>
        <p:txBody>
          <a:bodyPr wrap="square" lIns="18288" rIns="18288" tIns="18288" bIns="18288" anchor="t">
            <a:normAutofit/>
          </a:bodyPr>
          <a:lstStyle/>
          <a:p>
            <a:pPr algn="r">
              <a:spcAft>
                <a:spcPts val="800"/>
              </a:spcAft>
            </a:pPr>
            <a:r>
              <a:rPr sz="1100" b="0">
                <a:solidFill>
                  <a:srgbClr val="555B65"/>
                </a:solidFill>
                <a:latin typeface="Arial"/>
              </a:rPr>
              <a:t>31-35 min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886968"/>
            <a:ext cx="13441680" cy="237744"/>
          </a:xfrm>
          <a:prstGeom prst="rect">
            <a:avLst/>
          </a:prstGeom>
          <a:noFill/>
        </p:spPr>
        <p:txBody>
          <a:bodyPr wrap="square" lIns="18288" rIns="18288" tIns="18288" bIns="18288" anchor="t">
            <a:normAutofit/>
          </a:bodyPr>
          <a:lstStyle/>
          <a:p>
            <a:pPr algn="l">
              <a:spcAft>
                <a:spcPts val="800"/>
              </a:spcAft>
            </a:pPr>
            <a:r>
              <a:rPr sz="1100" b="0">
                <a:solidFill>
                  <a:srgbClr val="555B65"/>
                </a:solidFill>
                <a:latin typeface="Arial"/>
              </a:rPr>
              <a:t>8 | Count accuracy and retrieval completeness</a:t>
            </a:r>
          </a:p>
        </p:txBody>
      </p:sp>
      <p:sp>
        <p:nvSpPr>
          <p:cNvPr id="3" name="TextBox 2"/>
          <p:cNvSpPr txBox="1"/>
          <p:nvPr/>
        </p:nvSpPr>
        <p:spPr>
          <a:xfrm>
            <a:off x="484632" y="1261872"/>
            <a:ext cx="13670280" cy="987552"/>
          </a:xfrm>
          <a:prstGeom prst="rect">
            <a:avLst/>
          </a:prstGeom>
          <a:noFill/>
        </p:spPr>
        <p:txBody>
          <a:bodyPr wrap="square" lIns="18288" rIns="18288" tIns="18288" bIns="18288" anchor="t">
            <a:normAutofit/>
          </a:bodyPr>
          <a:lstStyle/>
          <a:p>
            <a:pPr algn="l">
              <a:spcAft>
                <a:spcPts val="800"/>
              </a:spcAft>
            </a:pPr>
            <a:r>
              <a:rPr sz="3200" b="1">
                <a:solidFill>
                  <a:srgbClr val="0E1022"/>
                </a:solidFill>
                <a:latin typeface="Arial"/>
              </a:rPr>
              <a:t>Two different limits affect workflow-run reporting</a:t>
            </a:r>
          </a:p>
        </p:txBody>
      </p:sp>
      <p:sp>
        <p:nvSpPr>
          <p:cNvPr id="4" name="Rounded Rectangle 3"/>
          <p:cNvSpPr/>
          <p:nvPr/>
        </p:nvSpPr>
        <p:spPr>
          <a:xfrm>
            <a:off x="594360" y="2816352"/>
            <a:ext cx="6583680" cy="3401568"/>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3063240"/>
            <a:ext cx="6035040" cy="932688"/>
          </a:xfrm>
          <a:prstGeom prst="rect">
            <a:avLst/>
          </a:prstGeom>
          <a:noFill/>
        </p:spPr>
        <p:txBody>
          <a:bodyPr wrap="square" lIns="18288" rIns="18288" tIns="18288" bIns="18288" anchor="t">
            <a:normAutofit/>
          </a:bodyPr>
          <a:lstStyle/>
          <a:p>
            <a:pPr algn="l">
              <a:spcAft>
                <a:spcPts val="800"/>
              </a:spcAft>
            </a:pPr>
            <a:r>
              <a:rPr sz="5400" b="1">
                <a:solidFill>
                  <a:srgbClr val="345282"/>
                </a:solidFill>
                <a:latin typeface="Arial"/>
              </a:rPr>
              <a:t>2,500+</a:t>
            </a:r>
          </a:p>
        </p:txBody>
      </p:sp>
      <p:sp>
        <p:nvSpPr>
          <p:cNvPr id="6" name="TextBox 5"/>
          <p:cNvSpPr txBox="1"/>
          <p:nvPr/>
        </p:nvSpPr>
        <p:spPr>
          <a:xfrm>
            <a:off x="850392" y="4242816"/>
            <a:ext cx="6035040" cy="475488"/>
          </a:xfrm>
          <a:prstGeom prst="rect">
            <a:avLst/>
          </a:prstGeom>
          <a:noFill/>
        </p:spPr>
        <p:txBody>
          <a:bodyPr wrap="square" lIns="18288" rIns="18288" tIns="18288" bIns="18288" anchor="t">
            <a:normAutofit/>
          </a:bodyPr>
          <a:lstStyle/>
          <a:p>
            <a:pPr algn="l">
              <a:spcAft>
                <a:spcPts val="800"/>
              </a:spcAft>
            </a:pPr>
            <a:r>
              <a:rPr sz="2400" b="1">
                <a:solidFill>
                  <a:srgbClr val="0E1022"/>
                </a:solidFill>
                <a:latin typeface="Arial"/>
              </a:rPr>
              <a:t>Large-count label</a:t>
            </a:r>
          </a:p>
        </p:txBody>
      </p:sp>
      <p:sp>
        <p:nvSpPr>
          <p:cNvPr id="7" name="TextBox 6"/>
          <p:cNvSpPr txBox="1"/>
          <p:nvPr/>
        </p:nvSpPr>
        <p:spPr>
          <a:xfrm>
            <a:off x="850392" y="5074920"/>
            <a:ext cx="6035040" cy="841248"/>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Counts beyond 2,500 are bounded, not exact.</a:t>
            </a:r>
          </a:p>
        </p:txBody>
      </p:sp>
      <p:sp>
        <p:nvSpPr>
          <p:cNvPr id="8" name="Rounded Rectangle 7"/>
          <p:cNvSpPr/>
          <p:nvPr/>
        </p:nvSpPr>
        <p:spPr>
          <a:xfrm>
            <a:off x="7452360" y="2816352"/>
            <a:ext cx="6583680" cy="3401568"/>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08392" y="3063240"/>
            <a:ext cx="6035040" cy="932688"/>
          </a:xfrm>
          <a:prstGeom prst="rect">
            <a:avLst/>
          </a:prstGeom>
          <a:noFill/>
        </p:spPr>
        <p:txBody>
          <a:bodyPr wrap="square" lIns="18288" rIns="18288" tIns="18288" bIns="18288" anchor="t">
            <a:normAutofit/>
          </a:bodyPr>
          <a:lstStyle/>
          <a:p>
            <a:pPr algn="l">
              <a:spcAft>
                <a:spcPts val="800"/>
              </a:spcAft>
            </a:pPr>
            <a:r>
              <a:rPr sz="5400" b="1">
                <a:solidFill>
                  <a:srgbClr val="345282"/>
                </a:solidFill>
                <a:latin typeface="Arial"/>
              </a:rPr>
              <a:t>1,000</a:t>
            </a:r>
          </a:p>
        </p:txBody>
      </p:sp>
      <p:sp>
        <p:nvSpPr>
          <p:cNvPr id="10" name="TextBox 9"/>
          <p:cNvSpPr txBox="1"/>
          <p:nvPr/>
        </p:nvSpPr>
        <p:spPr>
          <a:xfrm>
            <a:off x="7708392" y="4242816"/>
            <a:ext cx="6035040" cy="475488"/>
          </a:xfrm>
          <a:prstGeom prst="rect">
            <a:avLst/>
          </a:prstGeom>
          <a:noFill/>
        </p:spPr>
        <p:txBody>
          <a:bodyPr wrap="square" lIns="18288" rIns="18288" tIns="18288" bIns="18288" anchor="t">
            <a:normAutofit/>
          </a:bodyPr>
          <a:lstStyle/>
          <a:p>
            <a:pPr algn="l">
              <a:spcAft>
                <a:spcPts val="800"/>
              </a:spcAft>
            </a:pPr>
            <a:r>
              <a:rPr sz="2400" b="1">
                <a:solidFill>
                  <a:srgbClr val="0E1022"/>
                </a:solidFill>
                <a:latin typeface="Arial"/>
              </a:rPr>
              <a:t>Filtered retrieval cap</a:t>
            </a:r>
          </a:p>
        </p:txBody>
      </p:sp>
      <p:sp>
        <p:nvSpPr>
          <p:cNvPr id="11" name="TextBox 10"/>
          <p:cNvSpPr txBox="1"/>
          <p:nvPr/>
        </p:nvSpPr>
        <p:spPr>
          <a:xfrm>
            <a:off x="7708392" y="5074920"/>
            <a:ext cx="6035040" cy="841248"/>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A single filtered search returns up to 1,000 runs.</a:t>
            </a:r>
          </a:p>
        </p:txBody>
      </p:sp>
      <p:sp>
        <p:nvSpPr>
          <p:cNvPr id="12" name="Rounded Rectangle 11"/>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118872">
            <a:normAutofit/>
          </a:bodyPr>
          <a:lstStyle/>
          <a:p>
            <a:pPr algn="l">
              <a:spcAft>
                <a:spcPts val="800"/>
              </a:spcAft>
            </a:pPr>
            <a:r>
              <a:rPr sz="1700" b="0">
                <a:solidFill>
                  <a:srgbClr val="0E1022"/>
                </a:solidFill>
                <a:latin typeface="Arial"/>
              </a:rPr>
              <a:t>Ordinary pagination does not remove the filtered cap. Inspect actual API count values.</a:t>
            </a:r>
          </a:p>
        </p:txBody>
      </p:sp>
      <p:sp>
        <p:nvSpPr>
          <p:cNvPr id="13" name="TextBox 12"/>
          <p:cNvSpPr txBox="1"/>
          <p:nvPr/>
        </p:nvSpPr>
        <p:spPr>
          <a:xfrm>
            <a:off x="594360" y="7406640"/>
            <a:ext cx="9601200" cy="228600"/>
          </a:xfrm>
          <a:prstGeom prst="rect">
            <a:avLst/>
          </a:prstGeom>
          <a:noFill/>
        </p:spPr>
        <p:txBody>
          <a:bodyPr wrap="square" lIns="18288" rIns="18288" tIns="18288" bIns="18288" anchor="t">
            <a:normAutofit/>
          </a:bodyPr>
          <a:lstStyle/>
          <a:p>
            <a:pPr algn="l">
              <a:spcAft>
                <a:spcPts val="800"/>
              </a:spcAft>
            </a:pPr>
            <a:r>
              <a:rPr sz="1100" b="0">
                <a:solidFill>
                  <a:srgbClr val="345282"/>
                </a:solidFill>
                <a:latin typeface="Arial"/>
                <a:hlinkClick r:id="rId3"/>
              </a:rPr>
              <a:t>GitHub Changelog | 25 Sep 2026</a:t>
            </a:r>
          </a:p>
        </p:txBody>
      </p:sp>
      <p:sp>
        <p:nvSpPr>
          <p:cNvPr id="14" name="TextBox 13"/>
          <p:cNvSpPr txBox="1"/>
          <p:nvPr/>
        </p:nvSpPr>
        <p:spPr>
          <a:xfrm>
            <a:off x="10972800" y="7406640"/>
            <a:ext cx="3063240" cy="228600"/>
          </a:xfrm>
          <a:prstGeom prst="rect">
            <a:avLst/>
          </a:prstGeom>
          <a:noFill/>
        </p:spPr>
        <p:txBody>
          <a:bodyPr wrap="square" lIns="18288" rIns="18288" tIns="18288" bIns="18288" anchor="t">
            <a:normAutofit/>
          </a:bodyPr>
          <a:lstStyle/>
          <a:p>
            <a:pPr algn="r">
              <a:spcAft>
                <a:spcPts val="800"/>
              </a:spcAft>
            </a:pPr>
            <a:r>
              <a:rPr sz="1100" b="0">
                <a:solidFill>
                  <a:srgbClr val="555B65"/>
                </a:solidFill>
                <a:latin typeface="Arial"/>
              </a:rPr>
              <a:t>35-37 min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886968"/>
            <a:ext cx="13441680" cy="237744"/>
          </a:xfrm>
          <a:prstGeom prst="rect">
            <a:avLst/>
          </a:prstGeom>
          <a:noFill/>
        </p:spPr>
        <p:txBody>
          <a:bodyPr wrap="square" lIns="18288" rIns="18288" tIns="18288" bIns="18288" anchor="t">
            <a:normAutofit/>
          </a:bodyPr>
          <a:lstStyle/>
          <a:p>
            <a:pPr algn="l">
              <a:spcAft>
                <a:spcPts val="800"/>
              </a:spcAft>
            </a:pPr>
            <a:r>
              <a:rPr sz="1100" b="0">
                <a:solidFill>
                  <a:srgbClr val="555B65"/>
                </a:solidFill>
                <a:latin typeface="Arial"/>
              </a:rPr>
              <a:t>8 | Explicit UTC bounds; distinct run IDs; bounded requests</a:t>
            </a:r>
          </a:p>
        </p:txBody>
      </p:sp>
      <p:sp>
        <p:nvSpPr>
          <p:cNvPr id="3" name="TextBox 2"/>
          <p:cNvSpPr txBox="1"/>
          <p:nvPr/>
        </p:nvSpPr>
        <p:spPr>
          <a:xfrm>
            <a:off x="484632" y="1261872"/>
            <a:ext cx="13670280" cy="987552"/>
          </a:xfrm>
          <a:prstGeom prst="rect">
            <a:avLst/>
          </a:prstGeom>
          <a:noFill/>
        </p:spPr>
        <p:txBody>
          <a:bodyPr wrap="square" lIns="18288" rIns="18288" tIns="18288" bIns="18288" anchor="t">
            <a:normAutofit/>
          </a:bodyPr>
          <a:lstStyle/>
          <a:p>
            <a:pPr algn="l">
              <a:spcAft>
                <a:spcPts val="800"/>
              </a:spcAft>
            </a:pPr>
            <a:r>
              <a:rPr sz="3200" b="1">
                <a:solidFill>
                  <a:srgbClr val="0E1022"/>
                </a:solidFill>
                <a:latin typeface="Arial"/>
              </a:rPr>
              <a:t>Split the time window before you hit the retrieval cap</a:t>
            </a:r>
          </a:p>
        </p:txBody>
      </p:sp>
      <p:sp>
        <p:nvSpPr>
          <p:cNvPr id="4" name="Rounded Rectangle 3"/>
          <p:cNvSpPr/>
          <p:nvPr/>
        </p:nvSpPr>
        <p:spPr>
          <a:xfrm>
            <a:off x="594360" y="3383280"/>
            <a:ext cx="3051810" cy="246888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57650" y="3383280"/>
            <a:ext cx="3051810" cy="246888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520940" y="3383280"/>
            <a:ext cx="3051810" cy="246888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984230" y="3383280"/>
            <a:ext cx="3051810" cy="246888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Arrow 7"/>
          <p:cNvSpPr/>
          <p:nvPr/>
        </p:nvSpPr>
        <p:spPr>
          <a:xfrm>
            <a:off x="3714750" y="4315968"/>
            <a:ext cx="274320" cy="347472"/>
          </a:xfrm>
          <a:prstGeom prst="rightArrow">
            <a:avLst/>
          </a:prstGeom>
          <a:solidFill>
            <a:srgbClr val="3452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ight Arrow 8"/>
          <p:cNvSpPr/>
          <p:nvPr/>
        </p:nvSpPr>
        <p:spPr>
          <a:xfrm>
            <a:off x="7178040" y="4315968"/>
            <a:ext cx="274320" cy="347472"/>
          </a:xfrm>
          <a:prstGeom prst="rightArrow">
            <a:avLst/>
          </a:prstGeom>
          <a:solidFill>
            <a:srgbClr val="3452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10641330" y="4315968"/>
            <a:ext cx="274320" cy="347472"/>
          </a:xfrm>
          <a:prstGeom prst="rightArrow">
            <a:avLst/>
          </a:prstGeom>
          <a:solidFill>
            <a:srgbClr val="3452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611880"/>
            <a:ext cx="2686050" cy="502920"/>
          </a:xfrm>
          <a:prstGeom prst="rect">
            <a:avLst/>
          </a:prstGeom>
          <a:noFill/>
        </p:spPr>
        <p:txBody>
          <a:bodyPr wrap="square" lIns="18288" rIns="18288" tIns="18288" bIns="18288" anchor="t">
            <a:normAutofit/>
          </a:bodyPr>
          <a:lstStyle/>
          <a:p>
            <a:pPr algn="l">
              <a:spcAft>
                <a:spcPts val="800"/>
              </a:spcAft>
            </a:pPr>
            <a:r>
              <a:rPr sz="2300" b="1">
                <a:solidFill>
                  <a:srgbClr val="0E1022"/>
                </a:solidFill>
                <a:latin typeface="Arial"/>
              </a:rPr>
              <a:t>Query</a:t>
            </a:r>
          </a:p>
        </p:txBody>
      </p:sp>
      <p:sp>
        <p:nvSpPr>
          <p:cNvPr id="12" name="TextBox 11"/>
          <p:cNvSpPr txBox="1"/>
          <p:nvPr/>
        </p:nvSpPr>
        <p:spPr>
          <a:xfrm>
            <a:off x="777240" y="4498848"/>
            <a:ext cx="2686050" cy="1033271"/>
          </a:xfrm>
          <a:prstGeom prst="rect">
            <a:avLst/>
          </a:prstGeom>
          <a:noFill/>
        </p:spPr>
        <p:txBody>
          <a:bodyPr wrap="square" lIns="18288" rIns="18288" tIns="18288" bIns="18288" anchor="t">
            <a:normAutofit/>
          </a:bodyPr>
          <a:lstStyle/>
          <a:p>
            <a:pPr algn="l">
              <a:spcAft>
                <a:spcPts val="800"/>
              </a:spcAft>
            </a:pPr>
            <a:r>
              <a:rPr sz="1900" b="0">
                <a:solidFill>
                  <a:srgbClr val="555B65"/>
                </a:solidFill>
                <a:latin typeface="Arial"/>
              </a:rPr>
              <a:t>Read count and first page</a:t>
            </a:r>
          </a:p>
          <a:p>
            <a:pPr algn="l">
              <a:spcAft>
                <a:spcPts val="800"/>
              </a:spcAft>
            </a:pPr>
            <a:r>
              <a:rPr sz="1900" b="0">
                <a:solidFill>
                  <a:srgbClr val="555B65"/>
                </a:solidFill>
                <a:latin typeface="Arial"/>
              </a:rPr>
              <a:t>for an explicit window.</a:t>
            </a:r>
          </a:p>
        </p:txBody>
      </p:sp>
      <p:sp>
        <p:nvSpPr>
          <p:cNvPr id="13" name="TextBox 12"/>
          <p:cNvSpPr txBox="1"/>
          <p:nvPr/>
        </p:nvSpPr>
        <p:spPr>
          <a:xfrm>
            <a:off x="4240530" y="3611880"/>
            <a:ext cx="2686050" cy="502920"/>
          </a:xfrm>
          <a:prstGeom prst="rect">
            <a:avLst/>
          </a:prstGeom>
          <a:noFill/>
        </p:spPr>
        <p:txBody>
          <a:bodyPr wrap="square" lIns="18288" rIns="18288" tIns="18288" bIns="18288" anchor="t">
            <a:normAutofit/>
          </a:bodyPr>
          <a:lstStyle/>
          <a:p>
            <a:pPr algn="l">
              <a:spcAft>
                <a:spcPts val="800"/>
              </a:spcAft>
            </a:pPr>
            <a:r>
              <a:rPr sz="2300" b="1">
                <a:solidFill>
                  <a:srgbClr val="0E1022"/>
                </a:solidFill>
                <a:latin typeface="Arial"/>
              </a:rPr>
              <a:t>Split</a:t>
            </a:r>
          </a:p>
        </p:txBody>
      </p:sp>
      <p:sp>
        <p:nvSpPr>
          <p:cNvPr id="14" name="TextBox 13"/>
          <p:cNvSpPr txBox="1"/>
          <p:nvPr/>
        </p:nvSpPr>
        <p:spPr>
          <a:xfrm>
            <a:off x="4240530" y="4498848"/>
            <a:ext cx="2686050" cy="1033271"/>
          </a:xfrm>
          <a:prstGeom prst="rect">
            <a:avLst/>
          </a:prstGeom>
          <a:noFill/>
        </p:spPr>
        <p:txBody>
          <a:bodyPr wrap="square" lIns="18288" rIns="18288" tIns="18288" bIns="18288" anchor="t">
            <a:normAutofit/>
          </a:bodyPr>
          <a:lstStyle/>
          <a:p>
            <a:pPr algn="l">
              <a:spcAft>
                <a:spcPts val="800"/>
              </a:spcAft>
            </a:pPr>
            <a:r>
              <a:rPr sz="1900" b="0">
                <a:solidFill>
                  <a:srgbClr val="555B65"/>
                </a:solidFill>
                <a:latin typeface="Arial"/>
              </a:rPr>
              <a:t>If bounded or &gt;=1,000,</a:t>
            </a:r>
          </a:p>
          <a:p>
            <a:pPr algn="l">
              <a:spcAft>
                <a:spcPts val="800"/>
              </a:spcAft>
            </a:pPr>
            <a:r>
              <a:rPr sz="1900" b="0">
                <a:solidFill>
                  <a:srgbClr val="555B65"/>
                </a:solidFill>
                <a:latin typeface="Arial"/>
              </a:rPr>
              <a:t>subdivide into adjacent windows.</a:t>
            </a:r>
          </a:p>
        </p:txBody>
      </p:sp>
      <p:sp>
        <p:nvSpPr>
          <p:cNvPr id="15" name="TextBox 14"/>
          <p:cNvSpPr txBox="1"/>
          <p:nvPr/>
        </p:nvSpPr>
        <p:spPr>
          <a:xfrm>
            <a:off x="7703819" y="3611880"/>
            <a:ext cx="2686050" cy="502920"/>
          </a:xfrm>
          <a:prstGeom prst="rect">
            <a:avLst/>
          </a:prstGeom>
          <a:noFill/>
        </p:spPr>
        <p:txBody>
          <a:bodyPr wrap="square" lIns="18288" rIns="18288" tIns="18288" bIns="18288" anchor="t">
            <a:normAutofit/>
          </a:bodyPr>
          <a:lstStyle/>
          <a:p>
            <a:pPr algn="l">
              <a:spcAft>
                <a:spcPts val="800"/>
              </a:spcAft>
            </a:pPr>
            <a:r>
              <a:rPr sz="2300" b="1">
                <a:solidFill>
                  <a:srgbClr val="0E1022"/>
                </a:solidFill>
                <a:latin typeface="Arial"/>
              </a:rPr>
              <a:t>Enumerate</a:t>
            </a:r>
          </a:p>
        </p:txBody>
      </p:sp>
      <p:sp>
        <p:nvSpPr>
          <p:cNvPr id="16" name="TextBox 15"/>
          <p:cNvSpPr txBox="1"/>
          <p:nvPr/>
        </p:nvSpPr>
        <p:spPr>
          <a:xfrm>
            <a:off x="7703819" y="4498848"/>
            <a:ext cx="2686050" cy="1033271"/>
          </a:xfrm>
          <a:prstGeom prst="rect">
            <a:avLst/>
          </a:prstGeom>
          <a:noFill/>
        </p:spPr>
        <p:txBody>
          <a:bodyPr wrap="square" lIns="18288" rIns="18288" tIns="18288" bIns="18288" anchor="t">
            <a:normAutofit/>
          </a:bodyPr>
          <a:lstStyle/>
          <a:p>
            <a:pPr algn="l">
              <a:spcAft>
                <a:spcPts val="800"/>
              </a:spcAft>
            </a:pPr>
            <a:r>
              <a:rPr sz="1900" b="0">
                <a:solidFill>
                  <a:srgbClr val="555B65"/>
                </a:solidFill>
                <a:latin typeface="Arial"/>
              </a:rPr>
              <a:t>Page smaller windows;</a:t>
            </a:r>
          </a:p>
          <a:p>
            <a:pPr algn="l">
              <a:spcAft>
                <a:spcPts val="800"/>
              </a:spcAft>
            </a:pPr>
            <a:r>
              <a:rPr sz="1900" b="0">
                <a:solidFill>
                  <a:srgbClr val="555B65"/>
                </a:solidFill>
                <a:latin typeface="Arial"/>
              </a:rPr>
              <a:t>deduplicate run IDs.</a:t>
            </a:r>
          </a:p>
        </p:txBody>
      </p:sp>
      <p:sp>
        <p:nvSpPr>
          <p:cNvPr id="17" name="TextBox 16"/>
          <p:cNvSpPr txBox="1"/>
          <p:nvPr/>
        </p:nvSpPr>
        <p:spPr>
          <a:xfrm>
            <a:off x="11167110" y="3611880"/>
            <a:ext cx="2686050" cy="502920"/>
          </a:xfrm>
          <a:prstGeom prst="rect">
            <a:avLst/>
          </a:prstGeom>
          <a:noFill/>
        </p:spPr>
        <p:txBody>
          <a:bodyPr wrap="square" lIns="18288" rIns="18288" tIns="18288" bIns="18288" anchor="t">
            <a:normAutofit/>
          </a:bodyPr>
          <a:lstStyle/>
          <a:p>
            <a:pPr algn="l">
              <a:spcAft>
                <a:spcPts val="800"/>
              </a:spcAft>
            </a:pPr>
            <a:r>
              <a:rPr sz="2300" b="1">
                <a:solidFill>
                  <a:srgbClr val="0E1022"/>
                </a:solidFill>
                <a:latin typeface="Arial"/>
              </a:rPr>
              <a:t>Stop safely</a:t>
            </a:r>
          </a:p>
        </p:txBody>
      </p:sp>
      <p:sp>
        <p:nvSpPr>
          <p:cNvPr id="18" name="TextBox 17"/>
          <p:cNvSpPr txBox="1"/>
          <p:nvPr/>
        </p:nvSpPr>
        <p:spPr>
          <a:xfrm>
            <a:off x="11167110" y="4498848"/>
            <a:ext cx="2686050" cy="1033271"/>
          </a:xfrm>
          <a:prstGeom prst="rect">
            <a:avLst/>
          </a:prstGeom>
          <a:noFill/>
        </p:spPr>
        <p:txBody>
          <a:bodyPr wrap="square" lIns="18288" rIns="18288" tIns="18288" bIns="18288" anchor="t">
            <a:normAutofit/>
          </a:bodyPr>
          <a:lstStyle/>
          <a:p>
            <a:pPr algn="l">
              <a:spcAft>
                <a:spcPts val="800"/>
              </a:spcAft>
            </a:pPr>
            <a:r>
              <a:rPr sz="1900" b="0">
                <a:solidFill>
                  <a:srgbClr val="555B65"/>
                </a:solidFill>
                <a:latin typeface="Arial"/>
              </a:rPr>
              <a:t>Fail on saturation or budget;</a:t>
            </a:r>
          </a:p>
          <a:p>
            <a:pPr algn="l">
              <a:spcAft>
                <a:spcPts val="800"/>
              </a:spcAft>
            </a:pPr>
            <a:r>
              <a:rPr sz="1900" b="0">
                <a:solidFill>
                  <a:srgbClr val="555B65"/>
                </a:solidFill>
                <a:latin typeface="Arial"/>
              </a:rPr>
              <a:t>never claim truncated data is complete.</a:t>
            </a:r>
          </a:p>
        </p:txBody>
      </p:sp>
      <p:sp>
        <p:nvSpPr>
          <p:cNvPr id="19" name="Rounded Rectangle 18"/>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118872">
            <a:normAutofit/>
          </a:bodyPr>
          <a:lstStyle/>
          <a:p>
            <a:pPr algn="l">
              <a:spcAft>
                <a:spcPts val="800"/>
              </a:spcAft>
            </a:pPr>
            <a:r>
              <a:rPr sz="1700" b="0">
                <a:solidFill>
                  <a:srgbClr val="0E1022"/>
                </a:solidFill>
                <a:latin typeface="Arial"/>
              </a:rPr>
              <a:t>API enumeration is not an atomic snapshot; concurrent record changes still matter.</a:t>
            </a:r>
          </a:p>
        </p:txBody>
      </p:sp>
      <p:sp>
        <p:nvSpPr>
          <p:cNvPr id="20" name="TextBox 19"/>
          <p:cNvSpPr txBox="1"/>
          <p:nvPr/>
        </p:nvSpPr>
        <p:spPr>
          <a:xfrm>
            <a:off x="594360" y="7406640"/>
            <a:ext cx="9601200" cy="228600"/>
          </a:xfrm>
          <a:prstGeom prst="rect">
            <a:avLst/>
          </a:prstGeom>
          <a:noFill/>
        </p:spPr>
        <p:txBody>
          <a:bodyPr wrap="square" lIns="18288" rIns="18288" tIns="18288" bIns="18288" anchor="t">
            <a:normAutofit/>
          </a:bodyPr>
          <a:lstStyle/>
          <a:p>
            <a:pPr algn="l">
              <a:spcAft>
                <a:spcPts val="800"/>
              </a:spcAft>
            </a:pPr>
            <a:r>
              <a:rPr sz="1100" b="0">
                <a:solidFill>
                  <a:srgbClr val="345282"/>
                </a:solidFill>
                <a:latin typeface="Arial"/>
                <a:hlinkClick r:id="rId3"/>
              </a:rPr>
              <a:t>Workflow runs REST reference</a:t>
            </a:r>
          </a:p>
        </p:txBody>
      </p:sp>
      <p:sp>
        <p:nvSpPr>
          <p:cNvPr id="21" name="TextBox 20"/>
          <p:cNvSpPr txBox="1"/>
          <p:nvPr/>
        </p:nvSpPr>
        <p:spPr>
          <a:xfrm>
            <a:off x="10972800" y="7406640"/>
            <a:ext cx="3063240" cy="228600"/>
          </a:xfrm>
          <a:prstGeom prst="rect">
            <a:avLst/>
          </a:prstGeom>
          <a:noFill/>
        </p:spPr>
        <p:txBody>
          <a:bodyPr wrap="square" lIns="18288" rIns="18288" tIns="18288" bIns="18288" anchor="t">
            <a:normAutofit/>
          </a:bodyPr>
          <a:lstStyle/>
          <a:p>
            <a:pPr algn="r">
              <a:spcAft>
                <a:spcPts val="800"/>
              </a:spcAft>
            </a:pPr>
            <a:r>
              <a:rPr sz="1100" b="0">
                <a:solidFill>
                  <a:srgbClr val="555B65"/>
                </a:solidFill>
                <a:latin typeface="Arial"/>
              </a:rPr>
              <a:t>37-38 min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886968"/>
            <a:ext cx="13441680" cy="237744"/>
          </a:xfrm>
          <a:prstGeom prst="rect">
            <a:avLst/>
          </a:prstGeom>
          <a:noFill/>
        </p:spPr>
        <p:txBody>
          <a:bodyPr wrap="square" lIns="18288" rIns="18288" tIns="18288" bIns="18288" anchor="t">
            <a:normAutofit/>
          </a:bodyPr>
          <a:lstStyle/>
          <a:p>
            <a:pPr algn="l">
              <a:spcAft>
                <a:spcPts val="800"/>
              </a:spcAft>
            </a:pPr>
            <a:r>
              <a:rPr sz="1100" b="0">
                <a:solidFill>
                  <a:srgbClr val="555B65"/>
                </a:solidFill>
                <a:latin typeface="Arial"/>
              </a:rPr>
              <a:t>DXC | GitHub Actions Office Hour</a:t>
            </a:r>
          </a:p>
        </p:txBody>
      </p:sp>
      <p:sp>
        <p:nvSpPr>
          <p:cNvPr id="3" name="TextBox 2"/>
          <p:cNvSpPr txBox="1"/>
          <p:nvPr/>
        </p:nvSpPr>
        <p:spPr>
          <a:xfrm>
            <a:off x="484632" y="1261872"/>
            <a:ext cx="13670280" cy="987552"/>
          </a:xfrm>
          <a:prstGeom prst="rect">
            <a:avLst/>
          </a:prstGeom>
          <a:noFill/>
        </p:spPr>
        <p:txBody>
          <a:bodyPr wrap="square" lIns="18288" rIns="18288" tIns="18288" bIns="18288" anchor="t">
            <a:normAutofit/>
          </a:bodyPr>
          <a:lstStyle/>
          <a:p>
            <a:pPr algn="l">
              <a:spcAft>
                <a:spcPts val="800"/>
              </a:spcAft>
            </a:pPr>
            <a:r>
              <a:rPr sz="3200" b="1">
                <a:solidFill>
                  <a:srgbClr val="0E1022"/>
                </a:solidFill>
                <a:latin typeface="Arial"/>
              </a:rPr>
              <a:t>Demo 4 | Live small-repo pagination; labeled large-count fixture</a:t>
            </a:r>
          </a:p>
        </p:txBody>
      </p:sp>
      <p:sp>
        <p:nvSpPr>
          <p:cNvPr id="4" name="TextBox 3"/>
          <p:cNvSpPr txBox="1"/>
          <p:nvPr/>
        </p:nvSpPr>
        <p:spPr>
          <a:xfrm>
            <a:off x="594360" y="2395728"/>
            <a:ext cx="13441680" cy="237744"/>
          </a:xfrm>
          <a:prstGeom prst="rect">
            <a:avLst/>
          </a:prstGeom>
          <a:noFill/>
        </p:spPr>
        <p:txBody>
          <a:bodyPr wrap="square" lIns="18288" rIns="18288" tIns="18288" bIns="18288" anchor="t">
            <a:normAutofit/>
          </a:bodyPr>
          <a:lstStyle/>
          <a:p>
            <a:pPr algn="l">
              <a:lnSpc>
                <a:spcPct val="110000"/>
              </a:lnSpc>
              <a:spcAft>
                <a:spcPts val="0"/>
              </a:spcAft>
            </a:pPr>
            <a:r>
              <a:rPr sz="1300" b="0">
                <a:solidFill>
                  <a:srgbClr val="345282"/>
                </a:solidFill>
                <a:latin typeface="Consolas"/>
              </a:rPr>
              <a:t>demo-4-bounded-reporting.yml</a:t>
            </a:r>
          </a:p>
        </p:txBody>
      </p:sp>
      <p:sp>
        <p:nvSpPr>
          <p:cNvPr id="5" name="Rounded Rectangle 4"/>
          <p:cNvSpPr/>
          <p:nvPr/>
        </p:nvSpPr>
        <p:spPr>
          <a:xfrm>
            <a:off x="594360" y="2798064"/>
            <a:ext cx="9829800" cy="1078992"/>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926080"/>
            <a:ext cx="2743200" cy="749808"/>
          </a:xfrm>
          <a:prstGeom prst="rect">
            <a:avLst/>
          </a:prstGeom>
          <a:noFill/>
        </p:spPr>
        <p:txBody>
          <a:bodyPr wrap="square" lIns="18288" rIns="18288" tIns="18288" bIns="18288" anchor="t">
            <a:normAutofit/>
          </a:bodyPr>
          <a:lstStyle/>
          <a:p>
            <a:pPr algn="l">
              <a:spcAft>
                <a:spcPts val="800"/>
              </a:spcAft>
            </a:pPr>
            <a:r>
              <a:rPr sz="2100" b="1">
                <a:solidFill>
                  <a:srgbClr val="0E1022"/>
                </a:solidFill>
                <a:latin typeface="Arial"/>
              </a:rPr>
              <a:t>1. Live query</a:t>
            </a:r>
          </a:p>
        </p:txBody>
      </p:sp>
      <p:sp>
        <p:nvSpPr>
          <p:cNvPr id="7" name="TextBox 6"/>
          <p:cNvSpPr txBox="1"/>
          <p:nvPr/>
        </p:nvSpPr>
        <p:spPr>
          <a:xfrm>
            <a:off x="3657600" y="2926080"/>
            <a:ext cx="6537960" cy="813816"/>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Dates cover rehearsal runs; page size 2 makes pagination visible.</a:t>
            </a:r>
          </a:p>
        </p:txBody>
      </p:sp>
      <p:sp>
        <p:nvSpPr>
          <p:cNvPr id="8" name="Rounded Rectangle 7"/>
          <p:cNvSpPr/>
          <p:nvPr/>
        </p:nvSpPr>
        <p:spPr>
          <a:xfrm>
            <a:off x="594360" y="4105656"/>
            <a:ext cx="9829800" cy="1078992"/>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233672"/>
            <a:ext cx="2743200" cy="749808"/>
          </a:xfrm>
          <a:prstGeom prst="rect">
            <a:avLst/>
          </a:prstGeom>
          <a:noFill/>
        </p:spPr>
        <p:txBody>
          <a:bodyPr wrap="square" lIns="18288" rIns="18288" tIns="18288" bIns="18288" anchor="t">
            <a:normAutofit/>
          </a:bodyPr>
          <a:lstStyle/>
          <a:p>
            <a:pPr algn="l">
              <a:spcAft>
                <a:spcPts val="800"/>
              </a:spcAft>
            </a:pPr>
            <a:r>
              <a:rPr sz="2100" b="1">
                <a:solidFill>
                  <a:srgbClr val="0E1022"/>
                </a:solidFill>
                <a:latin typeface="Arial"/>
              </a:rPr>
              <a:t>2. Read evidence</a:t>
            </a:r>
          </a:p>
        </p:txBody>
      </p:sp>
      <p:sp>
        <p:nvSpPr>
          <p:cNvPr id="10" name="TextBox 9"/>
          <p:cNvSpPr txBox="1"/>
          <p:nvPr/>
        </p:nvSpPr>
        <p:spPr>
          <a:xfrm>
            <a:off x="3657600" y="4233672"/>
            <a:ext cx="6537960" cy="813816"/>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Inspect distinct IDs, actual counts, windows, and request total.</a:t>
            </a:r>
          </a:p>
        </p:txBody>
      </p:sp>
      <p:sp>
        <p:nvSpPr>
          <p:cNvPr id="11" name="Rounded Rectangle 10"/>
          <p:cNvSpPr/>
          <p:nvPr/>
        </p:nvSpPr>
        <p:spPr>
          <a:xfrm>
            <a:off x="594360" y="5413248"/>
            <a:ext cx="9829800" cy="1078992"/>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5541264"/>
            <a:ext cx="2743200" cy="749808"/>
          </a:xfrm>
          <a:prstGeom prst="rect">
            <a:avLst/>
          </a:prstGeom>
          <a:noFill/>
        </p:spPr>
        <p:txBody>
          <a:bodyPr wrap="square" lIns="18288" rIns="18288" tIns="18288" bIns="18288" anchor="t">
            <a:normAutofit/>
          </a:bodyPr>
          <a:lstStyle/>
          <a:p>
            <a:pPr algn="l">
              <a:spcAft>
                <a:spcPts val="800"/>
              </a:spcAft>
            </a:pPr>
            <a:r>
              <a:rPr sz="2100" b="1">
                <a:solidFill>
                  <a:srgbClr val="0E1022"/>
                </a:solidFill>
                <a:latin typeface="Arial"/>
              </a:rPr>
              <a:t>3. Explain scale</a:t>
            </a:r>
          </a:p>
        </p:txBody>
      </p:sp>
      <p:sp>
        <p:nvSpPr>
          <p:cNvPr id="13" name="TextBox 12"/>
          <p:cNvSpPr txBox="1"/>
          <p:nvPr/>
        </p:nvSpPr>
        <p:spPr>
          <a:xfrm>
            <a:off x="3657600" y="5541264"/>
            <a:ext cx="6537960" cy="813816"/>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Show the synthetic bounded-count unit test; label it offline.</a:t>
            </a:r>
          </a:p>
        </p:txBody>
      </p:sp>
      <p:sp>
        <p:nvSpPr>
          <p:cNvPr id="14" name="Rounded Rectangle 13"/>
          <p:cNvSpPr/>
          <p:nvPr/>
        </p:nvSpPr>
        <p:spPr>
          <a:xfrm>
            <a:off x="10716768" y="2798064"/>
            <a:ext cx="3319272" cy="3703320"/>
          </a:xfrm>
          <a:prstGeom prst="roundRect">
            <a:avLst/>
          </a:prstGeom>
          <a:solidFill>
            <a:srgbClr val="0E1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17936" y="2980944"/>
            <a:ext cx="2916936" cy="530352"/>
          </a:xfrm>
          <a:prstGeom prst="rect">
            <a:avLst/>
          </a:prstGeom>
          <a:noFill/>
        </p:spPr>
        <p:txBody>
          <a:bodyPr wrap="square" lIns="18288" rIns="18288" tIns="18288" bIns="18288" anchor="t">
            <a:normAutofit/>
          </a:bodyPr>
          <a:lstStyle/>
          <a:p>
            <a:pPr algn="l">
              <a:spcAft>
                <a:spcPts val="800"/>
              </a:spcAft>
            </a:pPr>
            <a:r>
              <a:rPr sz="2300" b="1">
                <a:solidFill>
                  <a:srgbClr val="FFFFFF"/>
                </a:solidFill>
                <a:latin typeface="Arial"/>
              </a:rPr>
              <a:t>Run from GitHub</a:t>
            </a:r>
          </a:p>
        </p:txBody>
      </p:sp>
      <p:sp>
        <p:nvSpPr>
          <p:cNvPr id="16" name="TextBox 15"/>
          <p:cNvSpPr txBox="1"/>
          <p:nvPr/>
        </p:nvSpPr>
        <p:spPr>
          <a:xfrm>
            <a:off x="10917936" y="3730752"/>
            <a:ext cx="2916936" cy="2569463"/>
          </a:xfrm>
          <a:prstGeom prst="rect">
            <a:avLst/>
          </a:prstGeom>
          <a:noFill/>
        </p:spPr>
        <p:txBody>
          <a:bodyPr wrap="square" lIns="18288" rIns="18288" tIns="18288" bIns="18288" anchor="t">
            <a:normAutofit/>
          </a:bodyPr>
          <a:lstStyle/>
          <a:p>
            <a:pPr algn="l">
              <a:spcAft>
                <a:spcPts val="800"/>
              </a:spcAft>
            </a:pPr>
            <a:r>
              <a:rPr sz="2000" b="0">
                <a:solidFill>
                  <a:srgbClr val="FFFFFF"/>
                </a:solidFill>
                <a:latin typeface="Arial"/>
              </a:rPr>
              <a:t>Actions tab</a:t>
            </a:r>
          </a:p>
          <a:p>
            <a:pPr algn="l">
              <a:spcAft>
                <a:spcPts val="800"/>
              </a:spcAft>
            </a:pPr>
            <a:r>
              <a:rPr sz="2000" b="0">
                <a:solidFill>
                  <a:srgbClr val="FFFFFF"/>
                </a:solidFill>
                <a:latin typeface="Arial"/>
              </a:rPr>
              <a:t>Manual trigger</a:t>
            </a:r>
          </a:p>
          <a:p>
            <a:pPr algn="l">
              <a:spcAft>
                <a:spcPts val="800"/>
              </a:spcAft>
            </a:pPr>
            <a:r>
              <a:rPr sz="2000" b="0">
                <a:solidFill>
                  <a:srgbClr val="FFFFFF"/>
                </a:solidFill>
                <a:latin typeface="Arial"/>
              </a:rPr>
              <a:t>Job summaries</a:t>
            </a:r>
          </a:p>
          <a:p>
            <a:pPr algn="l">
              <a:spcAft>
                <a:spcPts val="800"/>
              </a:spcAft>
            </a:pPr>
            <a:r>
              <a:rPr sz="2000" b="0">
                <a:solidFill>
                  <a:srgbClr val="FFFFFF"/>
                </a:solidFill>
                <a:latin typeface="Arial"/>
              </a:rPr>
              <a:t>Evidence artifacts</a:t>
            </a:r>
          </a:p>
        </p:txBody>
      </p:sp>
      <p:sp>
        <p:nvSpPr>
          <p:cNvPr id="17" name="Rounded Rectangle 16"/>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118872">
            <a:normAutofit/>
          </a:bodyPr>
          <a:lstStyle/>
          <a:p>
            <a:pPr algn="l">
              <a:spcAft>
                <a:spcPts val="800"/>
              </a:spcAft>
            </a:pPr>
            <a:r>
              <a:rPr sz="1700" b="0">
                <a:solidFill>
                  <a:srgbClr val="0E1022"/>
                </a:solidFill>
                <a:latin typeface="Arial"/>
              </a:rPr>
              <a:t>No large count observed = no live proof of the 2,500+ threshold.</a:t>
            </a:r>
          </a:p>
        </p:txBody>
      </p:sp>
      <p:sp>
        <p:nvSpPr>
          <p:cNvPr id="18" name="TextBox 17"/>
          <p:cNvSpPr txBox="1"/>
          <p:nvPr/>
        </p:nvSpPr>
        <p:spPr>
          <a:xfrm>
            <a:off x="10972800" y="7406640"/>
            <a:ext cx="3063240" cy="228600"/>
          </a:xfrm>
          <a:prstGeom prst="rect">
            <a:avLst/>
          </a:prstGeom>
          <a:noFill/>
        </p:spPr>
        <p:txBody>
          <a:bodyPr wrap="square" lIns="18288" rIns="18288" tIns="18288" bIns="18288" anchor="t">
            <a:normAutofit/>
          </a:bodyPr>
          <a:lstStyle/>
          <a:p>
            <a:pPr algn="r">
              <a:spcAft>
                <a:spcPts val="800"/>
              </a:spcAft>
            </a:pPr>
            <a:r>
              <a:rPr sz="1100" b="0">
                <a:solidFill>
                  <a:srgbClr val="555B65"/>
                </a:solidFill>
                <a:latin typeface="Arial"/>
              </a:rPr>
              <a:t>38-41 min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886968"/>
            <a:ext cx="13441680" cy="237744"/>
          </a:xfrm>
          <a:prstGeom prst="rect">
            <a:avLst/>
          </a:prstGeom>
          <a:noFill/>
        </p:spPr>
        <p:txBody>
          <a:bodyPr wrap="square" lIns="18288" rIns="18288" tIns="18288" bIns="18288" anchor="t">
            <a:normAutofit/>
          </a:bodyPr>
          <a:lstStyle/>
          <a:p>
            <a:pPr algn="l">
              <a:spcAft>
                <a:spcPts val="800"/>
              </a:spcAft>
            </a:pPr>
            <a:r>
              <a:rPr sz="1100" b="0">
                <a:solidFill>
                  <a:srgbClr val="555B65"/>
                </a:solidFill>
                <a:latin typeface="Arial"/>
              </a:rPr>
              <a:t>9 | Enterprise Cloud enforcement begins 29 Sep 2026</a:t>
            </a:r>
          </a:p>
        </p:txBody>
      </p:sp>
      <p:sp>
        <p:nvSpPr>
          <p:cNvPr id="3" name="TextBox 2"/>
          <p:cNvSpPr txBox="1"/>
          <p:nvPr/>
        </p:nvSpPr>
        <p:spPr>
          <a:xfrm>
            <a:off x="484632" y="1261872"/>
            <a:ext cx="13670280" cy="987552"/>
          </a:xfrm>
          <a:prstGeom prst="rect">
            <a:avLst/>
          </a:prstGeom>
          <a:noFill/>
        </p:spPr>
        <p:txBody>
          <a:bodyPr wrap="square" lIns="18288" rIns="18288" tIns="18288" bIns="18288" anchor="t">
            <a:normAutofit/>
          </a:bodyPr>
          <a:lstStyle/>
          <a:p>
            <a:pPr algn="l">
              <a:spcAft>
                <a:spcPts val="800"/>
              </a:spcAft>
            </a:pPr>
            <a:r>
              <a:rPr sz="3200" b="1">
                <a:solidFill>
                  <a:srgbClr val="0E1022"/>
                </a:solidFill>
                <a:latin typeface="Arial"/>
              </a:rPr>
              <a:t>Runner registration and job runtime have separate deadlines</a:t>
            </a:r>
          </a:p>
        </p:txBody>
      </p:sp>
      <p:sp>
        <p:nvSpPr>
          <p:cNvPr id="4" name="Rounded Rectangle 3"/>
          <p:cNvSpPr/>
          <p:nvPr/>
        </p:nvSpPr>
        <p:spPr>
          <a:xfrm>
            <a:off x="594360" y="2834640"/>
            <a:ext cx="6583679" cy="333756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3017520"/>
            <a:ext cx="6181343" cy="530352"/>
          </a:xfrm>
          <a:prstGeom prst="rect">
            <a:avLst/>
          </a:prstGeom>
          <a:noFill/>
        </p:spPr>
        <p:txBody>
          <a:bodyPr wrap="square" lIns="18288" rIns="18288" tIns="18288" bIns="18288" anchor="t">
            <a:normAutofit/>
          </a:bodyPr>
          <a:lstStyle/>
          <a:p>
            <a:pPr algn="l">
              <a:spcAft>
                <a:spcPts val="800"/>
              </a:spcAft>
            </a:pPr>
            <a:r>
              <a:rPr sz="2300" b="1">
                <a:solidFill>
                  <a:srgbClr val="0E1022"/>
                </a:solidFill>
                <a:latin typeface="Arial"/>
              </a:rPr>
              <a:t>Registration</a:t>
            </a:r>
          </a:p>
        </p:txBody>
      </p:sp>
      <p:sp>
        <p:nvSpPr>
          <p:cNvPr id="6" name="TextBox 5"/>
          <p:cNvSpPr txBox="1"/>
          <p:nvPr/>
        </p:nvSpPr>
        <p:spPr>
          <a:xfrm>
            <a:off x="795528" y="3767328"/>
            <a:ext cx="6181343" cy="2203704"/>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Below 2.329.0 cannot register or reregister.</a:t>
            </a:r>
          </a:p>
          <a:p>
            <a:pPr algn="l">
              <a:spcAft>
                <a:spcPts val="800"/>
              </a:spcAft>
            </a:pPr>
            <a:r>
              <a:rPr sz="2000" b="0">
                <a:solidFill>
                  <a:srgbClr val="555B65"/>
                </a:solidFill>
                <a:latin typeface="Arial"/>
              </a:rPr>
              <a:t>Registration minimum is not the runtime minimum.</a:t>
            </a:r>
          </a:p>
          <a:p>
            <a:pPr algn="l">
              <a:spcAft>
                <a:spcPts val="800"/>
              </a:spcAft>
            </a:pPr>
            <a:r>
              <a:rPr sz="2000" b="0">
                <a:solidFill>
                  <a:srgbClr val="555B65"/>
                </a:solidFill>
                <a:latin typeface="Arial"/>
              </a:rPr>
              <a:t>Inspect registration_deprecates_at.</a:t>
            </a:r>
          </a:p>
        </p:txBody>
      </p:sp>
      <p:sp>
        <p:nvSpPr>
          <p:cNvPr id="7" name="Rounded Rectangle 6"/>
          <p:cNvSpPr/>
          <p:nvPr/>
        </p:nvSpPr>
        <p:spPr>
          <a:xfrm>
            <a:off x="7452359" y="2834640"/>
            <a:ext cx="6583679" cy="3337560"/>
          </a:xfrm>
          <a:prstGeom prst="roundRect">
            <a:avLst/>
          </a:prstGeom>
          <a:solidFill>
            <a:srgbClr val="0E1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53527" y="3017520"/>
            <a:ext cx="6181343" cy="530352"/>
          </a:xfrm>
          <a:prstGeom prst="rect">
            <a:avLst/>
          </a:prstGeom>
          <a:noFill/>
        </p:spPr>
        <p:txBody>
          <a:bodyPr wrap="square" lIns="18288" rIns="18288" tIns="18288" bIns="18288" anchor="t">
            <a:normAutofit/>
          </a:bodyPr>
          <a:lstStyle/>
          <a:p>
            <a:pPr algn="l">
              <a:spcAft>
                <a:spcPts val="800"/>
              </a:spcAft>
            </a:pPr>
            <a:r>
              <a:rPr sz="2300" b="1">
                <a:solidFill>
                  <a:srgbClr val="FFFFFF"/>
                </a:solidFill>
                <a:latin typeface="Arial"/>
              </a:rPr>
              <a:t>Runtime</a:t>
            </a:r>
          </a:p>
        </p:txBody>
      </p:sp>
      <p:sp>
        <p:nvSpPr>
          <p:cNvPr id="9" name="TextBox 8"/>
          <p:cNvSpPr txBox="1"/>
          <p:nvPr/>
        </p:nvSpPr>
        <p:spPr>
          <a:xfrm>
            <a:off x="7653527" y="3767328"/>
            <a:ext cx="6181343" cy="2203704"/>
          </a:xfrm>
          <a:prstGeom prst="rect">
            <a:avLst/>
          </a:prstGeom>
          <a:noFill/>
        </p:spPr>
        <p:txBody>
          <a:bodyPr wrap="square" lIns="18288" rIns="18288" tIns="18288" bIns="18288" anchor="t">
            <a:normAutofit/>
          </a:bodyPr>
          <a:lstStyle/>
          <a:p>
            <a:pPr algn="l">
              <a:spcAft>
                <a:spcPts val="800"/>
              </a:spcAft>
            </a:pPr>
            <a:r>
              <a:rPr sz="2000" b="0">
                <a:solidFill>
                  <a:srgbClr val="FFFFFF"/>
                </a:solidFill>
                <a:latin typeface="Arial"/>
              </a:rPr>
              <a:t>A higher minimum governs job execution.</a:t>
            </a:r>
          </a:p>
          <a:p>
            <a:pPr algn="l">
              <a:spcAft>
                <a:spcPts val="800"/>
              </a:spcAft>
            </a:pPr>
            <a:r>
              <a:rPr sz="2000" b="0">
                <a:solidFill>
                  <a:srgbClr val="FFFFFF"/>
                </a:solidFill>
                <a:latin typeface="Arial"/>
              </a:rPr>
              <a:t>Existing registration is not a support guarantee.</a:t>
            </a:r>
          </a:p>
          <a:p>
            <a:pPr algn="l">
              <a:spcAft>
                <a:spcPts val="800"/>
              </a:spcAft>
            </a:pPr>
            <a:r>
              <a:rPr sz="2000" b="0">
                <a:solidFill>
                  <a:srgbClr val="FFFFFF"/>
                </a:solidFill>
                <a:latin typeface="Arial"/>
              </a:rPr>
              <a:t>Inspect runtime_deprecates_at.</a:t>
            </a:r>
          </a:p>
        </p:txBody>
      </p:sp>
      <p:sp>
        <p:nvSpPr>
          <p:cNvPr id="10" name="Rounded Rectangle 9"/>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118872">
            <a:normAutofit/>
          </a:bodyPr>
          <a:lstStyle/>
          <a:p>
            <a:pPr algn="l">
              <a:spcAft>
                <a:spcPts val="800"/>
              </a:spcAft>
            </a:pPr>
            <a:r>
              <a:rPr sz="1700" b="0">
                <a:solidFill>
                  <a:srgbClr val="0E1022"/>
                </a:solidFill>
                <a:latin typeface="Arial"/>
              </a:rPr>
              <a:t>Enterprise Server is unaffected by this notice. Data Residency enforcement began 31 July.</a:t>
            </a:r>
          </a:p>
        </p:txBody>
      </p:sp>
      <p:sp>
        <p:nvSpPr>
          <p:cNvPr id="11" name="TextBox 10"/>
          <p:cNvSpPr txBox="1"/>
          <p:nvPr/>
        </p:nvSpPr>
        <p:spPr>
          <a:xfrm>
            <a:off x="594360" y="7406640"/>
            <a:ext cx="9601200" cy="228600"/>
          </a:xfrm>
          <a:prstGeom prst="rect">
            <a:avLst/>
          </a:prstGeom>
          <a:noFill/>
        </p:spPr>
        <p:txBody>
          <a:bodyPr wrap="square" lIns="18288" rIns="18288" tIns="18288" bIns="18288" anchor="t">
            <a:normAutofit/>
          </a:bodyPr>
          <a:lstStyle/>
          <a:p>
            <a:pPr algn="l">
              <a:spcAft>
                <a:spcPts val="800"/>
              </a:spcAft>
            </a:pPr>
            <a:r>
              <a:rPr sz="1100" b="0">
                <a:solidFill>
                  <a:srgbClr val="345282"/>
                </a:solidFill>
                <a:latin typeface="Arial"/>
                <a:hlinkClick r:id="rId3"/>
              </a:rPr>
              <a:t>GitHub Changelog | 28 Sep 2026</a:t>
            </a:r>
          </a:p>
        </p:txBody>
      </p:sp>
      <p:sp>
        <p:nvSpPr>
          <p:cNvPr id="12" name="TextBox 11"/>
          <p:cNvSpPr txBox="1"/>
          <p:nvPr/>
        </p:nvSpPr>
        <p:spPr>
          <a:xfrm>
            <a:off x="10972800" y="7406640"/>
            <a:ext cx="3063240" cy="228600"/>
          </a:xfrm>
          <a:prstGeom prst="rect">
            <a:avLst/>
          </a:prstGeom>
          <a:noFill/>
        </p:spPr>
        <p:txBody>
          <a:bodyPr wrap="square" lIns="18288" rIns="18288" tIns="18288" bIns="18288" anchor="t">
            <a:normAutofit/>
          </a:bodyPr>
          <a:lstStyle/>
          <a:p>
            <a:pPr algn="r">
              <a:spcAft>
                <a:spcPts val="800"/>
              </a:spcAft>
            </a:pPr>
            <a:r>
              <a:rPr sz="1100" b="0">
                <a:solidFill>
                  <a:srgbClr val="555B65"/>
                </a:solidFill>
                <a:latin typeface="Arial"/>
              </a:rPr>
              <a:t>41-43 min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886968"/>
            <a:ext cx="13441680" cy="237744"/>
          </a:xfrm>
          <a:prstGeom prst="rect">
            <a:avLst/>
          </a:prstGeom>
          <a:noFill/>
        </p:spPr>
        <p:txBody>
          <a:bodyPr wrap="square" lIns="18288" rIns="18288" tIns="18288" bIns="18288" anchor="t">
            <a:normAutofit/>
          </a:bodyPr>
          <a:lstStyle/>
          <a:p>
            <a:pPr algn="l">
              <a:spcAft>
                <a:spcPts val="800"/>
              </a:spcAft>
            </a:pPr>
            <a:r>
              <a:rPr sz="1100" b="0">
                <a:solidFill>
                  <a:srgbClr val="555B65"/>
                </a:solidFill>
                <a:latin typeface="Arial"/>
              </a:rPr>
              <a:t>DXC | GitHub Actions Office Hour</a:t>
            </a:r>
          </a:p>
        </p:txBody>
      </p:sp>
      <p:sp>
        <p:nvSpPr>
          <p:cNvPr id="3" name="TextBox 2"/>
          <p:cNvSpPr txBox="1"/>
          <p:nvPr/>
        </p:nvSpPr>
        <p:spPr>
          <a:xfrm>
            <a:off x="484632" y="1261872"/>
            <a:ext cx="13670280" cy="987552"/>
          </a:xfrm>
          <a:prstGeom prst="rect">
            <a:avLst/>
          </a:prstGeom>
          <a:noFill/>
        </p:spPr>
        <p:txBody>
          <a:bodyPr wrap="square" lIns="18288" rIns="18288" tIns="18288" bIns="18288" anchor="t">
            <a:normAutofit/>
          </a:bodyPr>
          <a:lstStyle/>
          <a:p>
            <a:pPr algn="l">
              <a:spcAft>
                <a:spcPts val="800"/>
              </a:spcAft>
            </a:pPr>
            <a:r>
              <a:rPr sz="3200" b="1">
                <a:solidFill>
                  <a:srgbClr val="0E1022"/>
                </a:solidFill>
                <a:latin typeface="Arial"/>
              </a:rPr>
              <a:t>Demo 5 | Audit deadlines without disrupting a runner</a:t>
            </a:r>
          </a:p>
        </p:txBody>
      </p:sp>
      <p:sp>
        <p:nvSpPr>
          <p:cNvPr id="4" name="TextBox 3"/>
          <p:cNvSpPr txBox="1"/>
          <p:nvPr/>
        </p:nvSpPr>
        <p:spPr>
          <a:xfrm>
            <a:off x="594360" y="2395728"/>
            <a:ext cx="13441680" cy="237744"/>
          </a:xfrm>
          <a:prstGeom prst="rect">
            <a:avLst/>
          </a:prstGeom>
          <a:noFill/>
        </p:spPr>
        <p:txBody>
          <a:bodyPr wrap="square" lIns="18288" rIns="18288" tIns="18288" bIns="18288" anchor="t">
            <a:normAutofit/>
          </a:bodyPr>
          <a:lstStyle/>
          <a:p>
            <a:pPr algn="l">
              <a:lnSpc>
                <a:spcPct val="110000"/>
              </a:lnSpc>
              <a:spcAft>
                <a:spcPts val="0"/>
              </a:spcAft>
            </a:pPr>
            <a:r>
              <a:rPr sz="1300" b="0">
                <a:solidFill>
                  <a:srgbClr val="345282"/>
                </a:solidFill>
                <a:latin typeface="Consolas"/>
              </a:rPr>
              <a:t>demo-5-runner-readiness.yml</a:t>
            </a:r>
          </a:p>
        </p:txBody>
      </p:sp>
      <p:sp>
        <p:nvSpPr>
          <p:cNvPr id="5" name="Rounded Rectangle 4"/>
          <p:cNvSpPr/>
          <p:nvPr/>
        </p:nvSpPr>
        <p:spPr>
          <a:xfrm>
            <a:off x="594360" y="2798064"/>
            <a:ext cx="9829800" cy="1078992"/>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926080"/>
            <a:ext cx="2743200" cy="749808"/>
          </a:xfrm>
          <a:prstGeom prst="rect">
            <a:avLst/>
          </a:prstGeom>
          <a:noFill/>
        </p:spPr>
        <p:txBody>
          <a:bodyPr wrap="square" lIns="18288" rIns="18288" tIns="18288" bIns="18288" anchor="t">
            <a:normAutofit/>
          </a:bodyPr>
          <a:lstStyle/>
          <a:p>
            <a:pPr algn="l">
              <a:spcAft>
                <a:spcPts val="800"/>
              </a:spcAft>
            </a:pPr>
            <a:r>
              <a:rPr sz="2100" b="1">
                <a:solidFill>
                  <a:srgbClr val="0E1022"/>
                </a:solidFill>
                <a:latin typeface="Arial"/>
              </a:rPr>
              <a:t>1. Start read-only</a:t>
            </a:r>
          </a:p>
        </p:txBody>
      </p:sp>
      <p:sp>
        <p:nvSpPr>
          <p:cNvPr id="7" name="TextBox 6"/>
          <p:cNvSpPr txBox="1"/>
          <p:nvPr/>
        </p:nvSpPr>
        <p:spPr>
          <a:xfrm>
            <a:off x="3657600" y="2926080"/>
            <a:ext cx="6537960" cy="813816"/>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Query explicit versions on a hosted runner; no fleet changes.</a:t>
            </a:r>
          </a:p>
        </p:txBody>
      </p:sp>
      <p:sp>
        <p:nvSpPr>
          <p:cNvPr id="8" name="Rounded Rectangle 7"/>
          <p:cNvSpPr/>
          <p:nvPr/>
        </p:nvSpPr>
        <p:spPr>
          <a:xfrm>
            <a:off x="594360" y="4105656"/>
            <a:ext cx="9829800" cy="1078992"/>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233672"/>
            <a:ext cx="2743200" cy="749808"/>
          </a:xfrm>
          <a:prstGeom prst="rect">
            <a:avLst/>
          </a:prstGeom>
          <a:noFill/>
        </p:spPr>
        <p:txBody>
          <a:bodyPr wrap="square" lIns="18288" rIns="18288" tIns="18288" bIns="18288" anchor="t">
            <a:normAutofit/>
          </a:bodyPr>
          <a:lstStyle/>
          <a:p>
            <a:pPr algn="l">
              <a:spcAft>
                <a:spcPts val="800"/>
              </a:spcAft>
            </a:pPr>
            <a:r>
              <a:rPr sz="2100" b="1">
                <a:solidFill>
                  <a:srgbClr val="0E1022"/>
                </a:solidFill>
                <a:latin typeface="Arial"/>
              </a:rPr>
              <a:t>2. Compare dates</a:t>
            </a:r>
          </a:p>
        </p:txBody>
      </p:sp>
      <p:sp>
        <p:nvSpPr>
          <p:cNvPr id="10" name="TextBox 9"/>
          <p:cNvSpPr txBox="1"/>
          <p:nvPr/>
        </p:nvSpPr>
        <p:spPr>
          <a:xfrm>
            <a:off x="3657600" y="4233672"/>
            <a:ext cx="6537960" cy="813816"/>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Show registration and runtime deprecation independently.</a:t>
            </a:r>
          </a:p>
        </p:txBody>
      </p:sp>
      <p:sp>
        <p:nvSpPr>
          <p:cNvPr id="11" name="Rounded Rectangle 10"/>
          <p:cNvSpPr/>
          <p:nvPr/>
        </p:nvSpPr>
        <p:spPr>
          <a:xfrm>
            <a:off x="594360" y="5413248"/>
            <a:ext cx="9829800" cy="1078992"/>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5541264"/>
            <a:ext cx="2743200" cy="749808"/>
          </a:xfrm>
          <a:prstGeom prst="rect">
            <a:avLst/>
          </a:prstGeom>
          <a:noFill/>
        </p:spPr>
        <p:txBody>
          <a:bodyPr wrap="square" lIns="18288" rIns="18288" tIns="18288" bIns="18288" anchor="t">
            <a:normAutofit/>
          </a:bodyPr>
          <a:lstStyle/>
          <a:p>
            <a:pPr algn="l">
              <a:spcAft>
                <a:spcPts val="800"/>
              </a:spcAft>
            </a:pPr>
            <a:r>
              <a:rPr sz="2100" b="1">
                <a:solidFill>
                  <a:srgbClr val="0E1022"/>
                </a:solidFill>
                <a:latin typeface="Arial"/>
              </a:rPr>
              <a:t>3. Optional inventory</a:t>
            </a:r>
          </a:p>
        </p:txBody>
      </p:sp>
      <p:sp>
        <p:nvSpPr>
          <p:cNvPr id="13" name="TextBox 12"/>
          <p:cNvSpPr txBox="1"/>
          <p:nvPr/>
        </p:nvSpPr>
        <p:spPr>
          <a:xfrm>
            <a:off x="3657600" y="5541264"/>
            <a:ext cx="6537960" cy="813816"/>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Add approved fleet versions; missing versions remain unknown.</a:t>
            </a:r>
          </a:p>
        </p:txBody>
      </p:sp>
      <p:sp>
        <p:nvSpPr>
          <p:cNvPr id="14" name="Rounded Rectangle 13"/>
          <p:cNvSpPr/>
          <p:nvPr/>
        </p:nvSpPr>
        <p:spPr>
          <a:xfrm>
            <a:off x="10716768" y="2798064"/>
            <a:ext cx="3319272" cy="3703320"/>
          </a:xfrm>
          <a:prstGeom prst="roundRect">
            <a:avLst/>
          </a:prstGeom>
          <a:solidFill>
            <a:srgbClr val="0E1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17936" y="2980944"/>
            <a:ext cx="2916936" cy="530352"/>
          </a:xfrm>
          <a:prstGeom prst="rect">
            <a:avLst/>
          </a:prstGeom>
          <a:noFill/>
        </p:spPr>
        <p:txBody>
          <a:bodyPr wrap="square" lIns="18288" rIns="18288" tIns="18288" bIns="18288" anchor="t">
            <a:normAutofit/>
          </a:bodyPr>
          <a:lstStyle/>
          <a:p>
            <a:pPr algn="l">
              <a:spcAft>
                <a:spcPts val="800"/>
              </a:spcAft>
            </a:pPr>
            <a:r>
              <a:rPr sz="2300" b="1">
                <a:solidFill>
                  <a:srgbClr val="FFFFFF"/>
                </a:solidFill>
                <a:latin typeface="Arial"/>
              </a:rPr>
              <a:t>Run from GitHub</a:t>
            </a:r>
          </a:p>
        </p:txBody>
      </p:sp>
      <p:sp>
        <p:nvSpPr>
          <p:cNvPr id="16" name="TextBox 15"/>
          <p:cNvSpPr txBox="1"/>
          <p:nvPr/>
        </p:nvSpPr>
        <p:spPr>
          <a:xfrm>
            <a:off x="10917936" y="3730752"/>
            <a:ext cx="2916936" cy="2569463"/>
          </a:xfrm>
          <a:prstGeom prst="rect">
            <a:avLst/>
          </a:prstGeom>
          <a:noFill/>
        </p:spPr>
        <p:txBody>
          <a:bodyPr wrap="square" lIns="18288" rIns="18288" tIns="18288" bIns="18288" anchor="t">
            <a:normAutofit/>
          </a:bodyPr>
          <a:lstStyle/>
          <a:p>
            <a:pPr algn="l">
              <a:spcAft>
                <a:spcPts val="800"/>
              </a:spcAft>
            </a:pPr>
            <a:r>
              <a:rPr sz="2000" b="0">
                <a:solidFill>
                  <a:srgbClr val="FFFFFF"/>
                </a:solidFill>
                <a:latin typeface="Arial"/>
              </a:rPr>
              <a:t>Actions tab</a:t>
            </a:r>
          </a:p>
          <a:p>
            <a:pPr algn="l">
              <a:spcAft>
                <a:spcPts val="800"/>
              </a:spcAft>
            </a:pPr>
            <a:r>
              <a:rPr sz="2000" b="0">
                <a:solidFill>
                  <a:srgbClr val="FFFFFF"/>
                </a:solidFill>
                <a:latin typeface="Arial"/>
              </a:rPr>
              <a:t>Manual trigger</a:t>
            </a:r>
          </a:p>
          <a:p>
            <a:pPr algn="l">
              <a:spcAft>
                <a:spcPts val="800"/>
              </a:spcAft>
            </a:pPr>
            <a:r>
              <a:rPr sz="2000" b="0">
                <a:solidFill>
                  <a:srgbClr val="FFFFFF"/>
                </a:solidFill>
                <a:latin typeface="Arial"/>
              </a:rPr>
              <a:t>Job summaries</a:t>
            </a:r>
          </a:p>
          <a:p>
            <a:pPr algn="l">
              <a:spcAft>
                <a:spcPts val="800"/>
              </a:spcAft>
            </a:pPr>
            <a:r>
              <a:rPr sz="2000" b="0">
                <a:solidFill>
                  <a:srgbClr val="FFFFFF"/>
                </a:solidFill>
                <a:latin typeface="Arial"/>
              </a:rPr>
              <a:t>Evidence artifacts</a:t>
            </a:r>
          </a:p>
        </p:txBody>
      </p:sp>
      <p:sp>
        <p:nvSpPr>
          <p:cNvPr id="17" name="Rounded Rectangle 16"/>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118872">
            <a:normAutofit/>
          </a:bodyPr>
          <a:lstStyle/>
          <a:p>
            <a:pPr algn="l">
              <a:spcAft>
                <a:spcPts val="800"/>
              </a:spcAft>
            </a:pPr>
            <a:r>
              <a:rPr sz="1700" b="0">
                <a:solidFill>
                  <a:srgbClr val="0E1022"/>
                </a:solidFill>
                <a:latin typeface="Arial"/>
              </a:rPr>
              <a:t>No date returned is not a guarantee of support. Never downgrade a runner for this demo.</a:t>
            </a:r>
          </a:p>
        </p:txBody>
      </p:sp>
      <p:sp>
        <p:nvSpPr>
          <p:cNvPr id="18" name="TextBox 17"/>
          <p:cNvSpPr txBox="1"/>
          <p:nvPr/>
        </p:nvSpPr>
        <p:spPr>
          <a:xfrm>
            <a:off x="10972800" y="7406640"/>
            <a:ext cx="3063240" cy="228600"/>
          </a:xfrm>
          <a:prstGeom prst="rect">
            <a:avLst/>
          </a:prstGeom>
          <a:noFill/>
        </p:spPr>
        <p:txBody>
          <a:bodyPr wrap="square" lIns="18288" rIns="18288" tIns="18288" bIns="18288" anchor="t">
            <a:normAutofit/>
          </a:bodyPr>
          <a:lstStyle/>
          <a:p>
            <a:pPr algn="r">
              <a:spcAft>
                <a:spcPts val="800"/>
              </a:spcAft>
            </a:pPr>
            <a:r>
              <a:rPr sz="1100" b="0">
                <a:solidFill>
                  <a:srgbClr val="555B65"/>
                </a:solidFill>
                <a:latin typeface="Arial"/>
              </a:rPr>
              <a:t>43-46 min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886968"/>
            <a:ext cx="13441680" cy="237744"/>
          </a:xfrm>
          <a:prstGeom prst="rect">
            <a:avLst/>
          </a:prstGeom>
          <a:noFill/>
        </p:spPr>
        <p:txBody>
          <a:bodyPr wrap="square" lIns="18288" rIns="18288" tIns="18288" bIns="18288" anchor="t">
            <a:normAutofit/>
          </a:bodyPr>
          <a:lstStyle/>
          <a:p>
            <a:pPr algn="l">
              <a:spcAft>
                <a:spcPts val="800"/>
              </a:spcAft>
            </a:pPr>
            <a:r>
              <a:rPr sz="1100" b="0">
                <a:solidFill>
                  <a:srgbClr val="555B65"/>
                </a:solidFill>
                <a:latin typeface="Arial"/>
              </a:rPr>
              <a:t>DXC | GitHub Actions Office Hour</a:t>
            </a:r>
          </a:p>
        </p:txBody>
      </p:sp>
      <p:sp>
        <p:nvSpPr>
          <p:cNvPr id="3" name="TextBox 2"/>
          <p:cNvSpPr txBox="1"/>
          <p:nvPr/>
        </p:nvSpPr>
        <p:spPr>
          <a:xfrm>
            <a:off x="484632" y="1261872"/>
            <a:ext cx="13670280" cy="987552"/>
          </a:xfrm>
          <a:prstGeom prst="rect">
            <a:avLst/>
          </a:prstGeom>
          <a:noFill/>
        </p:spPr>
        <p:txBody>
          <a:bodyPr wrap="square" lIns="18288" rIns="18288" tIns="18288" bIns="18288" anchor="t">
            <a:normAutofit/>
          </a:bodyPr>
          <a:lstStyle/>
          <a:p>
            <a:pPr algn="l">
              <a:spcAft>
                <a:spcPts val="800"/>
              </a:spcAft>
            </a:pPr>
            <a:r>
              <a:rPr sz="3200" b="1">
                <a:solidFill>
                  <a:srgbClr val="0E1022"/>
                </a:solidFill>
                <a:latin typeface="Arial"/>
              </a:rPr>
              <a:t>Turn the updates into five DXC adoption actions</a:t>
            </a:r>
          </a:p>
        </p:txBody>
      </p:sp>
      <p:graphicFrame>
        <p:nvGraphicFramePr>
          <p:cNvPr id="4" name="Table 3"/>
          <p:cNvGraphicFramePr>
            <a:graphicFrameLocks noGrp="1"/>
          </p:cNvGraphicFramePr>
          <p:nvPr/>
        </p:nvGraphicFramePr>
        <p:xfrm>
          <a:off x="594360" y="2697480"/>
          <a:ext cx="13441680" cy="3749039"/>
        </p:xfrm>
        <a:graphic>
          <a:graphicData uri="http://schemas.openxmlformats.org/drawingml/2006/table">
            <a:tbl>
              <a:tblPr firstRow="1" bandRow="1">
                <a:tableStyleId>{5C22544A-7EE6-4342-B048-85BDC9FD1C3A}</a:tableStyleId>
              </a:tblPr>
              <a:tblGrid>
                <a:gridCol w="2971800"/>
                <a:gridCol w="5669280"/>
                <a:gridCol w="4800600"/>
              </a:tblGrid>
              <a:tr h="624839">
                <a:tc>
                  <a:txBody>
                    <a:bodyPr wrap="square">
                      <a:normAutofit/>
                    </a:bodyPr>
                    <a:lstStyle/>
                    <a:p>
                      <a:pPr>
                        <a:lnSpc>
                          <a:spcPct val="100000"/>
                        </a:lnSpc>
                      </a:pPr>
                      <a:r>
                        <a:rPr sz="1800" b="1">
                          <a:solidFill>
                            <a:srgbClr val="FFFFFF"/>
                          </a:solidFill>
                          <a:latin typeface="Arial"/>
                        </a:rPr>
                        <a:t>Owner role</a:t>
                      </a:r>
                    </a:p>
                  </a:txBody>
                  <a:tcPr marL="137160" marR="137160" marT="59436" marB="59436" anchor="ctr">
                    <a:solidFill>
                      <a:srgbClr val="0E1022"/>
                    </a:solidFill>
                  </a:tcPr>
                </a:tc>
                <a:tc>
                  <a:txBody>
                    <a:bodyPr wrap="square">
                      <a:normAutofit/>
                    </a:bodyPr>
                    <a:lstStyle/>
                    <a:p>
                      <a:pPr>
                        <a:lnSpc>
                          <a:spcPct val="100000"/>
                        </a:lnSpc>
                      </a:pPr>
                      <a:r>
                        <a:rPr sz="1800" b="1">
                          <a:solidFill>
                            <a:srgbClr val="FFFFFF"/>
                          </a:solidFill>
                          <a:latin typeface="Arial"/>
                        </a:rPr>
                        <a:t>Recommended next action</a:t>
                      </a:r>
                    </a:p>
                  </a:txBody>
                  <a:tcPr marL="137160" marR="137160" marT="59436" marB="59436" anchor="ctr">
                    <a:solidFill>
                      <a:srgbClr val="0E1022"/>
                    </a:solidFill>
                  </a:tcPr>
                </a:tc>
                <a:tc>
                  <a:txBody>
                    <a:bodyPr wrap="square">
                      <a:normAutofit/>
                    </a:bodyPr>
                    <a:lstStyle/>
                    <a:p>
                      <a:pPr>
                        <a:lnSpc>
                          <a:spcPct val="100000"/>
                        </a:lnSpc>
                      </a:pPr>
                      <a:r>
                        <a:rPr sz="1800" b="1">
                          <a:solidFill>
                            <a:srgbClr val="FFFFFF"/>
                          </a:solidFill>
                          <a:latin typeface="Arial"/>
                        </a:rPr>
                        <a:t>Evidence to review</a:t>
                      </a:r>
                    </a:p>
                  </a:txBody>
                  <a:tcPr marL="137160" marR="137160" marT="59436" marB="59436" anchor="ctr">
                    <a:solidFill>
                      <a:srgbClr val="0E1022"/>
                    </a:solidFill>
                  </a:tcPr>
                </a:tc>
              </a:tr>
              <a:tr h="624839">
                <a:tc>
                  <a:txBody>
                    <a:bodyPr wrap="square">
                      <a:normAutofit/>
                    </a:bodyPr>
                    <a:lstStyle/>
                    <a:p>
                      <a:pPr>
                        <a:lnSpc>
                          <a:spcPct val="100000"/>
                        </a:lnSpc>
                      </a:pPr>
                      <a:r>
                        <a:rPr sz="1800" b="0">
                          <a:solidFill>
                            <a:srgbClr val="0E1022"/>
                          </a:solidFill>
                          <a:latin typeface="Arial"/>
                        </a:rPr>
                        <a:t>CI maintainers</a:t>
                      </a:r>
                    </a:p>
                  </a:txBody>
                  <a:tcPr marL="137160" marR="137160" marT="59436" marB="59436" anchor="ctr">
                    <a:solidFill>
                      <a:srgbClr val="F2F4F7"/>
                    </a:solidFill>
                  </a:tcPr>
                </a:tc>
                <a:tc>
                  <a:txBody>
                    <a:bodyPr wrap="square">
                      <a:normAutofit/>
                    </a:bodyPr>
                    <a:lstStyle/>
                    <a:p>
                      <a:pPr>
                        <a:lnSpc>
                          <a:spcPct val="100000"/>
                        </a:lnSpc>
                      </a:pPr>
                      <a:r>
                        <a:rPr sz="1800" b="0">
                          <a:solidFill>
                            <a:srgbClr val="0E1022"/>
                          </a:solidFill>
                          <a:latin typeface="Arial"/>
                        </a:rPr>
                        <a:t>Assign cache modes by trust boundary</a:t>
                      </a:r>
                    </a:p>
                  </a:txBody>
                  <a:tcPr marL="137160" marR="137160" marT="59436" marB="59436" anchor="ctr">
                    <a:solidFill>
                      <a:srgbClr val="F2F4F7"/>
                    </a:solidFill>
                  </a:tcPr>
                </a:tc>
                <a:tc>
                  <a:txBody>
                    <a:bodyPr wrap="square">
                      <a:normAutofit/>
                    </a:bodyPr>
                    <a:lstStyle/>
                    <a:p>
                      <a:pPr>
                        <a:lnSpc>
                          <a:spcPct val="100000"/>
                        </a:lnSpc>
                      </a:pPr>
                      <a:r>
                        <a:rPr sz="1800" b="0">
                          <a:solidFill>
                            <a:srgbClr val="0E1022"/>
                          </a:solidFill>
                          <a:latin typeface="Arial"/>
                        </a:rPr>
                        <a:t>Restore/save assertions and cache inventory</a:t>
                      </a:r>
                    </a:p>
                  </a:txBody>
                  <a:tcPr marL="137160" marR="137160" marT="59436" marB="59436" anchor="ctr">
                    <a:solidFill>
                      <a:srgbClr val="F2F4F7"/>
                    </a:solidFill>
                  </a:tcPr>
                </a:tc>
              </a:tr>
              <a:tr h="624839">
                <a:tc>
                  <a:txBody>
                    <a:bodyPr wrap="square">
                      <a:normAutofit/>
                    </a:bodyPr>
                    <a:lstStyle/>
                    <a:p>
                      <a:pPr>
                        <a:lnSpc>
                          <a:spcPct val="100000"/>
                        </a:lnSpc>
                      </a:pPr>
                      <a:r>
                        <a:rPr sz="1800" b="0">
                          <a:solidFill>
                            <a:srgbClr val="0E1022"/>
                          </a:solidFill>
                          <a:latin typeface="Arial"/>
                        </a:rPr>
                        <a:t>Platform governance</a:t>
                      </a:r>
                    </a:p>
                  </a:txBody>
                  <a:tcPr marL="137160" marR="137160" marT="59436" marB="59436" anchor="ctr">
                    <a:solidFill>
                      <a:srgbClr val="FFFFFF"/>
                    </a:solidFill>
                  </a:tcPr>
                </a:tc>
                <a:tc>
                  <a:txBody>
                    <a:bodyPr wrap="square">
                      <a:normAutofit/>
                    </a:bodyPr>
                    <a:lstStyle/>
                    <a:p>
                      <a:pPr>
                        <a:lnSpc>
                          <a:spcPct val="100000"/>
                        </a:lnSpc>
                      </a:pPr>
                      <a:r>
                        <a:rPr sz="1800" b="0">
                          <a:solidFill>
                            <a:srgbClr val="0E1022"/>
                          </a:solidFill>
                          <a:latin typeface="Arial"/>
                        </a:rPr>
                        <a:t>Pilot file-scoped execution protections</a:t>
                      </a:r>
                    </a:p>
                  </a:txBody>
                  <a:tcPr marL="137160" marR="137160" marT="59436" marB="59436" anchor="ctr">
                    <a:solidFill>
                      <a:srgbClr val="FFFFFF"/>
                    </a:solidFill>
                  </a:tcPr>
                </a:tc>
                <a:tc>
                  <a:txBody>
                    <a:bodyPr wrap="square">
                      <a:normAutofit/>
                    </a:bodyPr>
                    <a:lstStyle/>
                    <a:p>
                      <a:pPr>
                        <a:lnSpc>
                          <a:spcPct val="100000"/>
                        </a:lnSpc>
                      </a:pPr>
                      <a:r>
                        <a:rPr sz="1800" b="0">
                          <a:solidFill>
                            <a:srgbClr val="0E1022"/>
                          </a:solidFill>
                          <a:latin typeface="Arial"/>
                        </a:rPr>
                        <a:t>Evaluate insights, then actual enforcement</a:t>
                      </a:r>
                    </a:p>
                  </a:txBody>
                  <a:tcPr marL="137160" marR="137160" marT="59436" marB="59436" anchor="ctr">
                    <a:solidFill>
                      <a:srgbClr val="FFFFFF"/>
                    </a:solidFill>
                  </a:tcPr>
                </a:tc>
              </a:tr>
              <a:tr h="624839">
                <a:tc>
                  <a:txBody>
                    <a:bodyPr wrap="square">
                      <a:normAutofit/>
                    </a:bodyPr>
                    <a:lstStyle/>
                    <a:p>
                      <a:pPr>
                        <a:lnSpc>
                          <a:spcPct val="100000"/>
                        </a:lnSpc>
                      </a:pPr>
                      <a:r>
                        <a:rPr sz="1800" b="0">
                          <a:solidFill>
                            <a:srgbClr val="0E1022"/>
                          </a:solidFill>
                          <a:latin typeface="Arial"/>
                        </a:rPr>
                        <a:t>Delivery integration owners</a:t>
                      </a:r>
                    </a:p>
                  </a:txBody>
                  <a:tcPr marL="137160" marR="137160" marT="59436" marB="59436" anchor="ctr">
                    <a:solidFill>
                      <a:srgbClr val="F2F4F7"/>
                    </a:solidFill>
                  </a:tcPr>
                </a:tc>
                <a:tc>
                  <a:txBody>
                    <a:bodyPr wrap="square">
                      <a:normAutofit/>
                    </a:bodyPr>
                    <a:lstStyle/>
                    <a:p>
                      <a:pPr>
                        <a:lnSpc>
                          <a:spcPct val="100000"/>
                        </a:lnSpc>
                      </a:pPr>
                      <a:r>
                        <a:rPr sz="1800" b="0">
                          <a:solidFill>
                            <a:srgbClr val="0E1022"/>
                          </a:solidFill>
                          <a:latin typeface="Arial"/>
                        </a:rPr>
                        <a:t>Handle absent expired artifacts</a:t>
                      </a:r>
                    </a:p>
                  </a:txBody>
                  <a:tcPr marL="137160" marR="137160" marT="59436" marB="59436" anchor="ctr">
                    <a:solidFill>
                      <a:srgbClr val="F2F4F7"/>
                    </a:solidFill>
                  </a:tcPr>
                </a:tc>
                <a:tc>
                  <a:txBody>
                    <a:bodyPr wrap="square">
                      <a:normAutofit/>
                    </a:bodyPr>
                    <a:lstStyle/>
                    <a:p>
                      <a:pPr>
                        <a:lnSpc>
                          <a:spcPct val="100000"/>
                        </a:lnSpc>
                      </a:pPr>
                      <a:r>
                        <a:rPr sz="1800" b="0">
                          <a:solidFill>
                            <a:srgbClr val="0E1022"/>
                          </a:solidFill>
                          <a:latin typeface="Arial"/>
                        </a:rPr>
                        <a:t>Original receipt and retained upload logs</a:t>
                      </a:r>
                    </a:p>
                  </a:txBody>
                  <a:tcPr marL="137160" marR="137160" marT="59436" marB="59436" anchor="ctr">
                    <a:solidFill>
                      <a:srgbClr val="F2F4F7"/>
                    </a:solidFill>
                  </a:tcPr>
                </a:tc>
              </a:tr>
              <a:tr h="624839">
                <a:tc>
                  <a:txBody>
                    <a:bodyPr wrap="square">
                      <a:normAutofit/>
                    </a:bodyPr>
                    <a:lstStyle/>
                    <a:p>
                      <a:pPr>
                        <a:lnSpc>
                          <a:spcPct val="100000"/>
                        </a:lnSpc>
                      </a:pPr>
                      <a:r>
                        <a:rPr sz="1800" b="0">
                          <a:solidFill>
                            <a:srgbClr val="0E1022"/>
                          </a:solidFill>
                          <a:latin typeface="Arial"/>
                        </a:rPr>
                        <a:t>Reporting engineers</a:t>
                      </a:r>
                    </a:p>
                  </a:txBody>
                  <a:tcPr marL="137160" marR="137160" marT="59436" marB="59436" anchor="ctr">
                    <a:solidFill>
                      <a:srgbClr val="FFFFFF"/>
                    </a:solidFill>
                  </a:tcPr>
                </a:tc>
                <a:tc>
                  <a:txBody>
                    <a:bodyPr wrap="square">
                      <a:normAutofit/>
                    </a:bodyPr>
                    <a:lstStyle/>
                    <a:p>
                      <a:pPr>
                        <a:lnSpc>
                          <a:spcPct val="100000"/>
                        </a:lnSpc>
                      </a:pPr>
                      <a:r>
                        <a:rPr sz="1800" b="0">
                          <a:solidFill>
                            <a:srgbClr val="0E1022"/>
                          </a:solidFill>
                          <a:latin typeface="Arial"/>
                        </a:rPr>
                        <a:t>Bound queries and paginate smaller windows</a:t>
                      </a:r>
                    </a:p>
                  </a:txBody>
                  <a:tcPr marL="137160" marR="137160" marT="59436" marB="59436" anchor="ctr">
                    <a:solidFill>
                      <a:srgbClr val="FFFFFF"/>
                    </a:solidFill>
                  </a:tcPr>
                </a:tc>
                <a:tc>
                  <a:txBody>
                    <a:bodyPr wrap="square">
                      <a:normAutofit/>
                    </a:bodyPr>
                    <a:lstStyle/>
                    <a:p>
                      <a:pPr>
                        <a:lnSpc>
                          <a:spcPct val="100000"/>
                        </a:lnSpc>
                      </a:pPr>
                      <a:r>
                        <a:rPr sz="1800" b="0">
                          <a:solidFill>
                            <a:srgbClr val="0E1022"/>
                          </a:solidFill>
                          <a:latin typeface="Arial"/>
                        </a:rPr>
                        <a:t>Actual counts, IDs, and completeness caveats</a:t>
                      </a:r>
                    </a:p>
                  </a:txBody>
                  <a:tcPr marL="137160" marR="137160" marT="59436" marB="59436" anchor="ctr">
                    <a:solidFill>
                      <a:srgbClr val="FFFFFF"/>
                    </a:solidFill>
                  </a:tcPr>
                </a:tc>
              </a:tr>
              <a:tr h="624844">
                <a:tc>
                  <a:txBody>
                    <a:bodyPr wrap="square">
                      <a:normAutofit/>
                    </a:bodyPr>
                    <a:lstStyle/>
                    <a:p>
                      <a:pPr>
                        <a:lnSpc>
                          <a:spcPct val="100000"/>
                        </a:lnSpc>
                      </a:pPr>
                      <a:r>
                        <a:rPr sz="1800" b="0">
                          <a:solidFill>
                            <a:srgbClr val="0E1022"/>
                          </a:solidFill>
                          <a:latin typeface="Arial"/>
                        </a:rPr>
                        <a:t>Runner operations</a:t>
                      </a:r>
                    </a:p>
                  </a:txBody>
                  <a:tcPr marL="137160" marR="137160" marT="59436" marB="59436" anchor="ctr">
                    <a:solidFill>
                      <a:srgbClr val="F2F4F7"/>
                    </a:solidFill>
                  </a:tcPr>
                </a:tc>
                <a:tc>
                  <a:txBody>
                    <a:bodyPr wrap="square">
                      <a:normAutofit/>
                    </a:bodyPr>
                    <a:lstStyle/>
                    <a:p>
                      <a:pPr>
                        <a:lnSpc>
                          <a:spcPct val="100000"/>
                        </a:lnSpc>
                      </a:pPr>
                      <a:r>
                        <a:rPr sz="1800" b="0">
                          <a:solidFill>
                            <a:srgbClr val="0E1022"/>
                          </a:solidFill>
                          <a:latin typeface="Arial"/>
                        </a:rPr>
                        <a:t>Check registration AND runtime readiness</a:t>
                      </a:r>
                    </a:p>
                  </a:txBody>
                  <a:tcPr marL="137160" marR="137160" marT="59436" marB="59436" anchor="ctr">
                    <a:solidFill>
                      <a:srgbClr val="F2F4F7"/>
                    </a:solidFill>
                  </a:tcPr>
                </a:tc>
                <a:tc>
                  <a:txBody>
                    <a:bodyPr wrap="square">
                      <a:normAutofit/>
                    </a:bodyPr>
                    <a:lstStyle/>
                    <a:p>
                      <a:pPr>
                        <a:lnSpc>
                          <a:spcPct val="100000"/>
                        </a:lnSpc>
                      </a:pPr>
                      <a:r>
                        <a:rPr sz="1800" b="0">
                          <a:solidFill>
                            <a:srgbClr val="0E1022"/>
                          </a:solidFill>
                          <a:latin typeface="Arial"/>
                        </a:rPr>
                        <a:t>Live deprecation dates and fleet versions</a:t>
                      </a:r>
                    </a:p>
                  </a:txBody>
                  <a:tcPr marL="137160" marR="137160" marT="59436" marB="59436" anchor="ctr">
                    <a:solidFill>
                      <a:srgbClr val="F2F4F7"/>
                    </a:solidFill>
                  </a:tcPr>
                </a:tc>
              </a:tr>
            </a:tbl>
          </a:graphicData>
        </a:graphic>
      </p:graphicFrame>
      <p:sp>
        <p:nvSpPr>
          <p:cNvPr id="5" name="Rounded Rectangle 4"/>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118872">
            <a:normAutofit/>
          </a:bodyPr>
          <a:lstStyle/>
          <a:p>
            <a:pPr algn="l">
              <a:spcAft>
                <a:spcPts val="800"/>
              </a:spcAft>
            </a:pPr>
            <a:r>
              <a:rPr sz="1700" b="0">
                <a:solidFill>
                  <a:srgbClr val="0E1022"/>
                </a:solidFill>
                <a:latin typeface="Arial"/>
              </a:rPr>
              <a:t>Pilot in a disposable repository. Review scope and privileges before broader rollout.</a:t>
            </a:r>
          </a:p>
        </p:txBody>
      </p:sp>
      <p:sp>
        <p:nvSpPr>
          <p:cNvPr id="6" name="TextBox 5"/>
          <p:cNvSpPr txBox="1"/>
          <p:nvPr/>
        </p:nvSpPr>
        <p:spPr>
          <a:xfrm>
            <a:off x="10972800" y="7406640"/>
            <a:ext cx="3063240" cy="228600"/>
          </a:xfrm>
          <a:prstGeom prst="rect">
            <a:avLst/>
          </a:prstGeom>
          <a:noFill/>
        </p:spPr>
        <p:txBody>
          <a:bodyPr wrap="square" lIns="18288" rIns="18288" tIns="18288" bIns="18288" anchor="t">
            <a:normAutofit/>
          </a:bodyPr>
          <a:lstStyle/>
          <a:p>
            <a:pPr algn="r">
              <a:spcAft>
                <a:spcPts val="800"/>
              </a:spcAft>
            </a:pPr>
            <a:r>
              <a:rPr sz="1100" b="0">
                <a:solidFill>
                  <a:srgbClr val="555B65"/>
                </a:solidFill>
                <a:latin typeface="Arial"/>
              </a:rPr>
              <a:t>46-48 min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886968"/>
            <a:ext cx="13441680" cy="237744"/>
          </a:xfrm>
          <a:prstGeom prst="rect">
            <a:avLst/>
          </a:prstGeom>
          <a:noFill/>
        </p:spPr>
        <p:txBody>
          <a:bodyPr wrap="square" lIns="18288" rIns="18288" tIns="18288" bIns="18288" anchor="t">
            <a:normAutofit/>
          </a:bodyPr>
          <a:lstStyle/>
          <a:p>
            <a:pPr algn="l">
              <a:spcAft>
                <a:spcPts val="800"/>
              </a:spcAft>
            </a:pPr>
            <a:r>
              <a:rPr sz="1100" b="0">
                <a:solidFill>
                  <a:srgbClr val="555B65"/>
                </a:solidFill>
                <a:latin typeface="Arial"/>
              </a:rPr>
              <a:t>DXC | GitHub Actions Office Hour</a:t>
            </a:r>
          </a:p>
        </p:txBody>
      </p:sp>
      <p:sp>
        <p:nvSpPr>
          <p:cNvPr id="3" name="TextBox 2"/>
          <p:cNvSpPr txBox="1"/>
          <p:nvPr/>
        </p:nvSpPr>
        <p:spPr>
          <a:xfrm>
            <a:off x="484632" y="1261872"/>
            <a:ext cx="13670280" cy="987552"/>
          </a:xfrm>
          <a:prstGeom prst="rect">
            <a:avLst/>
          </a:prstGeom>
          <a:noFill/>
        </p:spPr>
        <p:txBody>
          <a:bodyPr wrap="square" lIns="18288" rIns="18288" tIns="18288" bIns="18288" anchor="t">
            <a:normAutofit/>
          </a:bodyPr>
          <a:lstStyle/>
          <a:p>
            <a:pPr algn="l">
              <a:spcAft>
                <a:spcPts val="800"/>
              </a:spcAft>
            </a:pPr>
            <a:r>
              <a:rPr sz="3200" b="1">
                <a:solidFill>
                  <a:srgbClr val="0E1022"/>
                </a:solidFill>
                <a:latin typeface="Arial"/>
              </a:rPr>
              <a:t>The takeaway: control execution, preserve meaning</a:t>
            </a:r>
          </a:p>
        </p:txBody>
      </p:sp>
      <p:sp>
        <p:nvSpPr>
          <p:cNvPr id="4" name="Rounded Rectangle 3"/>
          <p:cNvSpPr/>
          <p:nvPr/>
        </p:nvSpPr>
        <p:spPr>
          <a:xfrm>
            <a:off x="594360" y="2834640"/>
            <a:ext cx="4297680" cy="333756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3017520"/>
            <a:ext cx="3895344" cy="530352"/>
          </a:xfrm>
          <a:prstGeom prst="rect">
            <a:avLst/>
          </a:prstGeom>
          <a:noFill/>
        </p:spPr>
        <p:txBody>
          <a:bodyPr wrap="square" lIns="18288" rIns="18288" tIns="18288" bIns="18288" anchor="t">
            <a:normAutofit/>
          </a:bodyPr>
          <a:lstStyle/>
          <a:p>
            <a:pPr algn="l">
              <a:spcAft>
                <a:spcPts val="800"/>
              </a:spcAft>
            </a:pPr>
            <a:r>
              <a:rPr sz="2300" b="1">
                <a:solidFill>
                  <a:srgbClr val="0E1022"/>
                </a:solidFill>
                <a:latin typeface="Arial"/>
              </a:rPr>
              <a:t>Least privilege</a:t>
            </a:r>
          </a:p>
        </p:txBody>
      </p:sp>
      <p:sp>
        <p:nvSpPr>
          <p:cNvPr id="6" name="TextBox 5"/>
          <p:cNvSpPr txBox="1"/>
          <p:nvPr/>
        </p:nvSpPr>
        <p:spPr>
          <a:xfrm>
            <a:off x="795528" y="3767328"/>
            <a:ext cx="3895344" cy="2203704"/>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Limit cache capability.</a:t>
            </a:r>
          </a:p>
          <a:p>
            <a:pPr algn="l">
              <a:spcAft>
                <a:spcPts val="800"/>
              </a:spcAft>
            </a:pPr>
            <a:r>
              <a:rPr sz="2000" b="0">
                <a:solidFill>
                  <a:srgbClr val="555B65"/>
                </a:solidFill>
                <a:latin typeface="Arial"/>
              </a:rPr>
              <a:t>Scope workflow execution policy.</a:t>
            </a:r>
          </a:p>
          <a:p>
            <a:pPr algn="l">
              <a:spcAft>
                <a:spcPts val="800"/>
              </a:spcAft>
            </a:pPr>
            <a:r>
              <a:rPr sz="2000" b="0">
                <a:solidFill>
                  <a:srgbClr val="555B65"/>
                </a:solidFill>
                <a:latin typeface="Arial"/>
              </a:rPr>
              <a:t>Keep administrator credentials separate.</a:t>
            </a:r>
          </a:p>
        </p:txBody>
      </p:sp>
      <p:sp>
        <p:nvSpPr>
          <p:cNvPr id="7" name="Rounded Rectangle 6"/>
          <p:cNvSpPr/>
          <p:nvPr/>
        </p:nvSpPr>
        <p:spPr>
          <a:xfrm>
            <a:off x="5166360" y="2834640"/>
            <a:ext cx="4297680" cy="333756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67528" y="3017520"/>
            <a:ext cx="3895344" cy="530352"/>
          </a:xfrm>
          <a:prstGeom prst="rect">
            <a:avLst/>
          </a:prstGeom>
          <a:noFill/>
        </p:spPr>
        <p:txBody>
          <a:bodyPr wrap="square" lIns="18288" rIns="18288" tIns="18288" bIns="18288" anchor="t">
            <a:normAutofit/>
          </a:bodyPr>
          <a:lstStyle/>
          <a:p>
            <a:pPr algn="l">
              <a:spcAft>
                <a:spcPts val="800"/>
              </a:spcAft>
            </a:pPr>
            <a:r>
              <a:rPr sz="2300" b="1">
                <a:solidFill>
                  <a:srgbClr val="0E1022"/>
                </a:solidFill>
                <a:latin typeface="Arial"/>
              </a:rPr>
              <a:t>Reliable evidence</a:t>
            </a:r>
          </a:p>
        </p:txBody>
      </p:sp>
      <p:sp>
        <p:nvSpPr>
          <p:cNvPr id="9" name="TextBox 8"/>
          <p:cNvSpPr txBox="1"/>
          <p:nvPr/>
        </p:nvSpPr>
        <p:spPr>
          <a:xfrm>
            <a:off x="5367528" y="3767328"/>
            <a:ext cx="3895344" cy="2203704"/>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Observe actual service outcomes.</a:t>
            </a:r>
          </a:p>
          <a:p>
            <a:pPr algn="l">
              <a:spcAft>
                <a:spcPts val="800"/>
              </a:spcAft>
            </a:pPr>
            <a:r>
              <a:rPr sz="2000" b="0">
                <a:solidFill>
                  <a:srgbClr val="555B65"/>
                </a:solidFill>
                <a:latin typeface="Arial"/>
              </a:rPr>
              <a:t>Handle absence and bounded counts.</a:t>
            </a:r>
          </a:p>
          <a:p>
            <a:pPr algn="l">
              <a:spcAft>
                <a:spcPts val="800"/>
              </a:spcAft>
            </a:pPr>
            <a:r>
              <a:rPr sz="2000" b="0">
                <a:solidFill>
                  <a:srgbClr val="555B65"/>
                </a:solidFill>
                <a:latin typeface="Arial"/>
              </a:rPr>
              <a:t>Distinguish live results from fixtures.</a:t>
            </a:r>
          </a:p>
        </p:txBody>
      </p:sp>
      <p:sp>
        <p:nvSpPr>
          <p:cNvPr id="10" name="Rounded Rectangle 9"/>
          <p:cNvSpPr/>
          <p:nvPr/>
        </p:nvSpPr>
        <p:spPr>
          <a:xfrm>
            <a:off x="9738360" y="2834640"/>
            <a:ext cx="4297680" cy="333756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39528" y="3017520"/>
            <a:ext cx="3895344" cy="530352"/>
          </a:xfrm>
          <a:prstGeom prst="rect">
            <a:avLst/>
          </a:prstGeom>
          <a:noFill/>
        </p:spPr>
        <p:txBody>
          <a:bodyPr wrap="square" lIns="18288" rIns="18288" tIns="18288" bIns="18288" anchor="t">
            <a:normAutofit/>
          </a:bodyPr>
          <a:lstStyle/>
          <a:p>
            <a:pPr algn="l">
              <a:spcAft>
                <a:spcPts val="800"/>
              </a:spcAft>
            </a:pPr>
            <a:r>
              <a:rPr sz="2300" b="1">
                <a:solidFill>
                  <a:srgbClr val="0E1022"/>
                </a:solidFill>
                <a:latin typeface="Arial"/>
              </a:rPr>
              <a:t>Operational readiness</a:t>
            </a:r>
          </a:p>
        </p:txBody>
      </p:sp>
      <p:sp>
        <p:nvSpPr>
          <p:cNvPr id="12" name="TextBox 11"/>
          <p:cNvSpPr txBox="1"/>
          <p:nvPr/>
        </p:nvSpPr>
        <p:spPr>
          <a:xfrm>
            <a:off x="9939528" y="3767328"/>
            <a:ext cx="3895344" cy="2203704"/>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Seed time-based demos early.</a:t>
            </a:r>
          </a:p>
          <a:p>
            <a:pPr algn="l">
              <a:spcAft>
                <a:spcPts val="800"/>
              </a:spcAft>
            </a:pPr>
            <a:r>
              <a:rPr sz="2000" b="0">
                <a:solidFill>
                  <a:srgbClr val="555B65"/>
                </a:solidFill>
                <a:latin typeface="Arial"/>
              </a:rPr>
              <a:t>Audit runner dates independently.</a:t>
            </a:r>
          </a:p>
          <a:p>
            <a:pPr algn="l">
              <a:spcAft>
                <a:spcPts val="800"/>
              </a:spcAft>
            </a:pPr>
            <a:r>
              <a:rPr sz="2000" b="0">
                <a:solidFill>
                  <a:srgbClr val="555B65"/>
                </a:solidFill>
                <a:latin typeface="Arial"/>
              </a:rPr>
              <a:t>Keep rollback and cleanup explicit.</a:t>
            </a:r>
          </a:p>
        </p:txBody>
      </p:sp>
      <p:sp>
        <p:nvSpPr>
          <p:cNvPr id="13" name="Rounded Rectangle 12"/>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118872">
            <a:normAutofit/>
          </a:bodyPr>
          <a:lstStyle/>
          <a:p>
            <a:pPr algn="l">
              <a:spcAft>
                <a:spcPts val="800"/>
              </a:spcAft>
            </a:pPr>
            <a:r>
              <a:rPr sz="1700" b="0">
                <a:solidFill>
                  <a:srgbClr val="0E1022"/>
                </a:solidFill>
                <a:latin typeface="Arial"/>
              </a:rPr>
              <a:t>At minute 50, stop presenting. Upcoming: affected public pull_request_target default enforcement on 2 Nov.</a:t>
            </a:r>
          </a:p>
        </p:txBody>
      </p:sp>
      <p:sp>
        <p:nvSpPr>
          <p:cNvPr id="14" name="TextBox 13"/>
          <p:cNvSpPr txBox="1"/>
          <p:nvPr/>
        </p:nvSpPr>
        <p:spPr>
          <a:xfrm>
            <a:off x="10972800" y="7406640"/>
            <a:ext cx="3063240" cy="228600"/>
          </a:xfrm>
          <a:prstGeom prst="rect">
            <a:avLst/>
          </a:prstGeom>
          <a:noFill/>
        </p:spPr>
        <p:txBody>
          <a:bodyPr wrap="square" lIns="18288" rIns="18288" tIns="18288" bIns="18288" anchor="t">
            <a:normAutofit/>
          </a:bodyPr>
          <a:lstStyle/>
          <a:p>
            <a:pPr algn="r">
              <a:spcAft>
                <a:spcPts val="800"/>
              </a:spcAft>
            </a:pPr>
            <a:r>
              <a:rPr sz="1100" b="0">
                <a:solidFill>
                  <a:srgbClr val="555B65"/>
                </a:solidFill>
                <a:latin typeface="Arial"/>
              </a:rPr>
              <a:t>48-50 min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84632" y="3182112"/>
            <a:ext cx="10698480" cy="914400"/>
          </a:xfrm>
          <a:prstGeom prst="rect">
            <a:avLst/>
          </a:prstGeom>
          <a:noFill/>
        </p:spPr>
        <p:txBody>
          <a:bodyPr wrap="square" lIns="18288" rIns="18288" tIns="18288" bIns="18288" anchor="t">
            <a:normAutofit/>
          </a:bodyPr>
          <a:lstStyle/>
          <a:p>
            <a:pPr algn="l">
              <a:spcAft>
                <a:spcPts val="800"/>
              </a:spcAft>
            </a:pPr>
            <a:r>
              <a:rPr sz="5400" b="1">
                <a:solidFill>
                  <a:srgbClr val="0E1022"/>
                </a:solidFill>
                <a:latin typeface="Arial"/>
              </a:rPr>
              <a:t>Q &amp; A</a:t>
            </a:r>
          </a:p>
        </p:txBody>
      </p:sp>
      <p:sp>
        <p:nvSpPr>
          <p:cNvPr id="3" name="TextBox 2"/>
          <p:cNvSpPr txBox="1"/>
          <p:nvPr/>
        </p:nvSpPr>
        <p:spPr>
          <a:xfrm>
            <a:off x="548640" y="4700016"/>
            <a:ext cx="10332720" cy="594360"/>
          </a:xfrm>
          <a:prstGeom prst="rect">
            <a:avLst/>
          </a:prstGeom>
          <a:noFill/>
        </p:spPr>
        <p:txBody>
          <a:bodyPr wrap="square" lIns="18288" rIns="18288" tIns="18288" bIns="18288" anchor="t">
            <a:normAutofit/>
          </a:bodyPr>
          <a:lstStyle/>
          <a:p>
            <a:pPr algn="l">
              <a:spcAft>
                <a:spcPts val="800"/>
              </a:spcAft>
            </a:pPr>
            <a:r>
              <a:rPr sz="2400" b="0">
                <a:solidFill>
                  <a:srgbClr val="0E1022"/>
                </a:solidFill>
                <a:latin typeface="Arial"/>
              </a:rPr>
              <a:t>10 minutes | Presentation and demos stop at minute 50</a:t>
            </a:r>
          </a:p>
        </p:txBody>
      </p:sp>
      <p:sp>
        <p:nvSpPr>
          <p:cNvPr id="4" name="TextBox 3"/>
          <p:cNvSpPr txBox="1"/>
          <p:nvPr/>
        </p:nvSpPr>
        <p:spPr>
          <a:xfrm>
            <a:off x="548640" y="5596128"/>
            <a:ext cx="10332720" cy="841248"/>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Trust boundaries | Evidence retention | Reporting scale | Runner operations</a:t>
            </a:r>
          </a:p>
        </p:txBody>
      </p:sp>
      <p:sp>
        <p:nvSpPr>
          <p:cNvPr id="5" name="TextBox 4"/>
          <p:cNvSpPr txBox="1"/>
          <p:nvPr/>
        </p:nvSpPr>
        <p:spPr>
          <a:xfrm>
            <a:off x="10972800" y="7406640"/>
            <a:ext cx="3063240" cy="228600"/>
          </a:xfrm>
          <a:prstGeom prst="rect">
            <a:avLst/>
          </a:prstGeom>
          <a:noFill/>
        </p:spPr>
        <p:txBody>
          <a:bodyPr wrap="square" lIns="18288" rIns="18288" tIns="18288" bIns="18288" anchor="t">
            <a:normAutofit/>
          </a:bodyPr>
          <a:lstStyle/>
          <a:p>
            <a:pPr algn="r">
              <a:spcAft>
                <a:spcPts val="800"/>
              </a:spcAft>
            </a:pPr>
            <a:r>
              <a:rPr sz="1100" b="0">
                <a:solidFill>
                  <a:srgbClr val="555B65"/>
                </a:solidFill>
                <a:latin typeface="Arial"/>
              </a:rPr>
              <a:t>50-60 min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886968"/>
            <a:ext cx="13441680" cy="237744"/>
          </a:xfrm>
          <a:prstGeom prst="rect">
            <a:avLst/>
          </a:prstGeom>
          <a:noFill/>
        </p:spPr>
        <p:txBody>
          <a:bodyPr wrap="square" lIns="18288" rIns="18288" tIns="18288" bIns="18288" anchor="t">
            <a:normAutofit/>
          </a:bodyPr>
          <a:lstStyle/>
          <a:p>
            <a:pPr algn="l">
              <a:spcAft>
                <a:spcPts val="800"/>
              </a:spcAft>
            </a:pPr>
            <a:r>
              <a:rPr sz="1100" b="0">
                <a:solidFill>
                  <a:srgbClr val="555B65"/>
                </a:solidFill>
                <a:latin typeface="Arial"/>
              </a:rPr>
              <a:t>Appendix | Publication dates, not inferred availability</a:t>
            </a:r>
          </a:p>
        </p:txBody>
      </p:sp>
      <p:sp>
        <p:nvSpPr>
          <p:cNvPr id="3" name="TextBox 2"/>
          <p:cNvSpPr txBox="1"/>
          <p:nvPr/>
        </p:nvSpPr>
        <p:spPr>
          <a:xfrm>
            <a:off x="484632" y="1261872"/>
            <a:ext cx="13670280" cy="987552"/>
          </a:xfrm>
          <a:prstGeom prst="rect">
            <a:avLst/>
          </a:prstGeom>
          <a:noFill/>
        </p:spPr>
        <p:txBody>
          <a:bodyPr wrap="square" lIns="18288" rIns="18288" tIns="18288" bIns="18288" anchor="t">
            <a:normAutofit/>
          </a:bodyPr>
          <a:lstStyle/>
          <a:p>
            <a:pPr algn="l">
              <a:spcAft>
                <a:spcPts val="800"/>
              </a:spcAft>
            </a:pPr>
            <a:r>
              <a:rPr sz="3200" b="1">
                <a:solidFill>
                  <a:srgbClr val="0E1022"/>
                </a:solidFill>
                <a:latin typeface="Arial"/>
              </a:rPr>
              <a:t>Sources | Selected releases in the 30-day window</a:t>
            </a:r>
          </a:p>
        </p:txBody>
      </p:sp>
      <p:sp>
        <p:nvSpPr>
          <p:cNvPr id="4" name="TextBox 3"/>
          <p:cNvSpPr txBox="1"/>
          <p:nvPr/>
        </p:nvSpPr>
        <p:spPr>
          <a:xfrm>
            <a:off x="777240" y="2679192"/>
            <a:ext cx="12893040" cy="438912"/>
          </a:xfrm>
          <a:prstGeom prst="rect">
            <a:avLst/>
          </a:prstGeom>
          <a:noFill/>
        </p:spPr>
        <p:txBody>
          <a:bodyPr wrap="square" lIns="18288" rIns="18288" tIns="18288" bIns="18288" anchor="t">
            <a:normAutofit/>
          </a:bodyPr>
          <a:lstStyle/>
          <a:p>
            <a:pPr algn="l">
              <a:spcAft>
                <a:spcPts val="800"/>
              </a:spcAft>
            </a:pPr>
            <a:r>
              <a:rPr sz="2200" b="1">
                <a:solidFill>
                  <a:srgbClr val="345282"/>
                </a:solidFill>
                <a:latin typeface="Arial"/>
                <a:hlinkClick r:id="rId2"/>
              </a:rPr>
              <a:t>10 Sep | Cache access control</a:t>
            </a:r>
          </a:p>
        </p:txBody>
      </p:sp>
      <p:sp>
        <p:nvSpPr>
          <p:cNvPr id="5" name="TextBox 4"/>
          <p:cNvSpPr txBox="1"/>
          <p:nvPr/>
        </p:nvSpPr>
        <p:spPr>
          <a:xfrm>
            <a:off x="777240" y="3346704"/>
            <a:ext cx="12893040" cy="438912"/>
          </a:xfrm>
          <a:prstGeom prst="rect">
            <a:avLst/>
          </a:prstGeom>
          <a:noFill/>
        </p:spPr>
        <p:txBody>
          <a:bodyPr wrap="square" lIns="18288" rIns="18288" tIns="18288" bIns="18288" anchor="t">
            <a:normAutofit/>
          </a:bodyPr>
          <a:lstStyle/>
          <a:p>
            <a:pPr algn="l">
              <a:spcAft>
                <a:spcPts val="800"/>
              </a:spcAft>
            </a:pPr>
            <a:r>
              <a:rPr sz="2200" b="1">
                <a:solidFill>
                  <a:srgbClr val="345282"/>
                </a:solidFill>
                <a:latin typeface="Arial"/>
                <a:hlinkClick r:id="rId3"/>
              </a:rPr>
              <a:t>17 Sep | Workflow execution protections GA</a:t>
            </a:r>
          </a:p>
        </p:txBody>
      </p:sp>
      <p:sp>
        <p:nvSpPr>
          <p:cNvPr id="6" name="TextBox 5"/>
          <p:cNvSpPr txBox="1"/>
          <p:nvPr/>
        </p:nvSpPr>
        <p:spPr>
          <a:xfrm>
            <a:off x="777240" y="4014216"/>
            <a:ext cx="12893040" cy="438912"/>
          </a:xfrm>
          <a:prstGeom prst="rect">
            <a:avLst/>
          </a:prstGeom>
          <a:noFill/>
        </p:spPr>
        <p:txBody>
          <a:bodyPr wrap="square" lIns="18288" rIns="18288" tIns="18288" bIns="18288" anchor="t">
            <a:normAutofit/>
          </a:bodyPr>
          <a:lstStyle/>
          <a:p>
            <a:pPr algn="l">
              <a:spcAft>
                <a:spcPts val="800"/>
              </a:spcAft>
            </a:pPr>
            <a:r>
              <a:rPr sz="2200" b="1">
                <a:solidFill>
                  <a:srgbClr val="345282"/>
                </a:solidFill>
                <a:latin typeface="Arial"/>
                <a:hlinkClick r:id="rId4"/>
              </a:rPr>
              <a:t>24 Sep | Expired artifact visibility</a:t>
            </a:r>
          </a:p>
        </p:txBody>
      </p:sp>
      <p:sp>
        <p:nvSpPr>
          <p:cNvPr id="7" name="TextBox 6"/>
          <p:cNvSpPr txBox="1"/>
          <p:nvPr/>
        </p:nvSpPr>
        <p:spPr>
          <a:xfrm>
            <a:off x="777240" y="4681728"/>
            <a:ext cx="12893040" cy="438912"/>
          </a:xfrm>
          <a:prstGeom prst="rect">
            <a:avLst/>
          </a:prstGeom>
          <a:noFill/>
        </p:spPr>
        <p:txBody>
          <a:bodyPr wrap="square" lIns="18288" rIns="18288" tIns="18288" bIns="18288" anchor="t">
            <a:normAutofit/>
          </a:bodyPr>
          <a:lstStyle/>
          <a:p>
            <a:pPr algn="l">
              <a:spcAft>
                <a:spcPts val="800"/>
              </a:spcAft>
            </a:pPr>
            <a:r>
              <a:rPr sz="2200" b="1">
                <a:solidFill>
                  <a:srgbClr val="345282"/>
                </a:solidFill>
                <a:latin typeface="Arial"/>
                <a:hlinkClick r:id="rId5"/>
              </a:rPr>
              <a:t>25 Sep | Workflow-run query results</a:t>
            </a:r>
          </a:p>
        </p:txBody>
      </p:sp>
      <p:sp>
        <p:nvSpPr>
          <p:cNvPr id="8" name="TextBox 7"/>
          <p:cNvSpPr txBox="1"/>
          <p:nvPr/>
        </p:nvSpPr>
        <p:spPr>
          <a:xfrm>
            <a:off x="777240" y="5349240"/>
            <a:ext cx="12893040" cy="438912"/>
          </a:xfrm>
          <a:prstGeom prst="rect">
            <a:avLst/>
          </a:prstGeom>
          <a:noFill/>
        </p:spPr>
        <p:txBody>
          <a:bodyPr wrap="square" lIns="18288" rIns="18288" tIns="18288" bIns="18288" anchor="t">
            <a:normAutofit/>
          </a:bodyPr>
          <a:lstStyle/>
          <a:p>
            <a:pPr algn="l">
              <a:spcAft>
                <a:spcPts val="800"/>
              </a:spcAft>
            </a:pPr>
            <a:r>
              <a:rPr sz="2200" b="1">
                <a:solidFill>
                  <a:srgbClr val="345282"/>
                </a:solidFill>
                <a:latin typeface="Arial"/>
                <a:hlinkClick r:id="rId6"/>
              </a:rPr>
              <a:t>28 Sep | Self-hosted runner enforcement</a:t>
            </a:r>
          </a:p>
        </p:txBody>
      </p:sp>
      <p:sp>
        <p:nvSpPr>
          <p:cNvPr id="9" name="TextBox 8"/>
          <p:cNvSpPr txBox="1"/>
          <p:nvPr/>
        </p:nvSpPr>
        <p:spPr>
          <a:xfrm>
            <a:off x="10972800" y="7406640"/>
            <a:ext cx="3063240" cy="228600"/>
          </a:xfrm>
          <a:prstGeom prst="rect">
            <a:avLst/>
          </a:prstGeom>
          <a:noFill/>
        </p:spPr>
        <p:txBody>
          <a:bodyPr wrap="square" lIns="18288" rIns="18288" tIns="18288" bIns="18288" anchor="t">
            <a:normAutofit/>
          </a:bodyPr>
          <a:lstStyle/>
          <a:p>
            <a:pPr algn="r">
              <a:spcAft>
                <a:spcPts val="800"/>
              </a:spcAft>
            </a:pPr>
            <a:r>
              <a:rPr sz="1100" b="0">
                <a:solidFill>
                  <a:srgbClr val="555B65"/>
                </a:solidFill>
                <a:latin typeface="Arial"/>
              </a:rPr>
              <a:t>Appendix</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886968"/>
            <a:ext cx="13441680" cy="237744"/>
          </a:xfrm>
          <a:prstGeom prst="rect">
            <a:avLst/>
          </a:prstGeom>
          <a:noFill/>
        </p:spPr>
        <p:txBody>
          <a:bodyPr wrap="square" lIns="18288" rIns="18288" tIns="18288" bIns="18288" anchor="t">
            <a:normAutofit/>
          </a:bodyPr>
          <a:lstStyle/>
          <a:p>
            <a:pPr algn="l">
              <a:spcAft>
                <a:spcPts val="800"/>
              </a:spcAft>
            </a:pPr>
            <a:r>
              <a:rPr sz="1100" b="0">
                <a:solidFill>
                  <a:srgbClr val="555B65"/>
                </a:solidFill>
                <a:latin typeface="Arial"/>
              </a:rPr>
              <a:t>Appendix | Keep supporting functionality separate from new releases</a:t>
            </a:r>
          </a:p>
        </p:txBody>
      </p:sp>
      <p:sp>
        <p:nvSpPr>
          <p:cNvPr id="3" name="TextBox 2"/>
          <p:cNvSpPr txBox="1"/>
          <p:nvPr/>
        </p:nvSpPr>
        <p:spPr>
          <a:xfrm>
            <a:off x="484632" y="1261872"/>
            <a:ext cx="13670280" cy="987552"/>
          </a:xfrm>
          <a:prstGeom prst="rect">
            <a:avLst/>
          </a:prstGeom>
          <a:noFill/>
        </p:spPr>
        <p:txBody>
          <a:bodyPr wrap="square" lIns="18288" rIns="18288" tIns="18288" bIns="18288" anchor="t">
            <a:normAutofit/>
          </a:bodyPr>
          <a:lstStyle/>
          <a:p>
            <a:pPr algn="l">
              <a:spcAft>
                <a:spcPts val="800"/>
              </a:spcAft>
            </a:pPr>
            <a:r>
              <a:rPr sz="3200" b="1">
                <a:solidFill>
                  <a:srgbClr val="0E1022"/>
                </a:solidFill>
                <a:latin typeface="Arial"/>
              </a:rPr>
              <a:t>Sources | Implementation references and earlier supporting API</a:t>
            </a:r>
          </a:p>
        </p:txBody>
      </p:sp>
      <p:sp>
        <p:nvSpPr>
          <p:cNvPr id="4" name="TextBox 3"/>
          <p:cNvSpPr txBox="1"/>
          <p:nvPr/>
        </p:nvSpPr>
        <p:spPr>
          <a:xfrm>
            <a:off x="777240" y="2679192"/>
            <a:ext cx="12893040" cy="438912"/>
          </a:xfrm>
          <a:prstGeom prst="rect">
            <a:avLst/>
          </a:prstGeom>
          <a:noFill/>
        </p:spPr>
        <p:txBody>
          <a:bodyPr wrap="square" lIns="18288" rIns="18288" tIns="18288" bIns="18288" anchor="t">
            <a:normAutofit/>
          </a:bodyPr>
          <a:lstStyle/>
          <a:p>
            <a:pPr algn="l">
              <a:spcAft>
                <a:spcPts val="800"/>
              </a:spcAft>
            </a:pPr>
            <a:r>
              <a:rPr sz="2200" b="1">
                <a:solidFill>
                  <a:srgbClr val="345282"/>
                </a:solidFill>
                <a:latin typeface="Arial"/>
                <a:hlinkClick r:id="rId2"/>
              </a:rPr>
              <a:t>Cache-mode workflow syntax</a:t>
            </a:r>
          </a:p>
        </p:txBody>
      </p:sp>
      <p:sp>
        <p:nvSpPr>
          <p:cNvPr id="5" name="TextBox 4"/>
          <p:cNvSpPr txBox="1"/>
          <p:nvPr/>
        </p:nvSpPr>
        <p:spPr>
          <a:xfrm>
            <a:off x="777240" y="3346704"/>
            <a:ext cx="12893040" cy="438912"/>
          </a:xfrm>
          <a:prstGeom prst="rect">
            <a:avLst/>
          </a:prstGeom>
          <a:noFill/>
        </p:spPr>
        <p:txBody>
          <a:bodyPr wrap="square" lIns="18288" rIns="18288" tIns="18288" bIns="18288" anchor="t">
            <a:normAutofit/>
          </a:bodyPr>
          <a:lstStyle/>
          <a:p>
            <a:pPr algn="l">
              <a:spcAft>
                <a:spcPts val="800"/>
              </a:spcAft>
            </a:pPr>
            <a:r>
              <a:rPr sz="2200" b="1">
                <a:solidFill>
                  <a:srgbClr val="345282"/>
                </a:solidFill>
                <a:latin typeface="Arial"/>
                <a:hlinkClick r:id="rId3"/>
              </a:rPr>
              <a:t>Actions policy concepts</a:t>
            </a:r>
          </a:p>
        </p:txBody>
      </p:sp>
      <p:sp>
        <p:nvSpPr>
          <p:cNvPr id="6" name="TextBox 5"/>
          <p:cNvSpPr txBox="1"/>
          <p:nvPr/>
        </p:nvSpPr>
        <p:spPr>
          <a:xfrm>
            <a:off x="777240" y="4014216"/>
            <a:ext cx="12893040" cy="438912"/>
          </a:xfrm>
          <a:prstGeom prst="rect">
            <a:avLst/>
          </a:prstGeom>
          <a:noFill/>
        </p:spPr>
        <p:txBody>
          <a:bodyPr wrap="square" lIns="18288" rIns="18288" tIns="18288" bIns="18288" anchor="t">
            <a:normAutofit/>
          </a:bodyPr>
          <a:lstStyle/>
          <a:p>
            <a:pPr algn="l">
              <a:spcAft>
                <a:spcPts val="800"/>
              </a:spcAft>
            </a:pPr>
            <a:r>
              <a:rPr sz="2200" b="1">
                <a:solidFill>
                  <a:srgbClr val="345282"/>
                </a:solidFill>
                <a:latin typeface="Arial"/>
                <a:hlinkClick r:id="rId4"/>
              </a:rPr>
              <a:t>Execution protection setup</a:t>
            </a:r>
          </a:p>
        </p:txBody>
      </p:sp>
      <p:sp>
        <p:nvSpPr>
          <p:cNvPr id="7" name="TextBox 6"/>
          <p:cNvSpPr txBox="1"/>
          <p:nvPr/>
        </p:nvSpPr>
        <p:spPr>
          <a:xfrm>
            <a:off x="777240" y="4681728"/>
            <a:ext cx="12893040" cy="438912"/>
          </a:xfrm>
          <a:prstGeom prst="rect">
            <a:avLst/>
          </a:prstGeom>
          <a:noFill/>
        </p:spPr>
        <p:txBody>
          <a:bodyPr wrap="square" lIns="18288" rIns="18288" tIns="18288" bIns="18288" anchor="t">
            <a:normAutofit/>
          </a:bodyPr>
          <a:lstStyle/>
          <a:p>
            <a:pPr algn="l">
              <a:spcAft>
                <a:spcPts val="800"/>
              </a:spcAft>
            </a:pPr>
            <a:r>
              <a:rPr sz="2200" b="1">
                <a:solidFill>
                  <a:srgbClr val="345282"/>
                </a:solidFill>
                <a:latin typeface="Arial"/>
                <a:hlinkClick r:id="rId5"/>
              </a:rPr>
              <a:t>Actions policies REST API</a:t>
            </a:r>
          </a:p>
        </p:txBody>
      </p:sp>
      <p:sp>
        <p:nvSpPr>
          <p:cNvPr id="8" name="TextBox 7"/>
          <p:cNvSpPr txBox="1"/>
          <p:nvPr/>
        </p:nvSpPr>
        <p:spPr>
          <a:xfrm>
            <a:off x="777240" y="5349240"/>
            <a:ext cx="12893040" cy="438912"/>
          </a:xfrm>
          <a:prstGeom prst="rect">
            <a:avLst/>
          </a:prstGeom>
          <a:noFill/>
        </p:spPr>
        <p:txBody>
          <a:bodyPr wrap="square" lIns="18288" rIns="18288" tIns="18288" bIns="18288" anchor="t">
            <a:normAutofit/>
          </a:bodyPr>
          <a:lstStyle/>
          <a:p>
            <a:pPr algn="l">
              <a:spcAft>
                <a:spcPts val="800"/>
              </a:spcAft>
            </a:pPr>
            <a:r>
              <a:rPr sz="2200" b="1">
                <a:solidFill>
                  <a:srgbClr val="345282"/>
                </a:solidFill>
                <a:latin typeface="Arial"/>
                <a:hlinkClick r:id="rId6"/>
              </a:rPr>
              <a:t>Workflow runs REST API</a:t>
            </a:r>
          </a:p>
        </p:txBody>
      </p:sp>
      <p:sp>
        <p:nvSpPr>
          <p:cNvPr id="9" name="TextBox 8"/>
          <p:cNvSpPr txBox="1"/>
          <p:nvPr/>
        </p:nvSpPr>
        <p:spPr>
          <a:xfrm>
            <a:off x="777240" y="6016752"/>
            <a:ext cx="12893040" cy="438912"/>
          </a:xfrm>
          <a:prstGeom prst="rect">
            <a:avLst/>
          </a:prstGeom>
          <a:noFill/>
        </p:spPr>
        <p:txBody>
          <a:bodyPr wrap="square" lIns="18288" rIns="18288" tIns="18288" bIns="18288" anchor="t">
            <a:normAutofit/>
          </a:bodyPr>
          <a:lstStyle/>
          <a:p>
            <a:pPr algn="l">
              <a:spcAft>
                <a:spcPts val="800"/>
              </a:spcAft>
            </a:pPr>
            <a:r>
              <a:rPr sz="2200" b="1">
                <a:solidFill>
                  <a:srgbClr val="345282"/>
                </a:solidFill>
                <a:latin typeface="Arial"/>
                <a:hlinkClick r:id="rId7"/>
              </a:rPr>
              <a:t>Runner deprecation API: earlier 3 Sep announcement</a:t>
            </a:r>
          </a:p>
        </p:txBody>
      </p:sp>
      <p:sp>
        <p:nvSpPr>
          <p:cNvPr id="10" name="TextBox 9"/>
          <p:cNvSpPr txBox="1"/>
          <p:nvPr/>
        </p:nvSpPr>
        <p:spPr>
          <a:xfrm>
            <a:off x="10972800" y="7406640"/>
            <a:ext cx="3063240" cy="228600"/>
          </a:xfrm>
          <a:prstGeom prst="rect">
            <a:avLst/>
          </a:prstGeom>
          <a:noFill/>
        </p:spPr>
        <p:txBody>
          <a:bodyPr wrap="square" lIns="18288" rIns="18288" tIns="18288" bIns="18288" anchor="t">
            <a:normAutofit/>
          </a:bodyPr>
          <a:lstStyle/>
          <a:p>
            <a:pPr algn="r">
              <a:spcAft>
                <a:spcPts val="800"/>
              </a:spcAft>
            </a:pPr>
            <a:r>
              <a:rPr sz="1100" b="0">
                <a:solidFill>
                  <a:srgbClr val="555B65"/>
                </a:solidFill>
                <a:latin typeface="Arial"/>
              </a:rPr>
              <a:t>Appendix</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886968"/>
            <a:ext cx="13441680" cy="237744"/>
          </a:xfrm>
          <a:prstGeom prst="rect">
            <a:avLst/>
          </a:prstGeom>
          <a:noFill/>
        </p:spPr>
        <p:txBody>
          <a:bodyPr wrap="square" lIns="18288" rIns="18288" tIns="18288" bIns="18288" anchor="t">
            <a:normAutofit/>
          </a:bodyPr>
          <a:lstStyle/>
          <a:p>
            <a:pPr algn="l">
              <a:spcAft>
                <a:spcPts val="800"/>
              </a:spcAft>
            </a:pPr>
            <a:r>
              <a:rPr sz="1100" b="0">
                <a:solidFill>
                  <a:srgbClr val="555B65"/>
                </a:solidFill>
                <a:latin typeface="Arial"/>
              </a:rPr>
              <a:t>Appendix | Local package is not a live GitHub rehearsal</a:t>
            </a:r>
          </a:p>
        </p:txBody>
      </p:sp>
      <p:sp>
        <p:nvSpPr>
          <p:cNvPr id="3" name="TextBox 2"/>
          <p:cNvSpPr txBox="1"/>
          <p:nvPr/>
        </p:nvSpPr>
        <p:spPr>
          <a:xfrm>
            <a:off x="484632" y="1261872"/>
            <a:ext cx="13670280" cy="987552"/>
          </a:xfrm>
          <a:prstGeom prst="rect">
            <a:avLst/>
          </a:prstGeom>
          <a:noFill/>
        </p:spPr>
        <p:txBody>
          <a:bodyPr wrap="square" lIns="18288" rIns="18288" tIns="18288" bIns="18288" anchor="t">
            <a:normAutofit/>
          </a:bodyPr>
          <a:lstStyle/>
          <a:p>
            <a:pPr algn="l">
              <a:spcAft>
                <a:spcPts val="800"/>
              </a:spcAft>
            </a:pPr>
            <a:r>
              <a:rPr sz="3200" b="1">
                <a:solidFill>
                  <a:srgbClr val="0E1022"/>
                </a:solidFill>
                <a:latin typeface="Arial"/>
              </a:rPr>
              <a:t>Rehearsal gate | What must be ready before delivery</a:t>
            </a:r>
          </a:p>
        </p:txBody>
      </p:sp>
      <p:sp>
        <p:nvSpPr>
          <p:cNvPr id="4" name="Rounded Rectangle 3"/>
          <p:cNvSpPr/>
          <p:nvPr/>
        </p:nvSpPr>
        <p:spPr>
          <a:xfrm>
            <a:off x="594360" y="2834640"/>
            <a:ext cx="4297680" cy="333756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3017520"/>
            <a:ext cx="3895344" cy="530352"/>
          </a:xfrm>
          <a:prstGeom prst="rect">
            <a:avLst/>
          </a:prstGeom>
          <a:noFill/>
        </p:spPr>
        <p:txBody>
          <a:bodyPr wrap="square" lIns="18288" rIns="18288" tIns="18288" bIns="18288" anchor="t">
            <a:normAutofit/>
          </a:bodyPr>
          <a:lstStyle/>
          <a:p>
            <a:pPr algn="l">
              <a:spcAft>
                <a:spcPts val="800"/>
              </a:spcAft>
            </a:pPr>
            <a:r>
              <a:rPr sz="2300" b="1">
                <a:solidFill>
                  <a:srgbClr val="0E1022"/>
                </a:solidFill>
                <a:latin typeface="Arial"/>
              </a:rPr>
              <a:t>Repository</a:t>
            </a:r>
          </a:p>
        </p:txBody>
      </p:sp>
      <p:sp>
        <p:nvSpPr>
          <p:cNvPr id="6" name="TextBox 5"/>
          <p:cNvSpPr txBox="1"/>
          <p:nvPr/>
        </p:nvSpPr>
        <p:spPr>
          <a:xfrm>
            <a:off x="795528" y="3767328"/>
            <a:ext cx="3895344" cy="2203704"/>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Commit .github and scripts to the default branch.</a:t>
            </a:r>
          </a:p>
          <a:p>
            <a:pPr algn="l">
              <a:spcAft>
                <a:spcPts val="800"/>
              </a:spcAft>
            </a:pPr>
            <a:r>
              <a:rPr sz="2000" b="0">
                <a:solidFill>
                  <a:srgbClr val="555B65"/>
                </a:solidFill>
                <a:latin typeface="Arial"/>
              </a:rPr>
              <a:t>Enable pinned actions and hosted runners.</a:t>
            </a:r>
          </a:p>
          <a:p>
            <a:pPr algn="l">
              <a:spcAft>
                <a:spcPts val="800"/>
              </a:spcAft>
            </a:pPr>
            <a:r>
              <a:rPr sz="2000" b="0">
                <a:solidFill>
                  <a:srgbClr val="555B65"/>
                </a:solidFill>
                <a:latin typeface="Arial"/>
              </a:rPr>
              <a:t>Run package validation.</a:t>
            </a:r>
          </a:p>
        </p:txBody>
      </p:sp>
      <p:sp>
        <p:nvSpPr>
          <p:cNvPr id="7" name="Rounded Rectangle 6"/>
          <p:cNvSpPr/>
          <p:nvPr/>
        </p:nvSpPr>
        <p:spPr>
          <a:xfrm>
            <a:off x="5166360" y="2834640"/>
            <a:ext cx="4297680" cy="333756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67528" y="3017520"/>
            <a:ext cx="3895344" cy="530352"/>
          </a:xfrm>
          <a:prstGeom prst="rect">
            <a:avLst/>
          </a:prstGeom>
          <a:noFill/>
        </p:spPr>
        <p:txBody>
          <a:bodyPr wrap="square" lIns="18288" rIns="18288" tIns="18288" bIns="18288" anchor="t">
            <a:normAutofit/>
          </a:bodyPr>
          <a:lstStyle/>
          <a:p>
            <a:pPr algn="l">
              <a:spcAft>
                <a:spcPts val="800"/>
              </a:spcAft>
            </a:pPr>
            <a:r>
              <a:rPr sz="2300" b="1">
                <a:solidFill>
                  <a:srgbClr val="0E1022"/>
                </a:solidFill>
                <a:latin typeface="Arial"/>
              </a:rPr>
              <a:t>Administrative access</a:t>
            </a:r>
          </a:p>
        </p:txBody>
      </p:sp>
      <p:sp>
        <p:nvSpPr>
          <p:cNvPr id="9" name="TextBox 8"/>
          <p:cNvSpPr txBox="1"/>
          <p:nvPr/>
        </p:nvSpPr>
        <p:spPr>
          <a:xfrm>
            <a:off x="5367528" y="3767328"/>
            <a:ext cx="3895344" cy="2203704"/>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Protect demo-admin and scope credentials.</a:t>
            </a:r>
          </a:p>
          <a:p>
            <a:pPr algn="l">
              <a:spcAft>
                <a:spcPts val="800"/>
              </a:spcAft>
            </a:pPr>
            <a:r>
              <a:rPr sz="2000" b="0">
                <a:solidFill>
                  <a:srgbClr val="555B65"/>
                </a:solidFill>
                <a:latin typeface="Arial"/>
              </a:rPr>
              <a:t>Confirm policy evaluate entitlement.</a:t>
            </a:r>
          </a:p>
          <a:p>
            <a:pPr algn="l">
              <a:spcAft>
                <a:spcPts val="800"/>
              </a:spcAft>
            </a:pPr>
            <a:r>
              <a:rPr sz="2000" b="0">
                <a:solidFill>
                  <a:srgbClr val="555B65"/>
                </a:solidFill>
                <a:latin typeface="Arial"/>
              </a:rPr>
              <a:t>Rehearse allowed/blocked outcomes.</a:t>
            </a:r>
          </a:p>
        </p:txBody>
      </p:sp>
      <p:sp>
        <p:nvSpPr>
          <p:cNvPr id="10" name="Rounded Rectangle 9"/>
          <p:cNvSpPr/>
          <p:nvPr/>
        </p:nvSpPr>
        <p:spPr>
          <a:xfrm>
            <a:off x="9738360" y="2834640"/>
            <a:ext cx="4297680" cy="333756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39528" y="3017520"/>
            <a:ext cx="3895344" cy="530352"/>
          </a:xfrm>
          <a:prstGeom prst="rect">
            <a:avLst/>
          </a:prstGeom>
          <a:noFill/>
        </p:spPr>
        <p:txBody>
          <a:bodyPr wrap="square" lIns="18288" rIns="18288" tIns="18288" bIns="18288" anchor="t">
            <a:normAutofit/>
          </a:bodyPr>
          <a:lstStyle/>
          <a:p>
            <a:pPr algn="l">
              <a:spcAft>
                <a:spcPts val="800"/>
              </a:spcAft>
            </a:pPr>
            <a:r>
              <a:rPr sz="2300" b="1">
                <a:solidFill>
                  <a:srgbClr val="0E1022"/>
                </a:solidFill>
                <a:latin typeface="Arial"/>
              </a:rPr>
              <a:t>Time-based evidence</a:t>
            </a:r>
          </a:p>
        </p:txBody>
      </p:sp>
      <p:sp>
        <p:nvSpPr>
          <p:cNvPr id="12" name="TextBox 11"/>
          <p:cNvSpPr txBox="1"/>
          <p:nvPr/>
        </p:nvSpPr>
        <p:spPr>
          <a:xfrm>
            <a:off x="9939528" y="3767328"/>
            <a:ext cx="3895344" cy="2203704"/>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Seed artifact by 10-11 October if possible.</a:t>
            </a:r>
          </a:p>
          <a:p>
            <a:pPr algn="l">
              <a:spcAft>
                <a:spcPts val="800"/>
              </a:spcAft>
            </a:pPr>
            <a:r>
              <a:rPr sz="2000" b="0">
                <a:solidFill>
                  <a:srgbClr val="555B65"/>
                </a:solidFill>
                <a:latin typeface="Arial"/>
              </a:rPr>
              <a:t>Record actual expires_at and seed ID.</a:t>
            </a:r>
          </a:p>
          <a:p>
            <a:pPr algn="l">
              <a:spcAft>
                <a:spcPts val="800"/>
              </a:spcAft>
            </a:pPr>
            <a:r>
              <a:rPr sz="2000" b="0">
                <a:solidFill>
                  <a:srgbClr val="555B65"/>
                </a:solidFill>
                <a:latin typeface="Arial"/>
              </a:rPr>
              <a:t>Inspect after natural cleanup.</a:t>
            </a:r>
          </a:p>
        </p:txBody>
      </p:sp>
      <p:sp>
        <p:nvSpPr>
          <p:cNvPr id="13" name="Rounded Rectangle 12"/>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118872">
            <a:normAutofit/>
          </a:bodyPr>
          <a:lstStyle/>
          <a:p>
            <a:pPr algn="l">
              <a:spcAft>
                <a:spcPts val="800"/>
              </a:spcAft>
            </a:pPr>
            <a:r>
              <a:rPr sz="1700" b="0">
                <a:solidFill>
                  <a:srgbClr val="0E1022"/>
                </a:solidFill>
                <a:latin typeface="Arial"/>
              </a:rPr>
              <a:t>No repository was published or live-tested during local preparation.</a:t>
            </a:r>
          </a:p>
        </p:txBody>
      </p:sp>
      <p:sp>
        <p:nvSpPr>
          <p:cNvPr id="14" name="TextBox 13"/>
          <p:cNvSpPr txBox="1"/>
          <p:nvPr/>
        </p:nvSpPr>
        <p:spPr>
          <a:xfrm>
            <a:off x="10972800" y="7406640"/>
            <a:ext cx="3063240" cy="228600"/>
          </a:xfrm>
          <a:prstGeom prst="rect">
            <a:avLst/>
          </a:prstGeom>
          <a:noFill/>
        </p:spPr>
        <p:txBody>
          <a:bodyPr wrap="square" lIns="18288" rIns="18288" tIns="18288" bIns="18288" anchor="t">
            <a:normAutofit/>
          </a:bodyPr>
          <a:lstStyle/>
          <a:p>
            <a:pPr algn="r">
              <a:spcAft>
                <a:spcPts val="800"/>
              </a:spcAft>
            </a:pPr>
            <a:r>
              <a:rPr sz="1100" b="0">
                <a:solidFill>
                  <a:srgbClr val="555B65"/>
                </a:solidFill>
                <a:latin typeface="Arial"/>
              </a:rPr>
              <a:t>Appendix</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886968"/>
            <a:ext cx="13441680" cy="237744"/>
          </a:xfrm>
          <a:prstGeom prst="rect">
            <a:avLst/>
          </a:prstGeom>
          <a:noFill/>
        </p:spPr>
        <p:txBody>
          <a:bodyPr wrap="square" lIns="18288" rIns="18288" tIns="18288" bIns="18288" anchor="t">
            <a:normAutofit/>
          </a:bodyPr>
          <a:lstStyle/>
          <a:p>
            <a:pPr algn="l">
              <a:spcAft>
                <a:spcPts val="800"/>
              </a:spcAft>
            </a:pPr>
            <a:r>
              <a:rPr sz="1100" b="0">
                <a:solidFill>
                  <a:srgbClr val="555B65"/>
                </a:solidFill>
                <a:latin typeface="Arial"/>
              </a:rPr>
              <a:t>Appendix | Preserve production policies, caches, and fleets</a:t>
            </a:r>
          </a:p>
        </p:txBody>
      </p:sp>
      <p:sp>
        <p:nvSpPr>
          <p:cNvPr id="3" name="TextBox 2"/>
          <p:cNvSpPr txBox="1"/>
          <p:nvPr/>
        </p:nvSpPr>
        <p:spPr>
          <a:xfrm>
            <a:off x="484632" y="1261872"/>
            <a:ext cx="13670280" cy="987552"/>
          </a:xfrm>
          <a:prstGeom prst="rect">
            <a:avLst/>
          </a:prstGeom>
          <a:noFill/>
        </p:spPr>
        <p:txBody>
          <a:bodyPr wrap="square" lIns="18288" rIns="18288" tIns="18288" bIns="18288" anchor="t">
            <a:normAutofit/>
          </a:bodyPr>
          <a:lstStyle/>
          <a:p>
            <a:pPr algn="l">
              <a:spcAft>
                <a:spcPts val="800"/>
              </a:spcAft>
            </a:pPr>
            <a:r>
              <a:rPr sz="3200" b="1">
                <a:solidFill>
                  <a:srgbClr val="0E1022"/>
                </a:solidFill>
                <a:latin typeface="Arial"/>
              </a:rPr>
              <a:t>Cleanup | Remove only what this demonstration created</a:t>
            </a:r>
          </a:p>
        </p:txBody>
      </p:sp>
      <p:sp>
        <p:nvSpPr>
          <p:cNvPr id="4" name="Rounded Rectangle 3"/>
          <p:cNvSpPr/>
          <p:nvPr/>
        </p:nvSpPr>
        <p:spPr>
          <a:xfrm>
            <a:off x="594360" y="2834640"/>
            <a:ext cx="6583679" cy="333756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3017520"/>
            <a:ext cx="6181343" cy="530352"/>
          </a:xfrm>
          <a:prstGeom prst="rect">
            <a:avLst/>
          </a:prstGeom>
          <a:noFill/>
        </p:spPr>
        <p:txBody>
          <a:bodyPr wrap="square" lIns="18288" rIns="18288" tIns="18288" bIns="18288" anchor="t">
            <a:normAutofit/>
          </a:bodyPr>
          <a:lstStyle/>
          <a:p>
            <a:pPr algn="l">
              <a:spcAft>
                <a:spcPts val="800"/>
              </a:spcAft>
            </a:pPr>
            <a:r>
              <a:rPr sz="2300" b="1">
                <a:solidFill>
                  <a:srgbClr val="0E1022"/>
                </a:solidFill>
                <a:latin typeface="Arial"/>
              </a:rPr>
              <a:t>Explicit cleanup</a:t>
            </a:r>
          </a:p>
        </p:txBody>
      </p:sp>
      <p:sp>
        <p:nvSpPr>
          <p:cNvPr id="6" name="TextBox 5"/>
          <p:cNvSpPr txBox="1"/>
          <p:nvPr/>
        </p:nvSpPr>
        <p:spPr>
          <a:xfrm>
            <a:off x="795528" y="3767328"/>
            <a:ext cx="6181343" cy="2203704"/>
          </a:xfrm>
          <a:prstGeom prst="rect">
            <a:avLst/>
          </a:prstGeom>
          <a:noFill/>
        </p:spPr>
        <p:txBody>
          <a:bodyPr wrap="square" lIns="18288" rIns="18288" tIns="18288" bIns="18288" anchor="t">
            <a:normAutofit/>
          </a:bodyPr>
          <a:lstStyle/>
          <a:p>
            <a:pPr algn="l">
              <a:spcAft>
                <a:spcPts val="800"/>
              </a:spcAft>
            </a:pPr>
            <a:r>
              <a:rPr sz="2000" b="0">
                <a:solidFill>
                  <a:srgbClr val="555B65"/>
                </a:solidFill>
                <a:latin typeface="Arial"/>
              </a:rPr>
              <a:t>Policy control: cleanup with recorded demo ID.</a:t>
            </a:r>
          </a:p>
          <a:p>
            <a:pPr algn="l">
              <a:spcAft>
                <a:spcPts val="800"/>
              </a:spcAft>
            </a:pPr>
            <a:r>
              <a:rPr sz="2000" b="0">
                <a:solidFill>
                  <a:srgbClr val="555B65"/>
                </a:solidFill>
                <a:latin typeface="Arial"/>
              </a:rPr>
              <a:t>Revoke temporary administrator credentials.</a:t>
            </a:r>
          </a:p>
          <a:p>
            <a:pPr algn="l">
              <a:spcAft>
                <a:spcPts val="800"/>
              </a:spcAft>
            </a:pPr>
            <a:r>
              <a:rPr sz="2000" b="0">
                <a:solidFill>
                  <a:srgbClr val="555B65"/>
                </a:solidFill>
                <a:latin typeface="Arial"/>
              </a:rPr>
              <a:t>Optionally remove only run-specific demo caches.</a:t>
            </a:r>
          </a:p>
        </p:txBody>
      </p:sp>
      <p:sp>
        <p:nvSpPr>
          <p:cNvPr id="7" name="Rounded Rectangle 6"/>
          <p:cNvSpPr/>
          <p:nvPr/>
        </p:nvSpPr>
        <p:spPr>
          <a:xfrm>
            <a:off x="7452359" y="2834640"/>
            <a:ext cx="6583679" cy="3337560"/>
          </a:xfrm>
          <a:prstGeom prst="roundRect">
            <a:avLst/>
          </a:prstGeom>
          <a:solidFill>
            <a:srgbClr val="0E1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53527" y="3017520"/>
            <a:ext cx="6181343" cy="530352"/>
          </a:xfrm>
          <a:prstGeom prst="rect">
            <a:avLst/>
          </a:prstGeom>
          <a:noFill/>
        </p:spPr>
        <p:txBody>
          <a:bodyPr wrap="square" lIns="18288" rIns="18288" tIns="18288" bIns="18288" anchor="t">
            <a:normAutofit/>
          </a:bodyPr>
          <a:lstStyle/>
          <a:p>
            <a:pPr algn="l">
              <a:spcAft>
                <a:spcPts val="800"/>
              </a:spcAft>
            </a:pPr>
            <a:r>
              <a:rPr sz="2300" b="1">
                <a:solidFill>
                  <a:srgbClr val="FFFFFF"/>
                </a:solidFill>
                <a:latin typeface="Arial"/>
              </a:rPr>
              <a:t>Natural lifecycle</a:t>
            </a:r>
          </a:p>
        </p:txBody>
      </p:sp>
      <p:sp>
        <p:nvSpPr>
          <p:cNvPr id="9" name="TextBox 8"/>
          <p:cNvSpPr txBox="1"/>
          <p:nvPr/>
        </p:nvSpPr>
        <p:spPr>
          <a:xfrm>
            <a:off x="7653527" y="3767328"/>
            <a:ext cx="6181343" cy="2203704"/>
          </a:xfrm>
          <a:prstGeom prst="rect">
            <a:avLst/>
          </a:prstGeom>
          <a:noFill/>
        </p:spPr>
        <p:txBody>
          <a:bodyPr wrap="square" lIns="18288" rIns="18288" tIns="18288" bIns="18288" anchor="t">
            <a:normAutofit/>
          </a:bodyPr>
          <a:lstStyle/>
          <a:p>
            <a:pPr algn="l">
              <a:spcAft>
                <a:spcPts val="800"/>
              </a:spcAft>
            </a:pPr>
            <a:r>
              <a:rPr sz="2000" b="0">
                <a:solidFill>
                  <a:srgbClr val="FFFFFF"/>
                </a:solidFill>
                <a:latin typeface="Arial"/>
              </a:rPr>
              <a:t>Do not delete the expiry target before observation.</a:t>
            </a:r>
          </a:p>
          <a:p>
            <a:pPr algn="l">
              <a:spcAft>
                <a:spcPts val="800"/>
              </a:spcAft>
            </a:pPr>
            <a:r>
              <a:rPr sz="2000" b="0">
                <a:solidFill>
                  <a:srgbClr val="FFFFFF"/>
                </a:solidFill>
                <a:latin typeface="Arial"/>
              </a:rPr>
              <a:t>Receipt artifacts last 14 days, reports 7 days.</a:t>
            </a:r>
          </a:p>
          <a:p>
            <a:pPr algn="l">
              <a:spcAft>
                <a:spcPts val="800"/>
              </a:spcAft>
            </a:pPr>
            <a:r>
              <a:rPr sz="2000" b="0">
                <a:solidFill>
                  <a:srgbClr val="FFFFFF"/>
                </a:solidFill>
                <a:latin typeface="Arial"/>
              </a:rPr>
              <a:t>Runner audit never modifies a fleet.</a:t>
            </a:r>
          </a:p>
        </p:txBody>
      </p:sp>
      <p:sp>
        <p:nvSpPr>
          <p:cNvPr id="10" name="Rounded Rectangle 9"/>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t" wrap="square" lIns="146304" rIns="146304" tIns="118872" bIns="118872">
            <a:normAutofit/>
          </a:bodyPr>
          <a:lstStyle/>
          <a:p>
            <a:pPr algn="l">
              <a:spcAft>
                <a:spcPts val="800"/>
              </a:spcAft>
            </a:pPr>
            <a:r>
              <a:rPr sz="1700" b="0">
                <a:solidFill>
                  <a:srgbClr val="0E1022"/>
                </a:solidFill>
                <a:latin typeface="Arial"/>
              </a:rPr>
              <a:t>Keep DXC Internal materials and runner reports in an appropriately restricted repository.</a:t>
            </a:r>
          </a:p>
        </p:txBody>
      </p:sp>
      <p:sp>
        <p:nvSpPr>
          <p:cNvPr id="11" name="TextBox 10"/>
          <p:cNvSpPr txBox="1"/>
          <p:nvPr/>
        </p:nvSpPr>
        <p:spPr>
          <a:xfrm>
            <a:off x="10972800" y="7406640"/>
            <a:ext cx="3063240" cy="228600"/>
          </a:xfrm>
          <a:prstGeom prst="rect">
            <a:avLst/>
          </a:prstGeom>
          <a:noFill/>
        </p:spPr>
        <p:txBody>
          <a:bodyPr wrap="square" lIns="18288" rIns="18288" tIns="18288" bIns="18288" anchor="t">
            <a:normAutofit/>
          </a:bodyPr>
          <a:lstStyle/>
          <a:p>
            <a:pPr algn="r">
              <a:spcAft>
                <a:spcPts val="800"/>
              </a:spcAft>
            </a:pPr>
            <a:r>
              <a:rPr sz="1100" b="0">
                <a:solidFill>
                  <a:srgbClr val="555B65"/>
                </a:solidFill>
                <a:latin typeface="Arial"/>
              </a:rPr>
              <a:t>Appendix</a:t>
            </a:r>
          </a:p>
        </p:txBody>
      </p:sp>
    </p:spTree>
  </p:cSld>
  <p:clrMapOvr>
    <a:masterClrMapping/>
  </p:clrMapOvr>
</p:sld>
</file>

<file path=ppt/theme/theme1.xml><?xml version="1.0" encoding="utf-8"?>
<a:theme xmlns:a="http://schemas.openxmlformats.org/drawingml/2006/main" name="DXC">
  <a:themeElements>
    <a:clrScheme name="DXC New Brand">
      <a:dk1>
        <a:srgbClr val="0E1020"/>
      </a:dk1>
      <a:lt1>
        <a:sysClr val="window" lastClr="FFFFFF"/>
      </a:lt1>
      <a:dk2>
        <a:srgbClr val="FFC982"/>
      </a:dk2>
      <a:lt2>
        <a:srgbClr val="F6F3F0"/>
      </a:lt2>
      <a:accent1>
        <a:srgbClr val="FFAE41"/>
      </a:accent1>
      <a:accent2>
        <a:srgbClr val="FF7E51"/>
      </a:accent2>
      <a:accent3>
        <a:srgbClr val="D14600"/>
      </a:accent3>
      <a:accent4>
        <a:srgbClr val="004AAC"/>
      </a:accent4>
      <a:accent5>
        <a:srgbClr val="4995FF"/>
      </a:accent5>
      <a:accent6>
        <a:srgbClr val="A1E6FF"/>
      </a:accent6>
      <a:hlink>
        <a:srgbClr val="0E1020"/>
      </a:hlink>
      <a:folHlink>
        <a:srgbClr val="0E1020"/>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latin typeface="Inter Light" panose="02000403000000020004" pitchFamily="50" charset="0"/>
            <a:ea typeface="Inter Light" panose="02000403000000020004" pitchFamily="50" charset="0"/>
            <a:cs typeface="Inter Light" panose="02000403000000020004" pitchFamily="50" charset="0"/>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spAutoFit/>
      </a:bodyPr>
      <a:lstStyle>
        <a:defPPr algn="l">
          <a:spcAft>
            <a:spcPts val="600"/>
          </a:spcAft>
          <a:defRPr sz="1600" dirty="0" smtClean="0">
            <a:latin typeface="Inter Light" panose="02000403000000020004" pitchFamily="50" charset="0"/>
            <a:ea typeface="Inter Light" panose="02000403000000020004" pitchFamily="50" charset="0"/>
            <a:cs typeface="Inter Light" panose="02000403000000020004" pitchFamily="50" charset="0"/>
          </a:defRPr>
        </a:defPPr>
      </a:lstStyle>
    </a:txDef>
  </a:objectDefaults>
  <a:extraClrSchemeLst/>
  <a:extLst>
    <a:ext uri="{05A4C25C-085E-4340-85A3-A5531E510DB2}">
      <thm15:themeFamily xmlns:thm15="http://schemas.microsoft.com/office/thememl/2012/main" name="DXC Powerpoint Template - EDGE Version Dec 2025.potx" id="{61945F86-E151-46FE-A875-B07C892BF8D7}" vid="{778ADB60-8027-4677-A601-F4F1930BE3C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B67C9B768FF7B40B5BEA13AB0116710" ma:contentTypeVersion="23" ma:contentTypeDescription="Create a new document." ma:contentTypeScope="" ma:versionID="ff729ae16a928d9885d0dfd4194ac92e">
  <xsd:schema xmlns:xsd="http://www.w3.org/2001/XMLSchema" xmlns:xs="http://www.w3.org/2001/XMLSchema" xmlns:p="http://schemas.microsoft.com/office/2006/metadata/properties" xmlns:ns2="45f08240-a8f6-4c12-92e3-a27e2ce9cc0c" xmlns:ns3="8e8908b5-9629-4e23-a531-2fa681483e2f" xmlns:ns4="168e0357-5b39-4600-91c2-bfff6e896513" targetNamespace="http://schemas.microsoft.com/office/2006/metadata/properties" ma:root="true" ma:fieldsID="c5bd53491f3520f9bc852f253cf636b6" ns2:_="" ns3:_="" ns4:_="">
    <xsd:import namespace="45f08240-a8f6-4c12-92e3-a27e2ce9cc0c"/>
    <xsd:import namespace="8e8908b5-9629-4e23-a531-2fa681483e2f"/>
    <xsd:import namespace="168e0357-5b39-4600-91c2-bfff6e89651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AutoKeyPoints" minOccurs="0"/>
                <xsd:element ref="ns2:MediaServiceKeyPoints" minOccurs="0"/>
                <xsd:element ref="ns2:MediaServiceLocation" minOccurs="0"/>
                <xsd:element ref="ns2:MediaLengthInSeconds" minOccurs="0"/>
                <xsd:element ref="ns2:Topic" minOccurs="0"/>
                <xsd:element ref="ns2:lcf76f155ced4ddcb4097134ff3c332f" minOccurs="0"/>
                <xsd:element ref="ns4:TaxCatchAll" minOccurs="0"/>
                <xsd:element ref="ns2:MediaServiceObjectDetectorVersions" minOccurs="0"/>
                <xsd:element ref="ns2:MediaServiceSearchProperties" minOccurs="0"/>
                <xsd:element ref="ns2:RefMaterialUR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f08240-a8f6-4c12-92e3-a27e2ce9cc0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Topic" ma:index="21" nillable="true" ma:displayName="Topic" ma:list="{4857a410-6a3d-44e2-a8d9-0b7d4c7f006a}" ma:internalName="Topic" ma:showField="Title">
      <xsd:simpleType>
        <xsd:restriction base="dms:Lookup"/>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18f211cb-e08d-4e65-a875-32590ca7bbf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fMaterialURL" ma:index="27" nillable="true" ma:displayName="RefMaterialURL" ma:description="Session Presentation Deck" ma:format="Hyperlink" ma:internalName="RefMaterialURL">
      <xsd:complexType>
        <xsd:complexContent>
          <xsd:extension base="dms:URL">
            <xsd:sequence>
              <xsd:element name="Url" type="dms:ValidUrl" minOccurs="0" nillable="true"/>
              <xsd:element name="Description" type="xsd:string"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e8908b5-9629-4e23-a531-2fa681483e2f"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68e0357-5b39-4600-91c2-bfff6e896513" elementFormDefault="qualified">
    <xsd:import namespace="http://schemas.microsoft.com/office/2006/documentManagement/types"/>
    <xsd:import namespace="http://schemas.microsoft.com/office/infopath/2007/PartnerControls"/>
    <xsd:element name="TaxCatchAll" ma:index="24" nillable="true" ma:displayName="Taxonomy Catch All Column" ma:hidden="true" ma:list="{76749bb3-364f-4c46-ac5a-3dd088b8aad4}" ma:internalName="TaxCatchAll" ma:showField="CatchAllData" ma:web="8e8908b5-9629-4e23-a531-2fa681483e2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168e0357-5b39-4600-91c2-bfff6e896513" xsi:nil="true"/>
    <lcf76f155ced4ddcb4097134ff3c332f xmlns="45f08240-a8f6-4c12-92e3-a27e2ce9cc0c">
      <Terms xmlns="http://schemas.microsoft.com/office/infopath/2007/PartnerControls"/>
    </lcf76f155ced4ddcb4097134ff3c332f>
    <Topic xmlns="45f08240-a8f6-4c12-92e3-a27e2ce9cc0c" xsi:nil="true"/>
    <RefMaterialURL xmlns="45f08240-a8f6-4c12-92e3-a27e2ce9cc0c">
      <Url xsi:nil="true"/>
      <Description xsi:nil="true"/>
    </RefMaterialURL>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1873E1C-0950-409D-8C50-97DF03B1AF46}">
  <ds:schemaRefs>
    <ds:schemaRef ds:uri="168e0357-5b39-4600-91c2-bfff6e896513"/>
    <ds:schemaRef ds:uri="45f08240-a8f6-4c12-92e3-a27e2ce9cc0c"/>
    <ds:schemaRef ds:uri="8e8908b5-9629-4e23-a531-2fa681483e2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2EC627E-4F52-48DC-9182-37FBD4CDB51A}">
  <ds:schemaRefs>
    <ds:schemaRef ds:uri="http://schemas.microsoft.com/office/2006/metadata/properties"/>
    <ds:schemaRef ds:uri="http://schemas.openxmlformats.org/package/2006/metadata/core-properties"/>
    <ds:schemaRef ds:uri="http://purl.org/dc/elements/1.1/"/>
    <ds:schemaRef ds:uri="168e0357-5b39-4600-91c2-bfff6e896513"/>
    <ds:schemaRef ds:uri="http://purl.org/dc/dcmitype/"/>
    <ds:schemaRef ds:uri="http://www.w3.org/XML/1998/namespace"/>
    <ds:schemaRef ds:uri="8e8908b5-9629-4e23-a531-2fa681483e2f"/>
    <ds:schemaRef ds:uri="http://schemas.microsoft.com/office/2006/documentManagement/types"/>
    <ds:schemaRef ds:uri="http://purl.org/dc/terms/"/>
    <ds:schemaRef ds:uri="http://schemas.microsoft.com/office/infopath/2007/PartnerControls"/>
    <ds:schemaRef ds:uri="45f08240-a8f6-4c12-92e3-a27e2ce9cc0c"/>
  </ds:schemaRefs>
</ds:datastoreItem>
</file>

<file path=customXml/itemProps3.xml><?xml version="1.0" encoding="utf-8"?>
<ds:datastoreItem xmlns:ds="http://schemas.openxmlformats.org/officeDocument/2006/customXml" ds:itemID="{BDF13F52-7890-44FA-B079-813F1CB6490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DXC New Brand PPT Template Dec 2025 - EDGE Version</Template>
  <TotalTime>0</TotalTime>
  <Words>248</Words>
  <Application>Microsoft Office PowerPoint</Application>
  <PresentationFormat>Custom</PresentationFormat>
  <Paragraphs>47</Paragraphs>
  <Slides>8</Slides>
  <Notes>2</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DXC</vt:lpstr>
      <vt:lpstr>PowerPoint Presentation</vt:lpstr>
      <vt:lpstr>Agenda</vt:lpstr>
      <vt:lpstr>Section header title is Arial Bold 54pt, up to two lines</vt:lpstr>
      <vt:lpstr>PowerPoint Presentation</vt:lpstr>
      <vt:lpstr>This is a “Bulleted Content” slide</vt:lpstr>
      <vt:lpstr>Additional information sources on EDGE and its content </vt:lpstr>
      <vt:lpstr>Q &amp; A</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DXC GitHub Actions Office Hour</dc:title>
  <dc:subject>Five GitHub Actions updates | 50-minute session plus 10-minute Q&amp;A</dc:subject>
  <dc:creator>DXC GitHub Actions Office Hour</dc:creator>
  <cp:keywords/>
  <dc:description/>
  <cp:lastModifiedBy>Rojas, Elaine</cp:lastModifiedBy>
  <cp:revision>2</cp:revision>
  <dcterms:created xsi:type="dcterms:W3CDTF">2024-10-15T11:25:31Z</dcterms:created>
  <dcterms:modified xsi:type="dcterms:W3CDTF">2026-10-09T18:28:41Z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5394ae5-69af-439d-af88-cb521c31c0c5_Enabled">
    <vt:lpwstr>true</vt:lpwstr>
  </property>
  <property fmtid="{D5CDD505-2E9C-101B-9397-08002B2CF9AE}" pid="3" name="MSIP_Label_15394ae5-69af-439d-af88-cb521c31c0c5_SetDate">
    <vt:lpwstr>2024-03-07T16:54:23Z</vt:lpwstr>
  </property>
  <property fmtid="{D5CDD505-2E9C-101B-9397-08002B2CF9AE}" pid="4" name="MSIP_Label_15394ae5-69af-439d-af88-cb521c31c0c5_Method">
    <vt:lpwstr>Privileged</vt:lpwstr>
  </property>
  <property fmtid="{D5CDD505-2E9C-101B-9397-08002B2CF9AE}" pid="5" name="MSIP_Label_15394ae5-69af-439d-af88-cb521c31c0c5_Name">
    <vt:lpwstr>DXC Internal</vt:lpwstr>
  </property>
  <property fmtid="{D5CDD505-2E9C-101B-9397-08002B2CF9AE}" pid="6" name="MSIP_Label_15394ae5-69af-439d-af88-cb521c31c0c5_SiteId">
    <vt:lpwstr>93f33571-550f-43cf-b09f-cd331338d086</vt:lpwstr>
  </property>
  <property fmtid="{D5CDD505-2E9C-101B-9397-08002B2CF9AE}" pid="7" name="MSIP_Label_15394ae5-69af-439d-af88-cb521c31c0c5_ActionId">
    <vt:lpwstr>3fce2177-fe14-4b00-8482-061a0c70a587</vt:lpwstr>
  </property>
  <property fmtid="{D5CDD505-2E9C-101B-9397-08002B2CF9AE}" pid="8" name="MSIP_Label_15394ae5-69af-439d-af88-cb521c31c0c5_ContentBits">
    <vt:lpwstr>0</vt:lpwstr>
  </property>
  <property fmtid="{D5CDD505-2E9C-101B-9397-08002B2CF9AE}" pid="9" name="ContentTypeId">
    <vt:lpwstr>0x010100CB67C9B768FF7B40B5BEA13AB0116710</vt:lpwstr>
  </property>
  <property fmtid="{D5CDD505-2E9C-101B-9397-08002B2CF9AE}" pid="10" name="MediaServiceImageTags">
    <vt:lpwstr/>
  </property>
</Properties>
</file>