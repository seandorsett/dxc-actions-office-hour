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48" r:id="rId4"/>
  </p:sldMasterIdLst>
  <p:notesMasterIdLst>
    <p:notesMasterId r:id="rId30"/>
  </p:notesMasterIdLst>
  <p:handoutMasterIdLst>
    <p:handoutMasterId r:id="rId3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147470070" r:id="rId27"/>
    <p:sldId id="278" r:id="rId28"/>
    <p:sldId id="279" r:id="rId29"/>
  </p:sldIdLst>
  <p:sldSz cx="14630400" cy="8229600"/>
  <p:notesSz cx="7772400" cy="14173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896"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63666A"/>
    <a:srgbClr val="F9F048"/>
    <a:srgbClr val="FFCD00"/>
    <a:srgbClr val="D9DF23"/>
    <a:srgbClr val="666666"/>
    <a:srgbClr val="330072"/>
    <a:srgbClr val="60249E"/>
    <a:srgbClr val="1870B9"/>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C91A58-9503-43A0-B2AA-26A62EB3BDAD}" v="2" dt="2026-06-01T13:44:04.556"/>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0" d="100"/>
          <a:sy n="130" d="100"/>
        </p:scale>
        <p:origin x="2849" y="72"/>
      </p:cViewPr>
      <p:guideLst>
        <p:guide orient="horz" pos="408"/>
        <p:guide orient="horz" pos="2592"/>
        <p:guide orient="horz" pos="4512"/>
        <p:guide orient="horz" pos="4896"/>
        <p:guide pos="7488"/>
        <p:guide pos="432"/>
        <p:guide pos="3024"/>
        <p:guide pos="3312"/>
        <p:guide pos="4464"/>
        <p:guide pos="4608"/>
        <p:guide pos="4752"/>
        <p:guide pos="5904"/>
        <p:guide pos="6192"/>
        <p:guide pos="8784"/>
      </p:guideLst>
    </p:cSldViewPr>
  </p:slideViewPr>
  <p:notesTextViewPr>
    <p:cViewPr>
      <p:scale>
        <a:sx n="1" d="1"/>
        <a:sy n="1" d="1"/>
      </p:scale>
      <p:origin x="0" y="0"/>
    </p:cViewPr>
  </p:notesTextViewPr>
  <p:notesViewPr>
    <p:cSldViewPr snapToGrid="0">
      <p:cViewPr>
        <p:scale>
          <a:sx n="1" d="2"/>
          <a:sy n="1" d="2"/>
        </p:scale>
        <p:origin x="0" y="0"/>
      </p:cViewPr>
      <p:guideLst>
        <p:guide orient="horz" pos="4464"/>
        <p:guide pos="244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10/12/2026</a:t>
            </a:fld>
            <a:endParaRPr lang="en-US"/>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our October GitHub Actions Office Hour. Today we will walk through five selected updates using a simple before-and-after comparison for each one. The topics are cache permissions, workflow execution protections, expired artifact visibility, bounded reporting, and runner readiness. The repository contains this presentation at its root, a README, and ten self-contained workflow files. Each pair is numbered so we can open Before, run it, and then open After to see the change. The Before examples show older configuration patterns or assumptions on today's GitHub service; they do not bring retired service behavior back. All speaking notes and setup instructions are embedded in this deck. We will use fifty minutes for the presentation and demos and preserve the final ten minutes for questions. No demo changes a production runner fleet.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Following the title and agenda, we start the cache comparison at minute three. Each selected feature has two small workflows: Before and After. We will read the short YAML, run it from the Actions tab, and use the job summary or policy result as our visual evidence. Execution protections follow cache permissions. Artifact expiry uses a Before run prepared at least a day earlier, because real expiration cannot happen within this session. Reporting and runner readiness finish the technical content. At minute forty-five we stop starting new demonstrations and use the remaining five minutes for adoption actions and buffer. Q&amp;A starts at minute fifty. If runners are queued or administrator access is unavailable, I will say so and show an identified rehearsal run instead of pretending the live demo succeeded.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September tenth release introduces cache-mode as a generally available control on github.com across GitHub plans. It can be declared for the whole workflow or for an individual job. Its value determines whether a job may restore, save, both, or neither. This is not merely a convention in our YAML: the cache service enforces the scoped access. A job-level value overrides the workflow-level setting. For DXC, the design question is which jobs produce trusted cache content and which jobs should only consume it. A test job may need restore access without needing permission to publish a cache. A trusted build job may need both. The important warning is that an explicit write or write-only declaration on a low-trust trigger can override a secure read-only default. We must choose the trust boundary deliberately rather than treating an explicit setting as automatically safer. Our demo avoids untrusted pull request checkout entirely.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permits restores but not saves. Write permits both. Write-only permits saves without restores, and none permits neither. This table explains all four modes, but our live comparison deliberately demonstrates only the straightforward change from implicit trusted-trigger access to explicit read-only access. The Before workflow saves a harmless text file using its manual trigger's default cache access. The After workflow restores that known text, attempts a new save under cache-mode read, and checks that the candidate key is absent from the cache inventory. Forbidden cache operations can log and continue, so a green save step does not prove a save occurred. We will inspect both the restored content and the actual inventory result. There are no reusable helpers, matrices, package installations, or customer data in this simplified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central change, kept small enough to explain without a platform framework. Both examples are manually dispatched on a hosted Ubuntu runner. The Before file does not declare cache-mode, so GitHub applies the trusted event's default access. It saves a text file containing the words trusted sample. The After file explicitly declares cache-mode read. It uses the successful Before run ID to restore the same known cache, then tries to save a different candidate key. The new setting denies that save. This is a comparison of workflow configuration on the current service, not a recreation of an older GitHub runtime. Cache permissions also constrain reusable workflows, but we are not adding a reusable-workflow demo here. The complete small YAML files are in the repository.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clickable Before file link on this slide to inspect demo-1-before.yml, then open Actions in seandorsett/dxc-actions-office-hour. Select Demo 1 BEFORE, click Run workflow, and use main. Say: The old approach lets this trusted event use its default cache capability. Open the completed summary and copy the entire numeric Before run ID, not the run number or a shortened value. Next inspect demo-1-after.yml through the After link and run it on main with that full value in before_run_id. After now verifies that this is a completed, successful Demo 1 Before run in the same repository; a wrong ID produces an actionable error. A missing seed cache fails at restore rather than a later missing-file check. Say: We have made cache access explicit and limited it to read. Open the restored-content step, attempted-save step, and summary. The text restores, while the new candidate key remains absent. The cache-write-denied warning in the save step is expected: it demonstrates the read-only boundary, not a failed comparison. If a candidate key unexpectedly exists, inspect actual logs and do not call the result successful. Use a completed rehearsal if queues are slow. Transition: Now we will control whether an entire workflow may run.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September seventeenth general availability announcement adds three important capabilities: targeting specific workflow files, policy insights, and REST administration at repository, organization, and enterprise levels. Actor rules answer who may trigger execution. Event rules answer which events are permitted. File targeting answers which workflows the policy applies to. Together these let a platform team distinguish ordinary contribution access from the ability to execute a sensitive workflow. Evaluate mode is useful for observing would-block impact before enforcement, but it requires Enterprise Cloud. Policies layer across account levels, so a repository demo does not override a broader enterprise restriction. Also, the announced default protection for pull_request_target on affected public repositories has a November second enforcement date. We should not claim that every repository is already actively blocked on October thirteenth.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feature is a central GitHub Actions execution policy. It is not implemented by a shell test inside a workflow. To keep the demo simple, a repository administrator creates this policy using Settings, Actions, Policies. Name it dxc-office-hour-demo-2, target only dot-github slash workflows slash demo-2-after dot yml, choose Active enforcement, and allow push but not workflow_dispatch. The After file has only a manual trigger, so that trigger should be blocked before its job starts. The Before file is outside this demo policy and can still run if inherited policies permit it. The JSON on the slide shows the equivalent policy shape, not a separate script we need to execute. Evaluate and policy insights require the appropriate Enterprise Cloud capability. If these settings are unavailable, explain the limitation rather than pretending a workflow's own exit code proves central policy enforcement.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Demo 2 BEFORE and run it manually. Say: This harmless job reached a runner, and it performs no deployment. Then open the repository's Settings, Actions, Policies. Create the policy described on the previous slide if it was not already prepared. Confirm the exact After workflow path and Active enforcement; do not target all workflows. Return to Actions and manually trigger Demo 2 AFTER. Say: The policy should stop this dispatch before a job reaches a runner. Show the actual GitHub policy error, or policy insights if the account supports them. The After YAML contains a deliberately failing diagnostic step only for the case where the policy is absent, in evaluate mode, or not applicable. That script failure is not the feature evidence; an actual pre-job policy block is. If the UI capability or administrator access is unavailable, use clearly identified rehearsal evidence. After showing the result, delete only dxc-office-hour-demo-2 from the Policies settings. Transition: Execution is protected, but evidence still has a lifecycle.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September twenty-fourth release removes expired artifacts from the Actions run summary and REST API. Previously, artifact entries could remain visible with an 'Expired' status badge even after their files had been deleted. We cannot switch today's service back to that older display behavior. Instead, our Before workflow creates a real artifact and records its identity while it exists. Our After workflow observes the same artifact after natural expiry and service cleanup. That is a genuine lifecycle demonstration of the new visibility behavior, not a simulated old interface. The feature changes display and API visibility, not the artifact retention setting or billing rules. Retained logs can still show the original upload while those logs remain available. Our separate fourteen-day receipt lets us compare the original artifact identity and expiry with its later absence.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comparison has one unavoidable preparation step: time. Run Demo 3 BEFORE at least a day before you want to demonstrate After. The Before summary shows the original artifact ID and the actual expires_at returned by GitHub. It also retains a small receipt artifact for fourteen days. Copy the successful Before run ID. After the original expiry has passed and GitHub has cleaned up the target, run Demo 3 AFTER with that ID. The After workflow downloads the receipt, validates it against the selected run, and checks both list visibility and the direct artifact endpoint. It reports an error if the expiry has not passed or the artifact remains visible. Do not delete the target to manufacture the result. Absence alone cannot distinguish deletion from natural expiry; the preserved receipt and our no-deletion procedure provide the provenance.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completed Demo 3 BEFORE run prepared earlier. Say: This artifact genuinely existed, and here is GitHub's original expiration time. Show the small retained receipt and original upload step, then copy the Before run ID. Select Demo 3 AFTER and enter that ID. Open its completed summary to compare the absent target in the run artifact list with the direct GET returning 404. Say: The files and stale entry are gone, but our retained receipt still identifies what existed. This is not a billing change. If After says not ready, the target has not expired or cleanup is incomplete; wait or show an identified earlier rehearsal. A 403 or credential error is not evidence of expiry. If the receipt is missing, verify the run ID and whether its fourteen-day retention has passed. Transition: Next, we will compare a broad first-page report with a date-bounded, paginated query.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these two limits separate. The announcement describes a bounded count label above two thousand five hundred matching runs. Independently, a filtered workflow-run query can return only up to one thousand records. One returned page is not a complete export, and pagination cannot remove that filtered retrieval cap. Our Before example deliberately fetches only two records from one broad page and labels the result incomplete. After adds an explicit UTC day, follows pages, and refuses a query whose count reaches the cap or is not an exact below-cap number. This simplified version asks us to narrow the time window rather than implementing recursive splitting. We will inspect actual API values. A small repository does not demonstrate the two-thousand-five-hundred-plus threshold, and there are no synthetic fixture results being presented as live data.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After example is deliberately short. It asks for a valid UTC date, reads that day's reported count, and refuses a saturated or non-exact result. It then uses the GitHub CLI's pagination support and displays distinct run IDs in the job summary. If the chosen day has too many runs, stop and narrow to a smaller time interval in the API query; do not label a capped export complete. This is a practical comparison of an incomplete first-page approach with a better bounded query, not a production reporting framework. Concurrent changes can still affect the returned results because the API is not an atomic snapshot. If there are no runs for the selected UTC date, choose the day on which the rehearsal workflows actually ran.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Demo 4 BEFORE and run it. Open the summary to show the two returned records next to GitHub's reported total_count. Say: Fetching one page is not the same as retrieving every matching run. Next open Demo 4 AFTER. Enter the UTC date containing the rehearsal runs; the default is the October thirteenth session date, so change it if rehearsing on a different day. The After job uses a date filter, follows pages, and shows distinct run IDs. Say: We have improved the query scope and pagination without building a complicated reporting system. If the query reaches one thousand records or the returned count is bounded, it stops visibly and asks us to narrow the window. With our small demo repository, do not claim to have observed the two-thousand-five-hundred threshold. This example is live query handling on the current API, not a replay of the old service. Transition: Our last pair compares a registration-only assumption with separate live support dates.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September twenty-eighth notice moved the full enforcement start on Enterprise Cloud to September twenty-ninth. It did not change the requirements themselves. Runners below version two-point-three-two-nine-zero cannot register or reregister. The minimum required to execute jobs is higher, so passing the registration threshold must not be presented as passing runtime support. Existing registered runners can stop accepting jobs when they fall below the required runtime version. This notice does not affect Enterprise Server; enforcement for Enterprise Cloud with Data Residency began July thirty-first. The deprecation API we use to inspect dates was announced September third, outside our selected publication window. It is supporting functionality for this new enforcement notice, not a newly released September twenty-eighth endpoint.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Demo 5 BEFORE and use version two-point-three-two-nine-zero. The job makes a simple local numeric comparison with the announced registration minimum. Say: This result is only a registration-floor comparison. It is not a real registration attempt and it tells us nothing conclusive about job-runtime support. Then run Demo 5 AFTER for the same version. Before rehearsal, create a demo-admin environment restricted to the default branch and store an approved RUNNER_READ_TOKEN with repository Administration read access; the identity must have administrator access where the endpoint requires it. Missing access produces an explicit error. After reads GitHub's registration and runtime deprecation dates separately and marks returned deadlines as passed or upcoming. A null date stays unknown, not green. No runner fleet is touched. If administrator access is unavailable, explain that the live lookup is blocked and show an identified rehearsal rather than inventing dates. Move to the adoption checklist at minute forty-five.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five straightforward adoption actions based on the comparisons we just saw. CI maintainers should choose explicit cache access rather than granting write everywhere. Platform governance should pilot a file-scoped policy and confirm an actual pre-job block, not confuse a workflow's own failure with central enforcement. Delivery integration owners should handle expired artifacts being absent and retain provenance when required. Reporting engineers should bound time windows, follow pages, and stop when the filtered retrieval cap prevents a complete answer. Runner operations should inspect registration and runtime support separately. The repository's ten files are intentionally small teaching examples, not a new platform framework. Extend them only after reviewing the account's policies, permissions, and production needs. These are suggested owner roles, not assignments to specific DXC individuals.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takeaway is intentionally simple: make the access boundary explicit, inspect the actual evidence, and separate a convenient assumption from a verified operational result. We now have ten small before-and-after workflows that can be opened and run independently from GitHub, with no repository helper scripts. For policy enforcement we still need the central setting, and for artifact expiry we still need real elapsed time. Those are inherent feature prerequisites, not complexity we can legitimately script away. Keep the demo patterns narrow and credentials scoped. The announced default pull_request_target protection on affected public repositories is enforced on November second; that is not universal active enforcement today. We have reached the fifty-minute handoff. Stop starting demonstrations and reserve the full final ten minutes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Reserve the full final ten minutes for audience questions. Suggested prompts if needed: Which jobs in your pipelines really need cache write access? Which workflows should have different execution policies from ordinary CI? Which delivery integrations expect expired artifact records to remain visible? Do reporting consumers assume a single broad query is complete? How do platform operations currently distinguish runner registration readiness from runtime readiness? When answering, keep github.com and Enterprise Server scope separate, and distinguish plan-dependent evaluate mode from active policy enforcement. Do not guess a higher runtime minimum or a customer's available entitlement; refer to the live API and account capability. If a question needs production-specific investigation, record the scope and required owner rather than making an administrative change during Q&amp;A.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contains the first-party release links for the five selected topics. The research window is September tenth through October ninth, inclusive. Publication date is not the same as universally verified account availability. The Before workflows describe older approaches or establish an original artifact state; they run on today's GitHub service and are not a time machine for retired behavior. The deck's speaker notes contain the run instructions and prerequisites so the simplified repository needs only the presentation and ten workflow files. Recheck account capabilities and the official documentation at rehearsal. If a feature is unavailable or a live run has not completed, state that limitation and distinguish any previously captured evidence from the live attempt.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implementation references explain the configuration and API details used in the small workflow pairs. Cache-mode documentation describes why a forbidden save can remain a green step. Policy documentation explains central event allowlists, exact file targeting, and the account capability needed for evaluate mode and insights. Artifact APIs support comparing the retained receipt with the later absent record. Workflow-run documentation describes the separate filtered retrieval cap. The runner deprecation API was announced September third, before our selected thirty-day window, and is supporting prior functionality for the September twenty-eighth enforcement notice. Its two dates should be inspected independently. Do not infer Enterprise Server support or administrator privilege from a cloud announcement.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private repository is seandorsett/dxc-actions-office-hour. Open the current deck named dxc-actions-office-hour-2026-10-13.pptx at the repository root, not a previously downloaded outputs slash slides copy. The root README summarizes the five updates and run instructions; the ten workflow files live under dot-github slash workflows. The build source and original template are preserved outside the repository and in earlier Git history. Each demo slide now links to its exact Before and After YAML files. To run a pair, open Actions, choose the numbered Before workflow, and then its After workflow. Demos one, three, and four use the normal scoped Actions token where needed. Demo two requires an administrator to configure a file-scoped policy in Settings. Demo five needs the approved read credential in demo-admin; restrict the environment to main and use reviewers where your plan permits them. Copy complete run IDs for demos one and three. Seed Demo 3 Before at least a day early and wait for its actual expiry and cleanup. Rehearse before delivery: do not infer live verification from file validation. Keep the DXC Internal deck private.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Cleanup should be as small as the examples. In Settings, Actions, Policies, delete only the policy named dxc-office-hour-demo-2 and confirm it targeted only demo-2-after dot yml. Do not remove an inherited or production policy. Revoke the temporary RUNNER_READ_TOKEN when no longer needed and remove its environment secret. Demo cache keys start with dxc-oh-simple and include the specific run ID; optionally remove only those entries through the cache UI. The one-day artifact must expire naturally for the comparison to be meaningful, so do not delete it before observing After. Its fourteen-day receipt is also subject to account retention caps and eventually expires. Reporting and runner-date lookups do not change remote records or fleets. None of these demonstrations deploys to production. Keep the deck and any run metadata appropriately restricted because the supplied template retains DXC Internal branding.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73B2DF-BAF2-C420-FD86-86240D16DD99}"/>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2" name="Frame 15529" descr="preencoded.png">
            <a:extLst>
              <a:ext uri="{FF2B5EF4-FFF2-40B4-BE49-F238E27FC236}">
                <a16:creationId xmlns:a16="http://schemas.microsoft.com/office/drawing/2014/main" id="{1EF2DDB8-8571-93E4-C67A-35640A82F91D}"/>
              </a:ext>
            </a:extLst>
          </p:cNvPr>
          <p:cNvPicPr>
            <a:picLocks noChangeAspect="1"/>
          </p:cNvPicPr>
          <p:nvPr/>
        </p:nvPicPr>
        <p:blipFill>
          <a:blip r:embed="rId2"/>
          <a:srcRect/>
          <a:stretch/>
        </p:blipFill>
        <p:spPr>
          <a:xfrm>
            <a:off x="243840" y="243840"/>
            <a:ext cx="14142720" cy="4739640"/>
          </a:xfrm>
          <a:prstGeom prst="rect">
            <a:avLst/>
          </a:prstGeom>
        </p:spPr>
      </p:pic>
      <p:sp>
        <p:nvSpPr>
          <p:cNvPr id="5" name="Rectangle 4">
            <a:extLst>
              <a:ext uri="{FF2B5EF4-FFF2-40B4-BE49-F238E27FC236}">
                <a16:creationId xmlns:a16="http://schemas.microsoft.com/office/drawing/2014/main" id="{E03F9C0B-0317-E2A6-8F23-EFFBE864DCA8}"/>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a:latin typeface="Inter Medium" panose="02000603000000020004" pitchFamily="50" charset="0"/>
            </a:endParaRPr>
          </a:p>
        </p:txBody>
      </p:sp>
      <p:pic>
        <p:nvPicPr>
          <p:cNvPr id="15" name="lookmomnoagency_httpss.mj.runJIcAb0P4040_Ultra-real_cinematic_p_638bfe43-65b2-4354-845b-4351f8df7907" descr="preencoded.png">
            <a:extLst>
              <a:ext uri="{FF2B5EF4-FFF2-40B4-BE49-F238E27FC236}">
                <a16:creationId xmlns:a16="http://schemas.microsoft.com/office/drawing/2014/main" id="{75169228-DC09-412D-D6F7-167D9FF75424}"/>
              </a:ext>
            </a:extLst>
          </p:cNvPr>
          <p:cNvPicPr>
            <a:picLocks noChangeAspect="1"/>
          </p:cNvPicPr>
          <p:nvPr/>
        </p:nvPicPr>
        <p:blipFill>
          <a:blip r:embed="rId3"/>
          <a:srcRect/>
          <a:stretch/>
        </p:blipFill>
        <p:spPr>
          <a:xfrm>
            <a:off x="243840" y="243840"/>
            <a:ext cx="14142720" cy="4815840"/>
          </a:xfrm>
          <a:prstGeom prst="rect">
            <a:avLst/>
          </a:prstGeom>
        </p:spPr>
      </p:pic>
      <p:sp>
        <p:nvSpPr>
          <p:cNvPr id="17" name="Subtitle 2">
            <a:extLst>
              <a:ext uri="{FF2B5EF4-FFF2-40B4-BE49-F238E27FC236}">
                <a16:creationId xmlns:a16="http://schemas.microsoft.com/office/drawing/2014/main" id="{0342C94D-B005-C627-CC70-486D6842AB48}"/>
              </a:ext>
            </a:extLst>
          </p:cNvPr>
          <p:cNvSpPr>
            <a:spLocks noGrp="1"/>
          </p:cNvSpPr>
          <p:nvPr>
            <p:ph type="subTitle" idx="1"/>
          </p:nvPr>
        </p:nvSpPr>
        <p:spPr>
          <a:xfrm>
            <a:off x="5972733" y="5447346"/>
            <a:ext cx="7353431" cy="167641"/>
          </a:xfrm>
          <a:prstGeom prst="rect">
            <a:avLst/>
          </a:prstGeom>
        </p:spPr>
        <p:txBody>
          <a:bodyPr bIns="0" anchor="b" anchorCtr="0">
            <a:noAutofit/>
          </a:bodyPr>
          <a:lstStyle>
            <a:lvl1pPr marL="0" indent="0" algn="l">
              <a:spcBef>
                <a:spcPts val="0"/>
              </a:spcBef>
              <a:buNone/>
              <a:defRPr sz="1050" b="1" cap="all" spc="160" baseline="0">
                <a:solidFill>
                  <a:schemeClr val="tx1"/>
                </a:solidFill>
                <a:latin typeface="Inter" panose="02000503000000020004" pitchFamily="50" charset="0"/>
                <a:ea typeface="Inter" panose="02000503000000020004" pitchFamily="50" charset="0"/>
                <a:cs typeface="Inter" panose="020005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en-US"/>
              <a:t>Click to edit Master subtitle style</a:t>
            </a:r>
          </a:p>
        </p:txBody>
      </p:sp>
      <p:pic>
        <p:nvPicPr>
          <p:cNvPr id="18" name="Union" descr="preencoded.png">
            <a:extLst>
              <a:ext uri="{FF2B5EF4-FFF2-40B4-BE49-F238E27FC236}">
                <a16:creationId xmlns:a16="http://schemas.microsoft.com/office/drawing/2014/main" id="{4B2C8058-2A52-FBD2-A88A-2B552585CED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78641" y="5496587"/>
            <a:ext cx="2682240" cy="434347"/>
          </a:xfrm>
          <a:prstGeom prst="rect">
            <a:avLst/>
          </a:prstGeom>
        </p:spPr>
      </p:pic>
      <p:sp>
        <p:nvSpPr>
          <p:cNvPr id="19" name="Title 1">
            <a:extLst>
              <a:ext uri="{FF2B5EF4-FFF2-40B4-BE49-F238E27FC236}">
                <a16:creationId xmlns:a16="http://schemas.microsoft.com/office/drawing/2014/main" id="{4B5FEA5F-CB2C-3FF5-0223-355E67B85B23}"/>
              </a:ext>
            </a:extLst>
          </p:cNvPr>
          <p:cNvSpPr>
            <a:spLocks noGrp="1"/>
          </p:cNvSpPr>
          <p:nvPr>
            <p:ph type="ctrTitle"/>
          </p:nvPr>
        </p:nvSpPr>
        <p:spPr>
          <a:xfrm>
            <a:off x="5972734" y="5772149"/>
            <a:ext cx="7353431" cy="977901"/>
          </a:xfrm>
          <a:prstGeom prst="rect">
            <a:avLst/>
          </a:prstGeom>
        </p:spPr>
        <p:txBody>
          <a:bodyPr anchor="ctr" anchorCtr="0">
            <a:noAutofit/>
          </a:bodyPr>
          <a:lstStyle>
            <a:lvl1pPr>
              <a:defRPr sz="3600" cap="all" baseline="0">
                <a:solidFill>
                  <a:schemeClr val="tx1"/>
                </a:solidFill>
                <a:latin typeface="GT Standard L Extended" pitchFamily="50" charset="0"/>
              </a:defRPr>
            </a:lvl1pPr>
          </a:lstStyle>
          <a:p>
            <a:r>
              <a:rPr lang="en-US"/>
              <a:t>Click to edit Master title style</a:t>
            </a:r>
          </a:p>
        </p:txBody>
      </p:sp>
      <p:sp>
        <p:nvSpPr>
          <p:cNvPr id="6" name="Content Placeholder 2">
            <a:extLst>
              <a:ext uri="{FF2B5EF4-FFF2-40B4-BE49-F238E27FC236}">
                <a16:creationId xmlns:a16="http://schemas.microsoft.com/office/drawing/2014/main" id="{8F264E8B-C17A-16FA-16AB-17DE70932CB7}"/>
              </a:ext>
            </a:extLst>
          </p:cNvPr>
          <p:cNvSpPr>
            <a:spLocks noGrp="1"/>
          </p:cNvSpPr>
          <p:nvPr>
            <p:ph sz="half" idx="14" hasCustomPrompt="1"/>
          </p:nvPr>
        </p:nvSpPr>
        <p:spPr>
          <a:xfrm>
            <a:off x="5969690" y="6934882"/>
            <a:ext cx="3618548" cy="181534"/>
          </a:xfrm>
          <a:prstGeom prst="rect">
            <a:avLst/>
          </a:prstGeom>
        </p:spPr>
        <p:txBody>
          <a:bodyPr tIns="0" rIns="0" bIns="0">
            <a:noAutofit/>
          </a:bodyPr>
          <a:lstStyle>
            <a:lvl1pPr>
              <a:lnSpc>
                <a:spcPct val="100000"/>
              </a:lnSpc>
              <a:spcBef>
                <a:spcPts val="600"/>
              </a:spcBef>
              <a:defRPr sz="1050" cap="all" spc="160" baseline="0">
                <a:solidFill>
                  <a:schemeClr val="tx1"/>
                </a:solidFill>
                <a:latin typeface="Inter SemiBold" panose="02000703000000020004"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pic>
        <p:nvPicPr>
          <p:cNvPr id="7" name="Union" descr="preencoded.png">
            <a:extLst>
              <a:ext uri="{FF2B5EF4-FFF2-40B4-BE49-F238E27FC236}">
                <a16:creationId xmlns:a16="http://schemas.microsoft.com/office/drawing/2014/main" id="{6EFE4B1B-FBEC-0DBB-F10D-1A7A97DC17FC}"/>
              </a:ext>
            </a:extLst>
          </p:cNvPr>
          <p:cNvPicPr>
            <a:picLocks noChangeAspect="1"/>
          </p:cNvPicPr>
          <p:nvPr/>
        </p:nvPicPr>
        <p:blipFill>
          <a:blip r:embed="rId5"/>
          <a:srcRect/>
          <a:stretch/>
        </p:blipFill>
        <p:spPr>
          <a:xfrm>
            <a:off x="243840" y="746760"/>
            <a:ext cx="14142720" cy="3825240"/>
          </a:xfrm>
          <a:prstGeom prst="rect">
            <a:avLst/>
          </a:prstGeom>
        </p:spPr>
      </p:pic>
      <p:sp>
        <p:nvSpPr>
          <p:cNvPr id="10" name="TextBox 9">
            <a:extLst>
              <a:ext uri="{FF2B5EF4-FFF2-40B4-BE49-F238E27FC236}">
                <a16:creationId xmlns:a16="http://schemas.microsoft.com/office/drawing/2014/main" id="{FD6006E1-F854-BAE6-A4A2-9D3947AA8039}"/>
              </a:ext>
            </a:extLst>
          </p:cNvPr>
          <p:cNvSpPr txBox="1"/>
          <p:nvPr/>
        </p:nvSpPr>
        <p:spPr>
          <a:xfrm>
            <a:off x="5968365" y="7985760"/>
            <a:ext cx="2354579" cy="123111"/>
          </a:xfrm>
          <a:prstGeom prst="rect">
            <a:avLst/>
          </a:prstGeom>
          <a:noFill/>
        </p:spPr>
        <p:txBody>
          <a:bodyPr wrap="square" lIns="0" tIns="0" rIns="0" bIns="0">
            <a:spAutoFit/>
          </a:bodyPr>
          <a:lstStyle/>
          <a:p>
            <a:pPr algn="l"/>
            <a:r>
              <a:rPr lang="en-US" sz="800" b="0">
                <a:solidFill>
                  <a:srgbClr val="B4B0AC"/>
                </a:solidFill>
                <a:latin typeface="Inter" panose="02000503000000020004" pitchFamily="50" charset="0"/>
                <a:cs typeface="Inter" panose="02000503000000020004" pitchFamily="50" charset="0"/>
              </a:rPr>
              <a:t>DXC Internal</a:t>
            </a:r>
          </a:p>
        </p:txBody>
      </p:sp>
      <p:sp>
        <p:nvSpPr>
          <p:cNvPr id="11" name="Footer Placeholder 4">
            <a:extLst>
              <a:ext uri="{FF2B5EF4-FFF2-40B4-BE49-F238E27FC236}">
                <a16:creationId xmlns:a16="http://schemas.microsoft.com/office/drawing/2014/main" id="{DF4B61FB-43AA-F7C6-9DBE-87E8C3498914}"/>
              </a:ext>
            </a:extLst>
          </p:cNvPr>
          <p:cNvSpPr txBox="1">
            <a:spLocks/>
          </p:cNvSpPr>
          <p:nvPr/>
        </p:nvSpPr>
        <p:spPr>
          <a:xfrm>
            <a:off x="596874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l"/>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3" name="Graphic 2">
            <a:extLst>
              <a:ext uri="{FF2B5EF4-FFF2-40B4-BE49-F238E27FC236}">
                <a16:creationId xmlns:a16="http://schemas.microsoft.com/office/drawing/2014/main" id="{1D0DDF16-0E49-8D81-DC14-FA11A85DA86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12799" y="6106383"/>
            <a:ext cx="5322166" cy="771714"/>
          </a:xfrm>
          <a:prstGeom prst="rect">
            <a:avLst/>
          </a:prstGeom>
        </p:spPr>
      </p:pic>
    </p:spTree>
    <p:extLst>
      <p:ext uri="{BB962C8B-B14F-4D97-AF65-F5344CB8AC3E}">
        <p14:creationId xmlns:p14="http://schemas.microsoft.com/office/powerpoint/2010/main" val="3040100834"/>
      </p:ext>
    </p:extLst>
  </p:cSld>
  <p:clrMapOvr>
    <a:masterClrMapping/>
  </p:clrMapOvr>
  <p:hf sldNum="0" hdr="0" ftr="0" dt="0"/>
  <p:extLst>
    <p:ext uri="{DCECCB84-F9BA-43D5-87BE-67443E8EF086}">
      <p15:sldGuideLst xmlns:p15="http://schemas.microsoft.com/office/powerpoint/2012/main">
        <p15:guide id="1" orient="horz" pos="2592">
          <p15:clr>
            <a:srgbClr val="FBAE40"/>
          </p15:clr>
        </p15:guide>
        <p15:guide id="2" pos="46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lid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56C9E5-50FF-1198-36CE-8793878A6427}"/>
              </a:ext>
            </a:extLst>
          </p:cNvPr>
          <p:cNvPicPr>
            <a:picLocks noChangeAspect="1"/>
          </p:cNvPicPr>
          <p:nvPr/>
        </p:nvPicPr>
        <p:blipFill>
          <a:blip r:embed="rId2"/>
          <a:stretch>
            <a:fillRect/>
          </a:stretch>
        </p:blipFill>
        <p:spPr>
          <a:xfrm>
            <a:off x="8309122" y="618411"/>
            <a:ext cx="6321278" cy="7611189"/>
          </a:xfrm>
          <a:prstGeom prst="rect">
            <a:avLst/>
          </a:prstGeom>
        </p:spPr>
      </p:pic>
      <p:sp>
        <p:nvSpPr>
          <p:cNvPr id="7" name="Title 1">
            <a:extLst>
              <a:ext uri="{FF2B5EF4-FFF2-40B4-BE49-F238E27FC236}">
                <a16:creationId xmlns:a16="http://schemas.microsoft.com/office/drawing/2014/main" id="{9C7BB518-013B-58B6-40AD-19FEB60837E6}"/>
              </a:ext>
            </a:extLst>
          </p:cNvPr>
          <p:cNvSpPr>
            <a:spLocks noGrp="1"/>
          </p:cNvSpPr>
          <p:nvPr>
            <p:ph type="ctrTitle"/>
          </p:nvPr>
        </p:nvSpPr>
        <p:spPr>
          <a:xfrm>
            <a:off x="481964" y="3181350"/>
            <a:ext cx="11024236" cy="1390650"/>
          </a:xfrm>
          <a:prstGeom prst="rect">
            <a:avLst/>
          </a:prstGeom>
        </p:spPr>
        <p:txBody>
          <a:bodyPr anchor="ctr" anchorCtr="0">
            <a:noAutofit/>
          </a:bodyPr>
          <a:lstStyle>
            <a:lvl1pPr>
              <a:defRPr sz="4800" cap="all" baseline="0">
                <a:solidFill>
                  <a:schemeClr val="tx1"/>
                </a:solidFill>
                <a:latin typeface="GT Standard L Extended" pitchFamily="50" charset="0"/>
              </a:defRPr>
            </a:lvl1pPr>
          </a:lstStyle>
          <a:p>
            <a:r>
              <a:rPr lang="en-US"/>
              <a:t>Click to edit Master title style</a:t>
            </a:r>
          </a:p>
        </p:txBody>
      </p:sp>
      <p:sp>
        <p:nvSpPr>
          <p:cNvPr id="2" name="Subtitle 2">
            <a:extLst>
              <a:ext uri="{FF2B5EF4-FFF2-40B4-BE49-F238E27FC236}">
                <a16:creationId xmlns:a16="http://schemas.microsoft.com/office/drawing/2014/main" id="{F763D07A-81F1-36DC-EA6A-6467575356CC}"/>
              </a:ext>
            </a:extLst>
          </p:cNvPr>
          <p:cNvSpPr>
            <a:spLocks noGrp="1"/>
          </p:cNvSpPr>
          <p:nvPr>
            <p:ph type="subTitle" idx="1"/>
          </p:nvPr>
        </p:nvSpPr>
        <p:spPr>
          <a:xfrm>
            <a:off x="5974078" y="4864415"/>
            <a:ext cx="3760471" cy="1490665"/>
          </a:xfrm>
          <a:prstGeom prst="rect">
            <a:avLst/>
          </a:prstGeom>
        </p:spPr>
        <p:txBody>
          <a:bodyPr tIns="0" rIns="0" bIns="0" anchor="t" anchorCtr="0">
            <a:noAutofit/>
          </a:bodyPr>
          <a:lstStyle>
            <a:lvl1pPr marL="0" indent="0" algn="l">
              <a:spcBef>
                <a:spcPts val="0"/>
              </a:spcBef>
              <a:buNone/>
              <a:defRPr sz="1600" b="0" cap="none"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585216" indent="0" algn="ctr">
              <a:buNone/>
              <a:defRPr>
                <a:solidFill>
                  <a:schemeClr val="tx1">
                    <a:tint val="75000"/>
                  </a:schemeClr>
                </a:solidFill>
              </a:defRPr>
            </a:lvl2pPr>
            <a:lvl3pPr marL="1170432" indent="0" algn="ctr">
              <a:buNone/>
              <a:defRPr>
                <a:solidFill>
                  <a:schemeClr val="tx1">
                    <a:tint val="75000"/>
                  </a:schemeClr>
                </a:solidFill>
              </a:defRPr>
            </a:lvl3pPr>
            <a:lvl4pPr marL="1755648" indent="0" algn="ctr">
              <a:buNone/>
              <a:defRPr>
                <a:solidFill>
                  <a:schemeClr val="tx1">
                    <a:tint val="75000"/>
                  </a:schemeClr>
                </a:solidFill>
              </a:defRPr>
            </a:lvl4pPr>
            <a:lvl5pPr marL="2340864" indent="0" algn="ctr">
              <a:buNone/>
              <a:defRPr>
                <a:solidFill>
                  <a:schemeClr val="tx1">
                    <a:tint val="75000"/>
                  </a:schemeClr>
                </a:solidFill>
              </a:defRPr>
            </a:lvl5pPr>
            <a:lvl6pPr marL="2926080" indent="0" algn="ctr">
              <a:buNone/>
              <a:defRPr>
                <a:solidFill>
                  <a:schemeClr val="tx1">
                    <a:tint val="75000"/>
                  </a:schemeClr>
                </a:solidFill>
              </a:defRPr>
            </a:lvl6pPr>
            <a:lvl7pPr marL="3511296" indent="0" algn="ctr">
              <a:buNone/>
              <a:defRPr>
                <a:solidFill>
                  <a:schemeClr val="tx1">
                    <a:tint val="75000"/>
                  </a:schemeClr>
                </a:solidFill>
              </a:defRPr>
            </a:lvl7pPr>
            <a:lvl8pPr marL="4096512" indent="0" algn="ctr">
              <a:buNone/>
              <a:defRPr>
                <a:solidFill>
                  <a:schemeClr val="tx1">
                    <a:tint val="75000"/>
                  </a:schemeClr>
                </a:solidFill>
              </a:defRPr>
            </a:lvl8pPr>
            <a:lvl9pPr marL="4681728" indent="0" algn="ctr">
              <a:buNone/>
              <a:defRPr>
                <a:solidFill>
                  <a:schemeClr val="tx1">
                    <a:tint val="75000"/>
                  </a:schemeClr>
                </a:solidFill>
              </a:defRPr>
            </a:lvl9pPr>
          </a:lstStyle>
          <a:p>
            <a:r>
              <a:rPr lang="en-US"/>
              <a:t>Click to edit Master subtitle style</a:t>
            </a:r>
          </a:p>
        </p:txBody>
      </p:sp>
      <p:sp>
        <p:nvSpPr>
          <p:cNvPr id="4" name="TextBox 3">
            <a:extLst>
              <a:ext uri="{FF2B5EF4-FFF2-40B4-BE49-F238E27FC236}">
                <a16:creationId xmlns:a16="http://schemas.microsoft.com/office/drawing/2014/main" id="{D511D1B2-1DC3-890E-96BC-72E7F3451CCA}"/>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59713050-BD33-7A00-EE49-7F6BC7D27001}"/>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42159832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781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3" name="Content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66326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2946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FD12025-2BD2-A09B-9EFB-A38829256B9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4" name="Text Placeholder 2">
            <a:extLst>
              <a:ext uri="{FF2B5EF4-FFF2-40B4-BE49-F238E27FC236}">
                <a16:creationId xmlns:a16="http://schemas.microsoft.com/office/drawing/2014/main" id="{BB7E8852-BD92-0355-4AE0-D8D8FAF44344}"/>
              </a:ext>
            </a:extLst>
          </p:cNvPr>
          <p:cNvSpPr>
            <a:spLocks noGrp="1"/>
          </p:cNvSpPr>
          <p:nvPr>
            <p:ph idx="1"/>
          </p:nvPr>
        </p:nvSpPr>
        <p:spPr>
          <a:xfrm>
            <a:off x="484188" y="2506980"/>
            <a:ext cx="13689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673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645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tyleguide (No Descri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5DE322-BB62-1F07-1CDA-135ED5F4EFDE}"/>
              </a:ext>
            </a:extLst>
          </p:cNvPr>
          <p:cNvSpPr/>
          <p:nvPr/>
        </p:nvSpPr>
        <p:spPr>
          <a:xfrm>
            <a:off x="0" y="0"/>
            <a:ext cx="14630400" cy="8229600"/>
          </a:xfrm>
          <a:prstGeom prst="rect">
            <a:avLst/>
          </a:prstGeom>
          <a:solidFill>
            <a:srgbClr val="F6F3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52" b="1">
              <a:latin typeface="Inter" panose="02000503000000020004" pitchFamily="50" charset="0"/>
              <a:ea typeface="Inter" panose="02000503000000020004" pitchFamily="50" charset="0"/>
              <a:cs typeface="Inter" panose="02000503000000020004" pitchFamily="50" charset="0"/>
            </a:endParaRPr>
          </a:p>
        </p:txBody>
      </p:sp>
      <p:sp>
        <p:nvSpPr>
          <p:cNvPr id="3" name="Title Placeholder 1">
            <a:extLst>
              <a:ext uri="{FF2B5EF4-FFF2-40B4-BE49-F238E27FC236}">
                <a16:creationId xmlns:a16="http://schemas.microsoft.com/office/drawing/2014/main" id="{5FD12025-2BD2-A09B-9EFB-A38829256B9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4" name="Text Placeholder 2">
            <a:extLst>
              <a:ext uri="{FF2B5EF4-FFF2-40B4-BE49-F238E27FC236}">
                <a16:creationId xmlns:a16="http://schemas.microsoft.com/office/drawing/2014/main" id="{BB7E8852-BD92-0355-4AE0-D8D8FAF44344}"/>
              </a:ext>
            </a:extLst>
          </p:cNvPr>
          <p:cNvSpPr>
            <a:spLocks noGrp="1"/>
          </p:cNvSpPr>
          <p:nvPr>
            <p:ph idx="1"/>
          </p:nvPr>
        </p:nvSpPr>
        <p:spPr>
          <a:xfrm>
            <a:off x="484188" y="2506980"/>
            <a:ext cx="5307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5AE84E7C-8DF7-9286-1F6A-E0EDDF612E0D}"/>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A95E9DC9-2842-272D-FE94-51D6897B7218}"/>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6" name="Union" descr="preencoded.png">
            <a:extLst>
              <a:ext uri="{FF2B5EF4-FFF2-40B4-BE49-F238E27FC236}">
                <a16:creationId xmlns:a16="http://schemas.microsoft.com/office/drawing/2014/main" id="{2B2237AB-9675-5704-5381-9A5B56F64438}"/>
              </a:ext>
            </a:extLst>
          </p:cNvPr>
          <p:cNvPicPr>
            <a:picLocks noChangeAspect="1"/>
          </p:cNvPicPr>
          <p:nvPr/>
        </p:nvPicPr>
        <p:blipFill>
          <a:blip r:embed="rId2"/>
          <a:srcRect/>
          <a:stretch/>
        </p:blipFill>
        <p:spPr>
          <a:xfrm>
            <a:off x="491014" y="228835"/>
            <a:ext cx="938212" cy="151929"/>
          </a:xfrm>
          <a:prstGeom prst="rect">
            <a:avLst/>
          </a:prstGeom>
        </p:spPr>
      </p:pic>
    </p:spTree>
    <p:extLst>
      <p:ext uri="{BB962C8B-B14F-4D97-AF65-F5344CB8AC3E}">
        <p14:creationId xmlns:p14="http://schemas.microsoft.com/office/powerpoint/2010/main" val="25324939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rimar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3105150" y="2506979"/>
            <a:ext cx="11068050"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1491535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Left Aligne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84187" y="2506979"/>
            <a:ext cx="11022013"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8770286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9" name="Text Placeholder 2">
            <a:extLst>
              <a:ext uri="{FF2B5EF4-FFF2-40B4-BE49-F238E27FC236}">
                <a16:creationId xmlns:a16="http://schemas.microsoft.com/office/drawing/2014/main" id="{4B9C8783-1EE1-5F05-94F0-020AC1279309}"/>
              </a:ext>
            </a:extLst>
          </p:cNvPr>
          <p:cNvSpPr>
            <a:spLocks noGrp="1"/>
          </p:cNvSpPr>
          <p:nvPr>
            <p:ph idx="10" hasCustomPrompt="1"/>
          </p:nvPr>
        </p:nvSpPr>
        <p:spPr>
          <a:xfrm>
            <a:off x="3113088" y="2506979"/>
            <a:ext cx="5283489"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Placeholder 1">
            <a:extLst>
              <a:ext uri="{FF2B5EF4-FFF2-40B4-BE49-F238E27FC236}">
                <a16:creationId xmlns:a16="http://schemas.microsoft.com/office/drawing/2014/main" id="{5C207ECF-D4C3-643D-CB6A-041FFB7097D0}"/>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12" name="Text Placeholder 2">
            <a:extLst>
              <a:ext uri="{FF2B5EF4-FFF2-40B4-BE49-F238E27FC236}">
                <a16:creationId xmlns:a16="http://schemas.microsoft.com/office/drawing/2014/main" id="{27C006B6-6F06-D002-5779-598B7A382848}"/>
              </a:ext>
            </a:extLst>
          </p:cNvPr>
          <p:cNvSpPr>
            <a:spLocks noGrp="1"/>
          </p:cNvSpPr>
          <p:nvPr>
            <p:ph idx="11" hasCustomPrompt="1"/>
          </p:nvPr>
        </p:nvSpPr>
        <p:spPr>
          <a:xfrm>
            <a:off x="8856663" y="2506978"/>
            <a:ext cx="5065302"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98684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ullete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5150" y="2506978"/>
            <a:ext cx="11068048" cy="5162552"/>
          </a:xfrm>
          <a:prstGeom prst="rect">
            <a:avLst/>
          </a:prstGeom>
        </p:spPr>
        <p:txBody>
          <a:bodyPr>
            <a:noAutofit/>
          </a:bodyPr>
          <a:lstStyle>
            <a:lvl1pPr marL="228600" indent="-228600">
              <a:buFont typeface="Arial" pitchFamily="34" charset="0"/>
              <a:buChar char="•"/>
              <a:defRPr sz="1600" b="0"/>
            </a:lvl1pPr>
            <a:lvl2pPr marL="457200" indent="-228600">
              <a:spcBef>
                <a:spcPts val="600"/>
              </a:spcBef>
              <a:buFont typeface="Arial" pitchFamily="34" charset="0"/>
              <a:buChar char="–"/>
              <a:defRPr sz="1600" b="0"/>
            </a:lvl2pPr>
            <a:lvl3pPr marL="685800" indent="-228600">
              <a:spcBef>
                <a:spcPts val="600"/>
              </a:spcBef>
              <a:buFont typeface="Arial" pitchFamily="34" charset="0"/>
              <a:buChar char="–"/>
              <a:defRPr sz="1400" b="0"/>
            </a:lvl3pPr>
            <a:lvl4pPr marL="914400" indent="-228600">
              <a:spcBef>
                <a:spcPts val="600"/>
              </a:spcBef>
              <a:buFont typeface="Arial" pitchFamily="34" charset="0"/>
              <a:buChar char="–"/>
              <a:defRPr sz="1400" b="0"/>
            </a:lvl4pPr>
            <a:lvl5pPr marL="1143000" indent="-228600">
              <a:spcBef>
                <a:spcPts val="600"/>
              </a:spcBef>
              <a:buFont typeface="Arial" pitchFamily="34" charset="0"/>
              <a:buChar char="–"/>
              <a:defRPr sz="1400"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ubtitle 2">
            <a:extLst>
              <a:ext uri="{FF2B5EF4-FFF2-40B4-BE49-F238E27FC236}">
                <a16:creationId xmlns:a16="http://schemas.microsoft.com/office/drawing/2014/main" id="{6E9DCC20-00EA-22DD-2AE0-CB3AE03BE68F}"/>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4" name="Title Placeholder 1">
            <a:extLst>
              <a:ext uri="{FF2B5EF4-FFF2-40B4-BE49-F238E27FC236}">
                <a16:creationId xmlns:a16="http://schemas.microsoft.com/office/drawing/2014/main" id="{673ADA15-B0A6-A9E1-1441-0E6F1682B89E}"/>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23335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 with Photo">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5" name="Text Placeholder 2">
            <a:extLst>
              <a:ext uri="{FF2B5EF4-FFF2-40B4-BE49-F238E27FC236}">
                <a16:creationId xmlns:a16="http://schemas.microsoft.com/office/drawing/2014/main" id="{B5717FA4-86CE-556E-68FB-95C761BEC1B6}"/>
              </a:ext>
            </a:extLst>
          </p:cNvPr>
          <p:cNvSpPr>
            <a:spLocks noGrp="1"/>
          </p:cNvSpPr>
          <p:nvPr>
            <p:ph idx="10" hasCustomPrompt="1"/>
          </p:nvPr>
        </p:nvSpPr>
        <p:spPr>
          <a:xfrm>
            <a:off x="484188" y="2506979"/>
            <a:ext cx="6831012"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83CCBB92-4E2E-CA56-141C-71DDE9C9C724}"/>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pic>
        <p:nvPicPr>
          <p:cNvPr id="2" name="Picture 1">
            <a:extLst>
              <a:ext uri="{FF2B5EF4-FFF2-40B4-BE49-F238E27FC236}">
                <a16:creationId xmlns:a16="http://schemas.microsoft.com/office/drawing/2014/main" id="{B102B511-3FEB-1B8B-7719-09807E1FF985}"/>
              </a:ext>
            </a:extLst>
          </p:cNvPr>
          <p:cNvPicPr>
            <a:picLocks noChangeAspect="1"/>
          </p:cNvPicPr>
          <p:nvPr/>
        </p:nvPicPr>
        <p:blipFill>
          <a:blip r:embed="rId2"/>
          <a:srcRect r="3587"/>
          <a:stretch>
            <a:fillRect/>
          </a:stretch>
        </p:blipFill>
        <p:spPr>
          <a:xfrm>
            <a:off x="8343900" y="2053908"/>
            <a:ext cx="6286500" cy="5485475"/>
          </a:xfrm>
          <a:prstGeom prst="rect">
            <a:avLst/>
          </a:prstGeom>
        </p:spPr>
      </p:pic>
      <p:sp>
        <p:nvSpPr>
          <p:cNvPr id="7" name="Picture Placeholder 8">
            <a:extLst>
              <a:ext uri="{FF2B5EF4-FFF2-40B4-BE49-F238E27FC236}">
                <a16:creationId xmlns:a16="http://schemas.microsoft.com/office/drawing/2014/main" id="{E713CD5E-96D2-F3B4-7945-151C1A4F88EB}"/>
              </a:ext>
            </a:extLst>
          </p:cNvPr>
          <p:cNvSpPr>
            <a:spLocks noGrp="1"/>
          </p:cNvSpPr>
          <p:nvPr>
            <p:ph type="pic" sz="quarter" idx="13"/>
          </p:nvPr>
        </p:nvSpPr>
        <p:spPr>
          <a:xfrm>
            <a:off x="8839200" y="2508987"/>
            <a:ext cx="5524500" cy="4335780"/>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Tree>
    <p:extLst>
      <p:ext uri="{BB962C8B-B14F-4D97-AF65-F5344CB8AC3E}">
        <p14:creationId xmlns:p14="http://schemas.microsoft.com/office/powerpoint/2010/main" val="22470382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lumn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E655C0-EAC8-C1F6-4E1E-A95627EE0C2E}"/>
              </a:ext>
            </a:extLst>
          </p:cNvPr>
          <p:cNvPicPr>
            <a:picLocks noChangeAspect="1"/>
          </p:cNvPicPr>
          <p:nvPr/>
        </p:nvPicPr>
        <p:blipFill>
          <a:blip r:embed="rId2"/>
          <a:srcRect r="3587"/>
          <a:stretch>
            <a:fillRect/>
          </a:stretch>
        </p:blipFill>
        <p:spPr>
          <a:xfrm>
            <a:off x="8343900" y="2053908"/>
            <a:ext cx="6286500" cy="5485475"/>
          </a:xfrm>
          <a:prstGeom prst="rect">
            <a:avLst/>
          </a:prstGeom>
        </p:spPr>
      </p:pic>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0" name="Title Placeholder 1">
            <a:extLst>
              <a:ext uri="{FF2B5EF4-FFF2-40B4-BE49-F238E27FC236}">
                <a16:creationId xmlns:a16="http://schemas.microsoft.com/office/drawing/2014/main" id="{1A965AE0-60E2-C612-1BE0-C4729967010D}"/>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12" name="Text Placeholder 2">
            <a:extLst>
              <a:ext uri="{FF2B5EF4-FFF2-40B4-BE49-F238E27FC236}">
                <a16:creationId xmlns:a16="http://schemas.microsoft.com/office/drawing/2014/main" id="{535DE58E-558F-F5EC-1082-9B720020266F}"/>
              </a:ext>
            </a:extLst>
          </p:cNvPr>
          <p:cNvSpPr>
            <a:spLocks noGrp="1"/>
          </p:cNvSpPr>
          <p:nvPr>
            <p:ph idx="17" hasCustomPrompt="1"/>
          </p:nvPr>
        </p:nvSpPr>
        <p:spPr>
          <a:xfrm>
            <a:off x="4667521" y="2506979"/>
            <a:ext cx="3986784"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84B87AB6-AE03-F48C-7DF9-C5E130FC55E1}"/>
              </a:ext>
            </a:extLst>
          </p:cNvPr>
          <p:cNvSpPr>
            <a:spLocks noGrp="1"/>
          </p:cNvSpPr>
          <p:nvPr>
            <p:ph idx="10" hasCustomPrompt="1"/>
          </p:nvPr>
        </p:nvSpPr>
        <p:spPr>
          <a:xfrm>
            <a:off x="484188" y="2506979"/>
            <a:ext cx="3986784"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a:extLst>
              <a:ext uri="{FF2B5EF4-FFF2-40B4-BE49-F238E27FC236}">
                <a16:creationId xmlns:a16="http://schemas.microsoft.com/office/drawing/2014/main" id="{F77A56BE-E30D-A604-6EC0-1BA1C7B58FB5}"/>
              </a:ext>
            </a:extLst>
          </p:cNvPr>
          <p:cNvSpPr>
            <a:spLocks noGrp="1"/>
          </p:cNvSpPr>
          <p:nvPr>
            <p:ph type="pic" sz="quarter" idx="16"/>
          </p:nvPr>
        </p:nvSpPr>
        <p:spPr>
          <a:xfrm>
            <a:off x="8839200" y="2508987"/>
            <a:ext cx="5524500" cy="4335780"/>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Tree>
    <p:extLst>
      <p:ext uri="{BB962C8B-B14F-4D97-AF65-F5344CB8AC3E}">
        <p14:creationId xmlns:p14="http://schemas.microsoft.com/office/powerpoint/2010/main" val="5409322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Pictur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A8567-14EC-C957-B8D3-E24E11570BA0}"/>
              </a:ext>
            </a:extLst>
          </p:cNvPr>
          <p:cNvPicPr>
            <a:picLocks noChangeAspect="1"/>
          </p:cNvPicPr>
          <p:nvPr/>
        </p:nvPicPr>
        <p:blipFill>
          <a:blip r:embed="rId2" cstate="email">
            <a:extLst>
              <a:ext uri="{28A0092B-C50C-407E-A947-70E740481C1C}">
                <a14:useLocalDpi xmlns:a14="http://schemas.microsoft.com/office/drawing/2010/main"/>
              </a:ext>
            </a:extLst>
          </a:blip>
          <a:srcRect r="5062" b="4989"/>
          <a:stretch>
            <a:fillRect/>
          </a:stretch>
        </p:blipFill>
        <p:spPr>
          <a:xfrm>
            <a:off x="5229001" y="174069"/>
            <a:ext cx="9401400" cy="8055531"/>
          </a:xfrm>
          <a:prstGeom prst="rect">
            <a:avLst/>
          </a:prstGeom>
        </p:spPr>
      </p:pic>
      <p:sp>
        <p:nvSpPr>
          <p:cNvPr id="6" name="Picture Placeholder 8">
            <a:extLst>
              <a:ext uri="{FF2B5EF4-FFF2-40B4-BE49-F238E27FC236}">
                <a16:creationId xmlns:a16="http://schemas.microsoft.com/office/drawing/2014/main" id="{B7B1E6F2-2C2C-C9A9-5AB8-828355364AC9}"/>
              </a:ext>
            </a:extLst>
          </p:cNvPr>
          <p:cNvSpPr>
            <a:spLocks noGrp="1"/>
          </p:cNvSpPr>
          <p:nvPr>
            <p:ph type="pic" sz="quarter" idx="13"/>
          </p:nvPr>
        </p:nvSpPr>
        <p:spPr>
          <a:xfrm>
            <a:off x="5981700" y="888296"/>
            <a:ext cx="8382000" cy="6781234"/>
          </a:xfrm>
          <a:prstGeom prst="roundRect">
            <a:avLst>
              <a:gd name="adj" fmla="val 2257"/>
            </a:avLst>
          </a:prstGeom>
          <a:noFill/>
        </p:spPr>
        <p:txBody>
          <a:bodyPr anchor="ctr" anchorCtr="0">
            <a:normAutofit/>
          </a:bodyPr>
          <a:lstStyle>
            <a:lvl1pPr algn="ctr">
              <a:defRPr sz="1600" b="0"/>
            </a:lvl1pPr>
          </a:lstStyle>
          <a:p>
            <a:r>
              <a:rPr lang="en-US"/>
              <a:t>Click icon to add picture</a:t>
            </a:r>
          </a:p>
        </p:txBody>
      </p:sp>
      <p:sp>
        <p:nvSpPr>
          <p:cNvPr id="11" name="Subtitle 2">
            <a:extLst>
              <a:ext uri="{FF2B5EF4-FFF2-40B4-BE49-F238E27FC236}">
                <a16:creationId xmlns:a16="http://schemas.microsoft.com/office/drawing/2014/main" id="{62AD280C-FC90-5C16-7F3E-4E787A928E0D}"/>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14" name="Text Placeholder 2">
            <a:extLst>
              <a:ext uri="{FF2B5EF4-FFF2-40B4-BE49-F238E27FC236}">
                <a16:creationId xmlns:a16="http://schemas.microsoft.com/office/drawing/2014/main" id="{CFFF1056-2A2E-EAB8-F36F-EBD7E5F8C0F1}"/>
              </a:ext>
            </a:extLst>
          </p:cNvPr>
          <p:cNvSpPr>
            <a:spLocks noGrp="1"/>
          </p:cNvSpPr>
          <p:nvPr>
            <p:ph idx="11" hasCustomPrompt="1"/>
          </p:nvPr>
        </p:nvSpPr>
        <p:spPr>
          <a:xfrm>
            <a:off x="484188" y="2921169"/>
            <a:ext cx="4340904" cy="474836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Placeholder 1">
            <a:extLst>
              <a:ext uri="{FF2B5EF4-FFF2-40B4-BE49-F238E27FC236}">
                <a16:creationId xmlns:a16="http://schemas.microsoft.com/office/drawing/2014/main" id="{540E6F3E-0F98-698F-5249-2672EA9AAEAB}"/>
              </a:ext>
            </a:extLst>
          </p:cNvPr>
          <p:cNvSpPr>
            <a:spLocks noGrp="1"/>
          </p:cNvSpPr>
          <p:nvPr>
            <p:ph type="title"/>
          </p:nvPr>
        </p:nvSpPr>
        <p:spPr>
          <a:xfrm>
            <a:off x="484187" y="1305918"/>
            <a:ext cx="5307013" cy="1615241"/>
          </a:xfrm>
          <a:prstGeom prst="rect">
            <a:avLst/>
          </a:prstGeom>
        </p:spPr>
        <p:txBody>
          <a:bodyPr vert="horz" lIns="0" tIns="0" rIns="0" bIns="0" rtlCol="0" anchor="t" anchorCtr="0">
            <a:noAutofit/>
          </a:bodyPr>
          <a:lstStyle/>
          <a:p>
            <a:r>
              <a:rPr lang="en-US"/>
              <a:t>Click to edit Master title style</a:t>
            </a:r>
          </a:p>
        </p:txBody>
      </p:sp>
      <p:sp>
        <p:nvSpPr>
          <p:cNvPr id="4" name="TextBox 3">
            <a:extLst>
              <a:ext uri="{FF2B5EF4-FFF2-40B4-BE49-F238E27FC236}">
                <a16:creationId xmlns:a16="http://schemas.microsoft.com/office/drawing/2014/main" id="{C37472F4-F461-80E0-0FB3-EFCB9B5CC08D}"/>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FD827D6D-506A-74EA-66C7-80F4746277AA}"/>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3288447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3AD2B2-95E0-8691-E903-8A9026CF8261}"/>
              </a:ext>
            </a:extLst>
          </p:cNvPr>
          <p:cNvSpPr/>
          <p:nvPr/>
        </p:nvSpPr>
        <p:spPr>
          <a:xfrm>
            <a:off x="0" y="609600"/>
            <a:ext cx="14630400" cy="762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3" name="TextBox 2">
            <a:extLst>
              <a:ext uri="{FF2B5EF4-FFF2-40B4-BE49-F238E27FC236}">
                <a16:creationId xmlns:a16="http://schemas.microsoft.com/office/drawing/2014/main" id="{6E1E0455-28DA-FCFA-8ED8-A428ECF25B46}"/>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E3053EBC-3E3E-5CCF-5A5C-C2B528F8E71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01181131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White (Left Align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AB2385-4042-07C0-6BA0-6E264BA5CB68}"/>
              </a:ext>
            </a:extLst>
          </p:cNvPr>
          <p:cNvSpPr/>
          <p:nvPr/>
        </p:nvSpPr>
        <p:spPr>
          <a:xfrm>
            <a:off x="0" y="595993"/>
            <a:ext cx="14630400" cy="76336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4" name="Subtitle 2">
            <a:extLst>
              <a:ext uri="{FF2B5EF4-FFF2-40B4-BE49-F238E27FC236}">
                <a16:creationId xmlns:a16="http://schemas.microsoft.com/office/drawing/2014/main" id="{107086DB-C6B2-0EAA-2AD5-9B3FF5BF83BA}"/>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7" name="Text Placeholder 2">
            <a:extLst>
              <a:ext uri="{FF2B5EF4-FFF2-40B4-BE49-F238E27FC236}">
                <a16:creationId xmlns:a16="http://schemas.microsoft.com/office/drawing/2014/main" id="{027718AA-D45F-B35B-3E8D-9C19F3BD2724}"/>
              </a:ext>
            </a:extLst>
          </p:cNvPr>
          <p:cNvSpPr>
            <a:spLocks noGrp="1"/>
          </p:cNvSpPr>
          <p:nvPr>
            <p:ph idx="10" hasCustomPrompt="1"/>
          </p:nvPr>
        </p:nvSpPr>
        <p:spPr>
          <a:xfrm>
            <a:off x="484187" y="2506979"/>
            <a:ext cx="11022013" cy="5162551"/>
          </a:xfrm>
          <a:prstGeom prst="rect">
            <a:avLst/>
          </a:prstGeom>
        </p:spPr>
        <p:txBody>
          <a:bodyPr vert="horz" lIns="0" tIns="45720" rIns="0" bIns="45720" rtlCol="0">
            <a:noAutofit/>
          </a:bodyPr>
          <a:lstStyle>
            <a:lvl1pPr>
              <a:spcAft>
                <a:spcPts val="400"/>
              </a:spcAft>
              <a:defRPr/>
            </a:lvl1pPr>
            <a:lvl2pPr>
              <a:spcAft>
                <a:spcPts val="400"/>
              </a:spcAft>
              <a:defRPr/>
            </a:lvl2pPr>
            <a:lvl3pPr>
              <a:spcAft>
                <a:spcPts val="400"/>
              </a:spcAft>
              <a:defRPr sz="1600"/>
            </a:lvl3pPr>
            <a:lvl4pPr>
              <a:spcAft>
                <a:spcPts val="400"/>
              </a:spcAft>
              <a:defRPr/>
            </a:lvl4pPr>
            <a:lvl5pPr>
              <a:spcAft>
                <a:spcPts val="4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91704F69-1FC3-DB7A-1D08-B981EE2B739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3" name="TextBox 2">
            <a:extLst>
              <a:ext uri="{FF2B5EF4-FFF2-40B4-BE49-F238E27FC236}">
                <a16:creationId xmlns:a16="http://schemas.microsoft.com/office/drawing/2014/main" id="{523F00A7-BEB6-EC4D-515F-8796DA7764E1}"/>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453021A3-0CD0-FAEA-5FA7-F851D1A40F17}"/>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60422133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6793-F272-E05F-7FDB-6FC60AE78F90}"/>
              </a:ext>
            </a:extLst>
          </p:cNvPr>
          <p:cNvPicPr>
            <a:picLocks noChangeAspect="1"/>
          </p:cNvPicPr>
          <p:nvPr/>
        </p:nvPicPr>
        <p:blipFill>
          <a:blip r:embed="rId2"/>
          <a:stretch>
            <a:fillRect/>
          </a:stretch>
        </p:blipFill>
        <p:spPr>
          <a:xfrm>
            <a:off x="0" y="609600"/>
            <a:ext cx="14630400" cy="7620000"/>
          </a:xfrm>
          <a:prstGeom prst="rect">
            <a:avLst/>
          </a:prstGeom>
        </p:spPr>
      </p:pic>
      <p:sp>
        <p:nvSpPr>
          <p:cNvPr id="11" name="Title Placeholder 1">
            <a:extLst>
              <a:ext uri="{FF2B5EF4-FFF2-40B4-BE49-F238E27FC236}">
                <a16:creationId xmlns:a16="http://schemas.microsoft.com/office/drawing/2014/main" id="{6740A865-2EAE-D2C5-9D67-0453F029A5D1}"/>
              </a:ext>
            </a:extLst>
          </p:cNvPr>
          <p:cNvSpPr>
            <a:spLocks noGrp="1"/>
          </p:cNvSpPr>
          <p:nvPr>
            <p:ph type="title"/>
          </p:nvPr>
        </p:nvSpPr>
        <p:spPr>
          <a:xfrm>
            <a:off x="3105150" y="2699596"/>
            <a:ext cx="11068048" cy="3343274"/>
          </a:xfrm>
          <a:prstGeom prst="rect">
            <a:avLst/>
          </a:prstGeom>
        </p:spPr>
        <p:txBody>
          <a:bodyPr vert="horz" lIns="0" tIns="45720" rIns="91440" bIns="45720" rtlCol="0" anchor="ctr" anchorCtr="0">
            <a:noAutofit/>
          </a:bodyPr>
          <a:lstStyle>
            <a:lvl1pPr algn="l">
              <a:defRPr lang="en-US" sz="5000" dirty="0"/>
            </a:lvl1pPr>
          </a:lstStyle>
          <a:p>
            <a:r>
              <a:rPr lang="en-US"/>
              <a:t>Click to edit Master title style</a:t>
            </a:r>
          </a:p>
        </p:txBody>
      </p:sp>
      <p:sp>
        <p:nvSpPr>
          <p:cNvPr id="4" name="Footer Placeholder 4">
            <a:extLst>
              <a:ext uri="{FF2B5EF4-FFF2-40B4-BE49-F238E27FC236}">
                <a16:creationId xmlns:a16="http://schemas.microsoft.com/office/drawing/2014/main" id="{F42CCEFD-F919-42FA-0DD8-3DB039A268F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pic>
        <p:nvPicPr>
          <p:cNvPr id="13" name="HeaderMasthead" descr="preencoded.png">
            <a:extLst>
              <a:ext uri="{FF2B5EF4-FFF2-40B4-BE49-F238E27FC236}">
                <a16:creationId xmlns:a16="http://schemas.microsoft.com/office/drawing/2014/main" id="{93C7ACA0-9850-735F-DDA2-7E3D6AF178AA}"/>
              </a:ext>
            </a:extLst>
          </p:cNvPr>
          <p:cNvPicPr>
            <a:picLocks noChangeAspect="1"/>
          </p:cNvPicPr>
          <p:nvPr/>
        </p:nvPicPr>
        <p:blipFill>
          <a:blip r:embed="rId3"/>
          <a:srcRect/>
          <a:stretch/>
        </p:blipFill>
        <p:spPr>
          <a:xfrm>
            <a:off x="0" y="609600"/>
            <a:ext cx="14630400" cy="7620000"/>
          </a:xfrm>
          <a:prstGeom prst="rect">
            <a:avLst/>
          </a:prstGeom>
        </p:spPr>
      </p:pic>
      <p:sp>
        <p:nvSpPr>
          <p:cNvPr id="2" name="TextBox 1">
            <a:extLst>
              <a:ext uri="{FF2B5EF4-FFF2-40B4-BE49-F238E27FC236}">
                <a16:creationId xmlns:a16="http://schemas.microsoft.com/office/drawing/2014/main" id="{5EBBDAE8-E8F2-0C57-3991-61B5388D5967}"/>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Tree>
    <p:extLst>
      <p:ext uri="{BB962C8B-B14F-4D97-AF65-F5344CB8AC3E}">
        <p14:creationId xmlns:p14="http://schemas.microsoft.com/office/powerpoint/2010/main" val="349143141"/>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g Statement 2">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9D6C4FC-7347-DEA0-51A8-878E036B731C}"/>
              </a:ext>
            </a:extLst>
          </p:cNvPr>
          <p:cNvSpPr>
            <a:spLocks noGrp="1"/>
          </p:cNvSpPr>
          <p:nvPr>
            <p:ph sz="half" idx="14"/>
          </p:nvPr>
        </p:nvSpPr>
        <p:spPr>
          <a:xfrm>
            <a:off x="5981699" y="2456954"/>
            <a:ext cx="7408297" cy="5090554"/>
          </a:xfrm>
          <a:prstGeom prst="rect">
            <a:avLst/>
          </a:prstGeom>
        </p:spPr>
        <p:txBody>
          <a:bodyPr>
            <a:noAutofit/>
          </a:bodyPr>
          <a:lstStyle>
            <a:lvl1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2800">
                <a:latin typeface="Inter Light" panose="02000403000000020004" pitchFamily="50" charset="0"/>
                <a:ea typeface="Inter Light" panose="02000403000000020004" pitchFamily="50" charset="0"/>
                <a:cs typeface="Inter Light" panose="02000403000000020004" pitchFamily="50" charset="0"/>
              </a:defRPr>
            </a:lvl2pPr>
            <a:lvl3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4887169"/>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io Single">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484186" y="6929040"/>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484187" y="7257107"/>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84186" y="2506980"/>
            <a:ext cx="3931920" cy="4114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15" name="Text Placeholder 2">
            <a:extLst>
              <a:ext uri="{FF2B5EF4-FFF2-40B4-BE49-F238E27FC236}">
                <a16:creationId xmlns:a16="http://schemas.microsoft.com/office/drawing/2014/main" id="{E8E15AC9-7292-3D13-6C73-282E69EE8FE5}"/>
              </a:ext>
            </a:extLst>
          </p:cNvPr>
          <p:cNvSpPr>
            <a:spLocks noGrp="1"/>
          </p:cNvSpPr>
          <p:nvPr>
            <p:ph idx="22"/>
          </p:nvPr>
        </p:nvSpPr>
        <p:spPr>
          <a:xfrm>
            <a:off x="5989638" y="2506980"/>
            <a:ext cx="5516562" cy="4114801"/>
          </a:xfrm>
          <a:prstGeom prst="rect">
            <a:avLst/>
          </a:prstGeom>
        </p:spPr>
        <p:txBody>
          <a:bodyPr vert="horz" lIns="0" tIns="45720" rIns="0" bIns="45720" rtlCol="0" anchor="ct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163903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io - 4 Presenters">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55E00072-8177-8B6A-6A90-45F4AB9D7337}"/>
              </a:ext>
            </a:extLst>
          </p:cNvPr>
          <p:cNvSpPr>
            <a:spLocks noGrp="1"/>
          </p:cNvSpPr>
          <p:nvPr>
            <p:ph type="subTitle" idx="1"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4"/>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6" name="Title Placeholder 1">
            <a:extLst>
              <a:ext uri="{FF2B5EF4-FFF2-40B4-BE49-F238E27FC236}">
                <a16:creationId xmlns:a16="http://schemas.microsoft.com/office/drawing/2014/main" id="{88684DD0-26F1-1FC3-88D2-5B51E61368F1}"/>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BF082499-2B66-314C-1973-DB5EE025F0B6}"/>
              </a:ext>
            </a:extLst>
          </p:cNvPr>
          <p:cNvSpPr>
            <a:spLocks noGrp="1"/>
          </p:cNvSpPr>
          <p:nvPr>
            <p:ph sz="half" idx="15" hasCustomPrompt="1"/>
          </p:nvPr>
        </p:nvSpPr>
        <p:spPr>
          <a:xfrm>
            <a:off x="2543854" y="2985692"/>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3" name="Content Placeholder 2">
            <a:extLst>
              <a:ext uri="{FF2B5EF4-FFF2-40B4-BE49-F238E27FC236}">
                <a16:creationId xmlns:a16="http://schemas.microsoft.com/office/drawing/2014/main" id="{DEBF5507-DAA8-A243-F8A6-84A409DE0F37}"/>
              </a:ext>
            </a:extLst>
          </p:cNvPr>
          <p:cNvSpPr>
            <a:spLocks noGrp="1"/>
          </p:cNvSpPr>
          <p:nvPr>
            <p:ph sz="half" idx="16" hasCustomPrompt="1"/>
          </p:nvPr>
        </p:nvSpPr>
        <p:spPr>
          <a:xfrm>
            <a:off x="2543855" y="3281103"/>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4" name="Picture Placeholder 8">
            <a:extLst>
              <a:ext uri="{FF2B5EF4-FFF2-40B4-BE49-F238E27FC236}">
                <a16:creationId xmlns:a16="http://schemas.microsoft.com/office/drawing/2014/main" id="{7551BE5F-EB37-52BA-BF3C-7F77959E16F5}"/>
              </a:ext>
            </a:extLst>
          </p:cNvPr>
          <p:cNvSpPr>
            <a:spLocks noGrp="1"/>
          </p:cNvSpPr>
          <p:nvPr>
            <p:ph type="pic" sz="quarter" idx="21"/>
          </p:nvPr>
        </p:nvSpPr>
        <p:spPr>
          <a:xfrm>
            <a:off x="484186" y="2856878"/>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5" name="Content Placeholder 2">
            <a:extLst>
              <a:ext uri="{FF2B5EF4-FFF2-40B4-BE49-F238E27FC236}">
                <a16:creationId xmlns:a16="http://schemas.microsoft.com/office/drawing/2014/main" id="{FDBD811A-C99D-3B7A-BCC3-66DA844F1C8B}"/>
              </a:ext>
            </a:extLst>
          </p:cNvPr>
          <p:cNvSpPr>
            <a:spLocks noGrp="1"/>
          </p:cNvSpPr>
          <p:nvPr>
            <p:ph sz="half" idx="22" hasCustomPrompt="1"/>
          </p:nvPr>
        </p:nvSpPr>
        <p:spPr>
          <a:xfrm>
            <a:off x="2543854" y="5407568"/>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7" name="Content Placeholder 2">
            <a:extLst>
              <a:ext uri="{FF2B5EF4-FFF2-40B4-BE49-F238E27FC236}">
                <a16:creationId xmlns:a16="http://schemas.microsoft.com/office/drawing/2014/main" id="{59A747F1-959A-3806-A11E-FFACEFB693EF}"/>
              </a:ext>
            </a:extLst>
          </p:cNvPr>
          <p:cNvSpPr>
            <a:spLocks noGrp="1"/>
          </p:cNvSpPr>
          <p:nvPr>
            <p:ph sz="half" idx="23" hasCustomPrompt="1"/>
          </p:nvPr>
        </p:nvSpPr>
        <p:spPr>
          <a:xfrm>
            <a:off x="2543855" y="5702979"/>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8" name="Picture Placeholder 8">
            <a:extLst>
              <a:ext uri="{FF2B5EF4-FFF2-40B4-BE49-F238E27FC236}">
                <a16:creationId xmlns:a16="http://schemas.microsoft.com/office/drawing/2014/main" id="{51B0D53B-7E9B-3DC3-BA87-003824F65D9D}"/>
              </a:ext>
            </a:extLst>
          </p:cNvPr>
          <p:cNvSpPr>
            <a:spLocks noGrp="1"/>
          </p:cNvSpPr>
          <p:nvPr>
            <p:ph type="pic" sz="quarter" idx="24"/>
          </p:nvPr>
        </p:nvSpPr>
        <p:spPr>
          <a:xfrm>
            <a:off x="484186" y="5278754"/>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9" name="Content Placeholder 2">
            <a:extLst>
              <a:ext uri="{FF2B5EF4-FFF2-40B4-BE49-F238E27FC236}">
                <a16:creationId xmlns:a16="http://schemas.microsoft.com/office/drawing/2014/main" id="{B606E116-3C8D-CF15-BA0D-FE1D9DF8D865}"/>
              </a:ext>
            </a:extLst>
          </p:cNvPr>
          <p:cNvSpPr>
            <a:spLocks noGrp="1"/>
          </p:cNvSpPr>
          <p:nvPr>
            <p:ph sz="half" idx="25" hasCustomPrompt="1"/>
          </p:nvPr>
        </p:nvSpPr>
        <p:spPr>
          <a:xfrm>
            <a:off x="9610724" y="2985692"/>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0" name="Content Placeholder 2">
            <a:extLst>
              <a:ext uri="{FF2B5EF4-FFF2-40B4-BE49-F238E27FC236}">
                <a16:creationId xmlns:a16="http://schemas.microsoft.com/office/drawing/2014/main" id="{1DEF596F-37D3-8C56-AEC3-A941B57F4B88}"/>
              </a:ext>
            </a:extLst>
          </p:cNvPr>
          <p:cNvSpPr>
            <a:spLocks noGrp="1"/>
          </p:cNvSpPr>
          <p:nvPr>
            <p:ph sz="half" idx="26" hasCustomPrompt="1"/>
          </p:nvPr>
        </p:nvSpPr>
        <p:spPr>
          <a:xfrm>
            <a:off x="9610725" y="3281103"/>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1" name="Picture Placeholder 8">
            <a:extLst>
              <a:ext uri="{FF2B5EF4-FFF2-40B4-BE49-F238E27FC236}">
                <a16:creationId xmlns:a16="http://schemas.microsoft.com/office/drawing/2014/main" id="{25D416AB-5AB8-3255-9B13-3BFE55B1067E}"/>
              </a:ext>
            </a:extLst>
          </p:cNvPr>
          <p:cNvSpPr>
            <a:spLocks noGrp="1"/>
          </p:cNvSpPr>
          <p:nvPr>
            <p:ph type="pic" sz="quarter" idx="27"/>
          </p:nvPr>
        </p:nvSpPr>
        <p:spPr>
          <a:xfrm>
            <a:off x="7551056" y="2856878"/>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
        <p:nvSpPr>
          <p:cNvPr id="12" name="Content Placeholder 2">
            <a:extLst>
              <a:ext uri="{FF2B5EF4-FFF2-40B4-BE49-F238E27FC236}">
                <a16:creationId xmlns:a16="http://schemas.microsoft.com/office/drawing/2014/main" id="{ABFEF732-87F6-4DAB-0C27-9A712527F2FB}"/>
              </a:ext>
            </a:extLst>
          </p:cNvPr>
          <p:cNvSpPr>
            <a:spLocks noGrp="1"/>
          </p:cNvSpPr>
          <p:nvPr>
            <p:ph sz="half" idx="28" hasCustomPrompt="1"/>
          </p:nvPr>
        </p:nvSpPr>
        <p:spPr>
          <a:xfrm>
            <a:off x="9610724" y="5407568"/>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3" name="Content Placeholder 2">
            <a:extLst>
              <a:ext uri="{FF2B5EF4-FFF2-40B4-BE49-F238E27FC236}">
                <a16:creationId xmlns:a16="http://schemas.microsoft.com/office/drawing/2014/main" id="{668E4127-A4BC-BD25-7D63-1979A3E79EF6}"/>
              </a:ext>
            </a:extLst>
          </p:cNvPr>
          <p:cNvSpPr>
            <a:spLocks noGrp="1"/>
          </p:cNvSpPr>
          <p:nvPr>
            <p:ph sz="half" idx="29" hasCustomPrompt="1"/>
          </p:nvPr>
        </p:nvSpPr>
        <p:spPr>
          <a:xfrm>
            <a:off x="9610725" y="5702979"/>
            <a:ext cx="4562475" cy="181534"/>
          </a:xfrm>
          <a:prstGeom prst="rect">
            <a:avLst/>
          </a:prstGeom>
        </p:spPr>
        <p:txBody>
          <a:bodyPr tIns="0" rIns="0" bIns="0">
            <a:noAutofit/>
          </a:bodyPr>
          <a:lstStyle>
            <a:lvl1pPr>
              <a:lnSpc>
                <a:spcPct val="100000"/>
              </a:lnSpc>
              <a:spcBef>
                <a:spcPts val="600"/>
              </a:spcBef>
              <a:defRPr sz="1200" cap="all" spc="160" baseline="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Picture Placeholder 8">
            <a:extLst>
              <a:ext uri="{FF2B5EF4-FFF2-40B4-BE49-F238E27FC236}">
                <a16:creationId xmlns:a16="http://schemas.microsoft.com/office/drawing/2014/main" id="{A5C05823-0C0C-A242-FF86-E466B32E9215}"/>
              </a:ext>
            </a:extLst>
          </p:cNvPr>
          <p:cNvSpPr>
            <a:spLocks noGrp="1"/>
          </p:cNvSpPr>
          <p:nvPr>
            <p:ph type="pic" sz="quarter" idx="30"/>
          </p:nvPr>
        </p:nvSpPr>
        <p:spPr>
          <a:xfrm>
            <a:off x="7551056" y="5278754"/>
            <a:ext cx="1828800" cy="1828800"/>
          </a:xfrm>
          <a:prstGeom prst="roundRect">
            <a:avLst>
              <a:gd name="adj" fmla="val 5813"/>
            </a:avLst>
          </a:prstGeom>
          <a:noFill/>
        </p:spPr>
        <p:txBody>
          <a:bodyPr anchor="ctr" anchorCtr="0">
            <a:normAutofit/>
          </a:bodyPr>
          <a:lstStyle>
            <a:lvl1pPr algn="ctr">
              <a:defRPr sz="1600" b="0">
                <a:solidFill>
                  <a:schemeClr val="tx1"/>
                </a:solidFill>
              </a:defRPr>
            </a:lvl1pPr>
          </a:lstStyle>
          <a:p>
            <a:r>
              <a:rPr lang="en-US"/>
              <a:t>Click icon to add picture</a:t>
            </a:r>
          </a:p>
        </p:txBody>
      </p:sp>
    </p:spTree>
    <p:extLst>
      <p:ext uri="{BB962C8B-B14F-4D97-AF65-F5344CB8AC3E}">
        <p14:creationId xmlns:p14="http://schemas.microsoft.com/office/powerpoint/2010/main" val="2870714974"/>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ark (Full Ble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0"/>
            <a:ext cx="14630400" cy="822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1"/>
            <a:ext cx="14630400" cy="82296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lvl1pPr>
              <a:defRPr>
                <a:solidFill>
                  <a:schemeClr val="bg1"/>
                </a:solidFill>
              </a:defRPr>
            </a:lvl1pPr>
          </a:lstStyle>
          <a:p>
            <a:r>
              <a:rPr lang="en-US"/>
              <a:t>Click to edit Master title style</a:t>
            </a:r>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Text Box 115">
            <a:extLst>
              <a:ext uri="{FF2B5EF4-FFF2-40B4-BE49-F238E27FC236}">
                <a16:creationId xmlns:a16="http://schemas.microsoft.com/office/drawing/2014/main" id="{966E7D02-A59E-D77B-34F9-177B59C8C7BD}"/>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9" name="Text Box 115">
            <a:extLst>
              <a:ext uri="{FF2B5EF4-FFF2-40B4-BE49-F238E27FC236}">
                <a16:creationId xmlns:a16="http://schemas.microsoft.com/office/drawing/2014/main" id="{C625C1F0-127F-73C3-7ADA-A6081E5BFC53}"/>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10" name="Union" descr="preencoded.png">
            <a:extLst>
              <a:ext uri="{FF2B5EF4-FFF2-40B4-BE49-F238E27FC236}">
                <a16:creationId xmlns:a16="http://schemas.microsoft.com/office/drawing/2014/main" id="{2E0A7C26-1063-DA8C-412A-967875A0E23D}"/>
              </a:ext>
            </a:extLst>
          </p:cNvPr>
          <p:cNvPicPr>
            <a:picLocks noChangeAspect="1"/>
          </p:cNvPicPr>
          <p:nvPr/>
        </p:nvPicPr>
        <p:blipFill>
          <a:blip r:embed="rId3"/>
          <a:srcRect/>
          <a:stretch/>
        </p:blipFill>
        <p:spPr>
          <a:xfrm>
            <a:off x="491014" y="228835"/>
            <a:ext cx="938212" cy="151929"/>
          </a:xfrm>
          <a:prstGeom prst="rect">
            <a:avLst/>
          </a:prstGeom>
        </p:spPr>
      </p:pic>
    </p:spTree>
    <p:extLst>
      <p:ext uri="{BB962C8B-B14F-4D97-AF65-F5344CB8AC3E}">
        <p14:creationId xmlns:p14="http://schemas.microsoft.com/office/powerpoint/2010/main" val="185724321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ark (Whit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609600"/>
            <a:ext cx="14630400" cy="7620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0"/>
            <a:ext cx="14630400" cy="8229600"/>
          </a:xfrm>
          <a:prstGeom prst="rect">
            <a:avLst/>
          </a:prstGeom>
        </p:spPr>
      </p:pic>
      <p:sp>
        <p:nvSpPr>
          <p:cNvPr id="6" name="Title Placeholder 1">
            <a:extLst>
              <a:ext uri="{FF2B5EF4-FFF2-40B4-BE49-F238E27FC236}">
                <a16:creationId xmlns:a16="http://schemas.microsoft.com/office/drawing/2014/main" id="{8C3C95B2-F331-1096-8717-06D4D9735AFA}"/>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lvl1pPr>
              <a:defRPr>
                <a:solidFill>
                  <a:schemeClr val="bg1"/>
                </a:solidFill>
              </a:defRPr>
            </a:lvl1pPr>
          </a:lstStyle>
          <a:p>
            <a:r>
              <a:rPr lang="en-US"/>
              <a:t>Click to edit Master title style</a:t>
            </a:r>
          </a:p>
        </p:txBody>
      </p:sp>
      <p:sp>
        <p:nvSpPr>
          <p:cNvPr id="7" name="Subtitle 2">
            <a:extLst>
              <a:ext uri="{FF2B5EF4-FFF2-40B4-BE49-F238E27FC236}">
                <a16:creationId xmlns:a16="http://schemas.microsoft.com/office/drawing/2014/main" id="{45D26464-8BF8-9643-D915-A91B6ECFC4E5}"/>
              </a:ext>
            </a:extLst>
          </p:cNvPr>
          <p:cNvSpPr>
            <a:spLocks noGrp="1"/>
          </p:cNvSpPr>
          <p:nvPr>
            <p:ph type="subTitle" idx="10" hasCustomPrompt="1"/>
          </p:nvPr>
        </p:nvSpPr>
        <p:spPr>
          <a:xfrm>
            <a:off x="466451" y="888296"/>
            <a:ext cx="4358641" cy="201337"/>
          </a:xfrm>
          <a:prstGeom prst="rect">
            <a:avLst/>
          </a:prstGeom>
        </p:spPr>
        <p:txBody>
          <a:bodyPr lIns="0" tIns="0" rIns="0" bIns="0" anchor="ctr" anchorCtr="0">
            <a:noAutofit/>
          </a:bodyPr>
          <a:lstStyle>
            <a:lvl1pPr marL="0" indent="0" algn="l">
              <a:spcBef>
                <a:spcPts val="0"/>
              </a:spcBef>
              <a:buNone/>
              <a:defRPr sz="1050" b="0" spc="0" baseline="0">
                <a:solidFill>
                  <a:schemeClr val="accent1"/>
                </a:solidFill>
                <a:latin typeface="Inter Medium" panose="02000603000000020004" pitchFamily="50" charset="0"/>
                <a:ea typeface="Inter Medium" panose="02000603000000020004" pitchFamily="50" charset="0"/>
                <a:cs typeface="Inter Medium" panose="02000603000000020004" pitchFamily="50" charset="0"/>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eyebrow text</a:t>
            </a:r>
          </a:p>
        </p:txBody>
      </p:sp>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363381536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22C44BC-E9BB-0137-5946-790004835E99}"/>
              </a:ext>
            </a:extLst>
          </p:cNvPr>
          <p:cNvSpPr/>
          <p:nvPr/>
        </p:nvSpPr>
        <p:spPr>
          <a:xfrm>
            <a:off x="0" y="0"/>
            <a:ext cx="14630400" cy="8229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3" name="HeaderMasthead" descr="preencoded.png">
            <a:extLst>
              <a:ext uri="{FF2B5EF4-FFF2-40B4-BE49-F238E27FC236}">
                <a16:creationId xmlns:a16="http://schemas.microsoft.com/office/drawing/2014/main" id="{12ACD87B-8699-6D24-5A7E-A8063B91C439}"/>
              </a:ext>
            </a:extLst>
          </p:cNvPr>
          <p:cNvPicPr>
            <a:picLocks noChangeAspect="1"/>
          </p:cNvPicPr>
          <p:nvPr/>
        </p:nvPicPr>
        <p:blipFill>
          <a:blip r:embed="rId2"/>
          <a:srcRect/>
          <a:stretch/>
        </p:blipFill>
        <p:spPr>
          <a:xfrm>
            <a:off x="0" y="0"/>
            <a:ext cx="14630400" cy="8229599"/>
          </a:xfrm>
          <a:prstGeom prst="rect">
            <a:avLst/>
          </a:prstGeom>
        </p:spPr>
      </p:pic>
      <p:sp>
        <p:nvSpPr>
          <p:cNvPr id="2" name="TextBox 1">
            <a:extLst>
              <a:ext uri="{FF2B5EF4-FFF2-40B4-BE49-F238E27FC236}">
                <a16:creationId xmlns:a16="http://schemas.microsoft.com/office/drawing/2014/main" id="{82B14BDC-01CE-3431-C0CE-A241E39ACE58}"/>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4" name="Footer Placeholder 4">
            <a:extLst>
              <a:ext uri="{FF2B5EF4-FFF2-40B4-BE49-F238E27FC236}">
                <a16:creationId xmlns:a16="http://schemas.microsoft.com/office/drawing/2014/main" id="{875C4041-222A-F69A-E9EC-1D6BBE6C387B}"/>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8" name="Content Placeholder 2">
            <a:extLst>
              <a:ext uri="{FF2B5EF4-FFF2-40B4-BE49-F238E27FC236}">
                <a16:creationId xmlns:a16="http://schemas.microsoft.com/office/drawing/2014/main" id="{255F7739-5F3D-DF4D-BE90-E2362F48ACE4}"/>
              </a:ext>
            </a:extLst>
          </p:cNvPr>
          <p:cNvSpPr>
            <a:spLocks noGrp="1"/>
          </p:cNvSpPr>
          <p:nvPr>
            <p:ph sz="half" idx="14"/>
          </p:nvPr>
        </p:nvSpPr>
        <p:spPr>
          <a:xfrm>
            <a:off x="3105150" y="2249752"/>
            <a:ext cx="11068048" cy="2655732"/>
          </a:xfrm>
          <a:prstGeom prst="rect">
            <a:avLst/>
          </a:prstGeom>
        </p:spPr>
        <p:txBody>
          <a:bodyPr>
            <a:noAutofit/>
          </a:bodyPr>
          <a:lstStyle>
            <a:lvl1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ts val="3600"/>
              </a:lnSpc>
              <a:spcBef>
                <a:spcPts val="600"/>
              </a:spcBef>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2pPr>
            <a:lvl3pPr marL="0" indent="0">
              <a:lnSpc>
                <a:spcPts val="36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3pPr>
            <a:lvl4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4pPr>
            <a:lvl5pPr marL="0" indent="0">
              <a:lnSpc>
                <a:spcPct val="100000"/>
              </a:lnSpc>
              <a:spcBef>
                <a:spcPts val="600"/>
              </a:spcBef>
              <a:buFont typeface="Arial" panose="020B0604020202020204" pitchFamily="34" charset="0"/>
              <a:buNone/>
              <a:defRPr sz="2800">
                <a:solidFill>
                  <a:schemeClr val="bg1"/>
                </a:solidFill>
                <a:latin typeface="Inter Light" panose="02000403000000020004" pitchFamily="50" charset="0"/>
                <a:ea typeface="Inter Light" panose="02000403000000020004" pitchFamily="50" charset="0"/>
                <a:cs typeface="Inter Light" panose="02000403000000020004" pitchFamily="50"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6C988E8C-D038-1253-4258-6D8D58C445FC}"/>
              </a:ext>
            </a:extLst>
          </p:cNvPr>
          <p:cNvSpPr>
            <a:spLocks noGrp="1"/>
          </p:cNvSpPr>
          <p:nvPr>
            <p:ph sz="half" idx="15" hasCustomPrompt="1"/>
          </p:nvPr>
        </p:nvSpPr>
        <p:spPr>
          <a:xfrm>
            <a:off x="4491036" y="5532949"/>
            <a:ext cx="7205663" cy="181534"/>
          </a:xfrm>
          <a:prstGeom prst="rect">
            <a:avLst/>
          </a:prstGeom>
        </p:spPr>
        <p:txBody>
          <a:bodyPr tIns="0" rIns="0" bIns="0">
            <a:noAutofit/>
          </a:bodyPr>
          <a:lstStyle>
            <a:lvl1pPr>
              <a:lnSpc>
                <a:spcPct val="100000"/>
              </a:lnSpc>
              <a:spcBef>
                <a:spcPts val="600"/>
              </a:spcBef>
              <a:defRPr sz="1200" cap="all" spc="160" baseline="0">
                <a:solidFill>
                  <a:schemeClr val="bg1"/>
                </a:solidFill>
                <a:latin typeface="GT Standard L Extended" pitchFamily="50" charset="0"/>
                <a:ea typeface="Inter SemiBold" panose="02000703000000020004" pitchFamily="50" charset="0"/>
                <a:cs typeface="Inter SemiBold" panose="020007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4" name="Content Placeholder 2">
            <a:extLst>
              <a:ext uri="{FF2B5EF4-FFF2-40B4-BE49-F238E27FC236}">
                <a16:creationId xmlns:a16="http://schemas.microsoft.com/office/drawing/2014/main" id="{8C6F164B-E08C-29C0-7C1E-2FD6BCE1ADDA}"/>
              </a:ext>
            </a:extLst>
          </p:cNvPr>
          <p:cNvSpPr>
            <a:spLocks noGrp="1"/>
          </p:cNvSpPr>
          <p:nvPr>
            <p:ph sz="half" idx="16" hasCustomPrompt="1"/>
          </p:nvPr>
        </p:nvSpPr>
        <p:spPr>
          <a:xfrm>
            <a:off x="4491037" y="5886416"/>
            <a:ext cx="7205663" cy="181534"/>
          </a:xfrm>
          <a:prstGeom prst="rect">
            <a:avLst/>
          </a:prstGeom>
        </p:spPr>
        <p:txBody>
          <a:bodyPr tIns="0" rIns="0" bIns="0">
            <a:noAutofit/>
          </a:bodyPr>
          <a:lstStyle>
            <a:lvl1pPr>
              <a:lnSpc>
                <a:spcPct val="100000"/>
              </a:lnSpc>
              <a:spcBef>
                <a:spcPts val="600"/>
              </a:spcBef>
              <a:defRPr sz="1200" cap="all" spc="160" baseline="0">
                <a:solidFill>
                  <a:schemeClr val="bg1"/>
                </a:solidFill>
                <a:latin typeface="Inter Light" panose="02000403000000020004" pitchFamily="50" charset="0"/>
                <a:ea typeface="Inter Light" panose="02000403000000020004" pitchFamily="50" charset="0"/>
                <a:cs typeface="Inter Light" panose="02000403000000020004" pitchFamily="50" charset="0"/>
              </a:defRPr>
            </a:lvl1pPr>
            <a:lvl2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2pPr>
            <a:lvl3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3pPr>
            <a:lvl4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4pPr>
            <a:lvl5pPr>
              <a:lnSpc>
                <a:spcPct val="100000"/>
              </a:lnSpc>
              <a:spcBef>
                <a:spcPts val="600"/>
              </a:spcBef>
              <a:defRPr sz="1600">
                <a:solidFill>
                  <a:schemeClr val="bg1"/>
                </a:solidFill>
                <a:latin typeface="Inter Regular" panose="020B0604020202020204" charset="0"/>
                <a:ea typeface="Inter Light" panose="02000403000000020004" pitchFamily="50" charset="0"/>
                <a:cs typeface="Inter Regular" panose="020B0604020202020204" charset="0"/>
              </a:defRPr>
            </a:lvl5pPr>
            <a:lvl6pPr>
              <a:defRPr sz="2000" baseline="0"/>
            </a:lvl6pPr>
            <a:lvl7pPr>
              <a:defRPr sz="2000" baseline="0"/>
            </a:lvl7pPr>
            <a:lvl8pPr>
              <a:defRPr sz="2000" baseline="0"/>
            </a:lvl8pPr>
            <a:lvl9pPr>
              <a:defRPr sz="2000" baseline="0"/>
            </a:lvl9pPr>
          </a:lstStyle>
          <a:p>
            <a:pPr lvl="0"/>
            <a:r>
              <a:rPr lang="en-US"/>
              <a:t>CLICK TO EDIT MASTER TEXT STYLES</a:t>
            </a:r>
          </a:p>
        </p:txBody>
      </p:sp>
      <p:sp>
        <p:nvSpPr>
          <p:cNvPr id="16" name="Picture Placeholder 8">
            <a:extLst>
              <a:ext uri="{FF2B5EF4-FFF2-40B4-BE49-F238E27FC236}">
                <a16:creationId xmlns:a16="http://schemas.microsoft.com/office/drawing/2014/main" id="{7C4B69D7-624C-1666-EA6E-6FA241A24892}"/>
              </a:ext>
            </a:extLst>
          </p:cNvPr>
          <p:cNvSpPr>
            <a:spLocks noGrp="1"/>
          </p:cNvSpPr>
          <p:nvPr>
            <p:ph type="pic" sz="quarter" idx="21"/>
          </p:nvPr>
        </p:nvSpPr>
        <p:spPr>
          <a:xfrm>
            <a:off x="3105149" y="5251736"/>
            <a:ext cx="1114425" cy="1114425"/>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7" name="Graphic 14">
            <a:extLst>
              <a:ext uri="{FF2B5EF4-FFF2-40B4-BE49-F238E27FC236}">
                <a16:creationId xmlns:a16="http://schemas.microsoft.com/office/drawing/2014/main" id="{289971B2-6DA5-08CA-F7E5-1172BD30B562}"/>
              </a:ext>
            </a:extLst>
          </p:cNvPr>
          <p:cNvSpPr/>
          <p:nvPr/>
        </p:nvSpPr>
        <p:spPr>
          <a:xfrm>
            <a:off x="1328946" y="2405533"/>
            <a:ext cx="1212117" cy="965628"/>
          </a:xfrm>
          <a:custGeom>
            <a:avLst/>
            <a:gdLst>
              <a:gd name="csX0" fmla="*/ 436380 w 1212117"/>
              <a:gd name="csY0" fmla="*/ 528071 h 965628"/>
              <a:gd name="csX1" fmla="*/ 187312 w 1212117"/>
              <a:gd name="csY1" fmla="*/ 528071 h 965628"/>
              <a:gd name="csX2" fmla="*/ 187312 w 1212117"/>
              <a:gd name="csY2" fmla="*/ 409448 h 965628"/>
              <a:gd name="csX3" fmla="*/ 425638 w 1212117"/>
              <a:gd name="csY3" fmla="*/ 172264 h 965628"/>
              <a:gd name="csX4" fmla="*/ 433264 w 1212117"/>
              <a:gd name="csY4" fmla="*/ 172213 h 965628"/>
              <a:gd name="csX5" fmla="*/ 483088 w 1212117"/>
              <a:gd name="csY5" fmla="*/ 172213 h 965628"/>
              <a:gd name="csX6" fmla="*/ 483088 w 1212117"/>
              <a:gd name="csY6" fmla="*/ 13007 h 965628"/>
              <a:gd name="csX7" fmla="*/ 427044 w 1212117"/>
              <a:gd name="csY7" fmla="*/ 13007 h 965628"/>
              <a:gd name="csX8" fmla="*/ 427044 w 1212117"/>
              <a:gd name="csY8" fmla="*/ 0 h 965628"/>
              <a:gd name="csX9" fmla="*/ 496060 w 1212117"/>
              <a:gd name="csY9" fmla="*/ 0 h 965628"/>
              <a:gd name="csX10" fmla="*/ 496060 w 1212117"/>
              <a:gd name="csY10" fmla="*/ 185220 h 965628"/>
              <a:gd name="csX11" fmla="*/ 433264 w 1212117"/>
              <a:gd name="csY11" fmla="*/ 185220 h 965628"/>
              <a:gd name="csX12" fmla="*/ 257797 w 1212117"/>
              <a:gd name="csY12" fmla="*/ 240893 h 965628"/>
              <a:gd name="csX13" fmla="*/ 200284 w 1212117"/>
              <a:gd name="csY13" fmla="*/ 409448 h 965628"/>
              <a:gd name="csX14" fmla="*/ 200284 w 1212117"/>
              <a:gd name="csY14" fmla="*/ 515065 h 965628"/>
              <a:gd name="csX15" fmla="*/ 449352 w 1212117"/>
              <a:gd name="csY15" fmla="*/ 515065 h 965628"/>
              <a:gd name="csX16" fmla="*/ 449352 w 1212117"/>
              <a:gd name="csY16" fmla="*/ 965628 h 965628"/>
              <a:gd name="csX17" fmla="*/ 0 w 1212117"/>
              <a:gd name="csY17" fmla="*/ 965628 h 965628"/>
              <a:gd name="csX18" fmla="*/ 0 w 1212117"/>
              <a:gd name="csY18" fmla="*/ 418822 h 965628"/>
              <a:gd name="csX19" fmla="*/ 106273 w 1212117"/>
              <a:gd name="csY19" fmla="*/ 113340 h 965628"/>
              <a:gd name="csX20" fmla="*/ 106337 w 1212117"/>
              <a:gd name="csY20" fmla="*/ 113263 h 965628"/>
              <a:gd name="csX21" fmla="*/ 106400 w 1212117"/>
              <a:gd name="csY21" fmla="*/ 113200 h 965628"/>
              <a:gd name="csX22" fmla="*/ 427044 w 1212117"/>
              <a:gd name="csY22" fmla="*/ 0 h 965628"/>
              <a:gd name="csX23" fmla="*/ 427044 w 1212117"/>
              <a:gd name="csY23" fmla="*/ 13007 h 965628"/>
              <a:gd name="csX24" fmla="*/ 414300 w 1212117"/>
              <a:gd name="csY24" fmla="*/ 13108 h 965628"/>
              <a:gd name="csX25" fmla="*/ 115711 w 1212117"/>
              <a:gd name="csY25" fmla="*/ 122256 h 965628"/>
              <a:gd name="csX26" fmla="*/ 109390 w 1212117"/>
              <a:gd name="csY26" fmla="*/ 129166 h 965628"/>
              <a:gd name="csX27" fmla="*/ 12972 w 1212117"/>
              <a:gd name="csY27" fmla="*/ 418822 h 965628"/>
              <a:gd name="csX28" fmla="*/ 12972 w 1212117"/>
              <a:gd name="csY28" fmla="*/ 952622 h 965628"/>
              <a:gd name="csX29" fmla="*/ 436380 w 1212117"/>
              <a:gd name="csY29" fmla="*/ 952622 h 965628"/>
              <a:gd name="csX30" fmla="*/ 436380 w 1212117"/>
              <a:gd name="csY30" fmla="*/ 528071 h 965628"/>
              <a:gd name="csX31" fmla="*/ 1152449 w 1212117"/>
              <a:gd name="csY31" fmla="*/ 528071 h 965628"/>
              <a:gd name="csX32" fmla="*/ 903380 w 1212117"/>
              <a:gd name="csY32" fmla="*/ 528071 h 965628"/>
              <a:gd name="csX33" fmla="*/ 903380 w 1212117"/>
              <a:gd name="csY33" fmla="*/ 409448 h 965628"/>
              <a:gd name="csX34" fmla="*/ 1141707 w 1212117"/>
              <a:gd name="csY34" fmla="*/ 172264 h 965628"/>
              <a:gd name="csX35" fmla="*/ 1149333 w 1212117"/>
              <a:gd name="csY35" fmla="*/ 172213 h 965628"/>
              <a:gd name="csX36" fmla="*/ 1199145 w 1212117"/>
              <a:gd name="csY36" fmla="*/ 172213 h 965628"/>
              <a:gd name="csX37" fmla="*/ 1199145 w 1212117"/>
              <a:gd name="csY37" fmla="*/ 13007 h 965628"/>
              <a:gd name="csX38" fmla="*/ 1143113 w 1212117"/>
              <a:gd name="csY38" fmla="*/ 13007 h 965628"/>
              <a:gd name="csX39" fmla="*/ 1143113 w 1212117"/>
              <a:gd name="csY39" fmla="*/ 0 h 965628"/>
              <a:gd name="csX40" fmla="*/ 1212117 w 1212117"/>
              <a:gd name="csY40" fmla="*/ 0 h 965628"/>
              <a:gd name="csX41" fmla="*/ 1212117 w 1212117"/>
              <a:gd name="csY41" fmla="*/ 185220 h 965628"/>
              <a:gd name="csX42" fmla="*/ 1149333 w 1212117"/>
              <a:gd name="csY42" fmla="*/ 185220 h 965628"/>
              <a:gd name="csX43" fmla="*/ 973866 w 1212117"/>
              <a:gd name="csY43" fmla="*/ 240893 h 965628"/>
              <a:gd name="csX44" fmla="*/ 916352 w 1212117"/>
              <a:gd name="csY44" fmla="*/ 409448 h 965628"/>
              <a:gd name="csX45" fmla="*/ 916352 w 1212117"/>
              <a:gd name="csY45" fmla="*/ 515065 h 965628"/>
              <a:gd name="csX46" fmla="*/ 1165421 w 1212117"/>
              <a:gd name="csY46" fmla="*/ 515065 h 965628"/>
              <a:gd name="csX47" fmla="*/ 1165421 w 1212117"/>
              <a:gd name="csY47" fmla="*/ 965628 h 965628"/>
              <a:gd name="csX48" fmla="*/ 716069 w 1212117"/>
              <a:gd name="csY48" fmla="*/ 965628 h 965628"/>
              <a:gd name="csX49" fmla="*/ 716069 w 1212117"/>
              <a:gd name="csY49" fmla="*/ 418822 h 965628"/>
              <a:gd name="csX50" fmla="*/ 822342 w 1212117"/>
              <a:gd name="csY50" fmla="*/ 113340 h 965628"/>
              <a:gd name="csX51" fmla="*/ 822406 w 1212117"/>
              <a:gd name="csY51" fmla="*/ 113263 h 965628"/>
              <a:gd name="csX52" fmla="*/ 822468 w 1212117"/>
              <a:gd name="csY52" fmla="*/ 113200 h 965628"/>
              <a:gd name="csX53" fmla="*/ 1143113 w 1212117"/>
              <a:gd name="csY53" fmla="*/ 0 h 965628"/>
              <a:gd name="csX54" fmla="*/ 1143113 w 1212117"/>
              <a:gd name="csY54" fmla="*/ 13007 h 965628"/>
              <a:gd name="csX55" fmla="*/ 1130369 w 1212117"/>
              <a:gd name="csY55" fmla="*/ 13108 h 965628"/>
              <a:gd name="csX56" fmla="*/ 831780 w 1212117"/>
              <a:gd name="csY56" fmla="*/ 122256 h 965628"/>
              <a:gd name="csX57" fmla="*/ 825458 w 1212117"/>
              <a:gd name="csY57" fmla="*/ 129166 h 965628"/>
              <a:gd name="csX58" fmla="*/ 729041 w 1212117"/>
              <a:gd name="csY58" fmla="*/ 418822 h 965628"/>
              <a:gd name="csX59" fmla="*/ 729041 w 1212117"/>
              <a:gd name="csY59" fmla="*/ 952622 h 965628"/>
              <a:gd name="csX60" fmla="*/ 1152449 w 1212117"/>
              <a:gd name="csY60" fmla="*/ 952622 h 965628"/>
              <a:gd name="csX61" fmla="*/ 1152449 w 1212117"/>
              <a:gd name="csY61" fmla="*/ 528071 h 9656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1212117" h="965628">
                <a:moveTo>
                  <a:pt x="436380" y="528071"/>
                </a:moveTo>
                <a:lnTo>
                  <a:pt x="187312" y="528071"/>
                </a:lnTo>
                <a:lnTo>
                  <a:pt x="187312" y="409448"/>
                </a:lnTo>
                <a:cubicBezTo>
                  <a:pt x="187312" y="253760"/>
                  <a:pt x="266758" y="174698"/>
                  <a:pt x="425638" y="172264"/>
                </a:cubicBezTo>
                <a:lnTo>
                  <a:pt x="433264" y="172213"/>
                </a:lnTo>
                <a:lnTo>
                  <a:pt x="483088" y="172213"/>
                </a:lnTo>
                <a:lnTo>
                  <a:pt x="483088" y="13007"/>
                </a:lnTo>
                <a:lnTo>
                  <a:pt x="427044" y="13007"/>
                </a:lnTo>
                <a:lnTo>
                  <a:pt x="427044" y="0"/>
                </a:lnTo>
                <a:lnTo>
                  <a:pt x="496060" y="0"/>
                </a:lnTo>
                <a:lnTo>
                  <a:pt x="496060" y="185220"/>
                </a:lnTo>
                <a:lnTo>
                  <a:pt x="433264" y="185220"/>
                </a:lnTo>
                <a:cubicBezTo>
                  <a:pt x="353159" y="185221"/>
                  <a:pt x="295484" y="204541"/>
                  <a:pt x="257797" y="240893"/>
                </a:cubicBezTo>
                <a:cubicBezTo>
                  <a:pt x="220205" y="277154"/>
                  <a:pt x="200284" y="332505"/>
                  <a:pt x="200284" y="409448"/>
                </a:cubicBezTo>
                <a:lnTo>
                  <a:pt x="200284" y="515065"/>
                </a:lnTo>
                <a:lnTo>
                  <a:pt x="449352" y="515065"/>
                </a:lnTo>
                <a:lnTo>
                  <a:pt x="449352" y="965628"/>
                </a:lnTo>
                <a:lnTo>
                  <a:pt x="0" y="965628"/>
                </a:lnTo>
                <a:lnTo>
                  <a:pt x="0" y="418822"/>
                </a:lnTo>
                <a:cubicBezTo>
                  <a:pt x="0" y="291498"/>
                  <a:pt x="34984" y="189152"/>
                  <a:pt x="106273" y="113340"/>
                </a:cubicBezTo>
                <a:lnTo>
                  <a:pt x="106337" y="113263"/>
                </a:lnTo>
                <a:lnTo>
                  <a:pt x="106400" y="113200"/>
                </a:lnTo>
                <a:cubicBezTo>
                  <a:pt x="180176" y="37051"/>
                  <a:pt x="287829" y="0"/>
                  <a:pt x="427044" y="0"/>
                </a:cubicBezTo>
                <a:lnTo>
                  <a:pt x="427044" y="13007"/>
                </a:lnTo>
                <a:lnTo>
                  <a:pt x="414300" y="13108"/>
                </a:lnTo>
                <a:cubicBezTo>
                  <a:pt x="283605" y="15313"/>
                  <a:pt x="184076" y="51696"/>
                  <a:pt x="115711" y="122256"/>
                </a:cubicBezTo>
                <a:lnTo>
                  <a:pt x="109390" y="129166"/>
                </a:lnTo>
                <a:cubicBezTo>
                  <a:pt x="45110" y="201304"/>
                  <a:pt x="12972" y="297859"/>
                  <a:pt x="12972" y="418822"/>
                </a:cubicBezTo>
                <a:lnTo>
                  <a:pt x="12972" y="952622"/>
                </a:lnTo>
                <a:lnTo>
                  <a:pt x="436380" y="952622"/>
                </a:lnTo>
                <a:lnTo>
                  <a:pt x="436380" y="528071"/>
                </a:lnTo>
                <a:close/>
                <a:moveTo>
                  <a:pt x="1152449" y="528071"/>
                </a:moveTo>
                <a:lnTo>
                  <a:pt x="903380" y="528071"/>
                </a:lnTo>
                <a:lnTo>
                  <a:pt x="903380" y="409448"/>
                </a:lnTo>
                <a:cubicBezTo>
                  <a:pt x="903381" y="253759"/>
                  <a:pt x="982824" y="174697"/>
                  <a:pt x="1141707" y="172264"/>
                </a:cubicBezTo>
                <a:lnTo>
                  <a:pt x="1149333" y="172213"/>
                </a:lnTo>
                <a:lnTo>
                  <a:pt x="1199145" y="172213"/>
                </a:lnTo>
                <a:lnTo>
                  <a:pt x="1199145" y="13007"/>
                </a:lnTo>
                <a:lnTo>
                  <a:pt x="1143113" y="13007"/>
                </a:lnTo>
                <a:lnTo>
                  <a:pt x="1143113" y="0"/>
                </a:lnTo>
                <a:lnTo>
                  <a:pt x="1212117" y="0"/>
                </a:lnTo>
                <a:lnTo>
                  <a:pt x="1212117" y="185220"/>
                </a:lnTo>
                <a:lnTo>
                  <a:pt x="1149333" y="185220"/>
                </a:lnTo>
                <a:cubicBezTo>
                  <a:pt x="1069227" y="185221"/>
                  <a:pt x="1011554" y="204541"/>
                  <a:pt x="973866" y="240893"/>
                </a:cubicBezTo>
                <a:cubicBezTo>
                  <a:pt x="936273" y="277154"/>
                  <a:pt x="916353" y="332504"/>
                  <a:pt x="916352" y="409448"/>
                </a:cubicBezTo>
                <a:lnTo>
                  <a:pt x="916352" y="515065"/>
                </a:lnTo>
                <a:lnTo>
                  <a:pt x="1165421" y="515065"/>
                </a:lnTo>
                <a:lnTo>
                  <a:pt x="1165421" y="965628"/>
                </a:lnTo>
                <a:lnTo>
                  <a:pt x="716069" y="965628"/>
                </a:lnTo>
                <a:lnTo>
                  <a:pt x="716069" y="418822"/>
                </a:lnTo>
                <a:cubicBezTo>
                  <a:pt x="716069" y="291498"/>
                  <a:pt x="751052" y="189152"/>
                  <a:pt x="822342" y="113340"/>
                </a:cubicBezTo>
                <a:lnTo>
                  <a:pt x="822406" y="113263"/>
                </a:lnTo>
                <a:lnTo>
                  <a:pt x="822468" y="113200"/>
                </a:lnTo>
                <a:cubicBezTo>
                  <a:pt x="896245" y="37051"/>
                  <a:pt x="1003897" y="0"/>
                  <a:pt x="1143113" y="0"/>
                </a:cubicBezTo>
                <a:lnTo>
                  <a:pt x="1143113" y="13007"/>
                </a:lnTo>
                <a:lnTo>
                  <a:pt x="1130369" y="13108"/>
                </a:lnTo>
                <a:cubicBezTo>
                  <a:pt x="999674" y="15313"/>
                  <a:pt x="900144" y="51696"/>
                  <a:pt x="831780" y="122256"/>
                </a:cubicBezTo>
                <a:lnTo>
                  <a:pt x="825458" y="129166"/>
                </a:lnTo>
                <a:cubicBezTo>
                  <a:pt x="761178" y="201304"/>
                  <a:pt x="729041" y="297857"/>
                  <a:pt x="729041" y="418822"/>
                </a:cubicBezTo>
                <a:lnTo>
                  <a:pt x="729041" y="952622"/>
                </a:lnTo>
                <a:lnTo>
                  <a:pt x="1152449" y="952622"/>
                </a:lnTo>
                <a:lnTo>
                  <a:pt x="1152449" y="528071"/>
                </a:lnTo>
                <a:close/>
              </a:path>
            </a:pathLst>
          </a:custGeom>
          <a:solidFill>
            <a:schemeClr val="accent5"/>
          </a:solidFill>
          <a:ln w="12970" cap="flat">
            <a:noFill/>
            <a:prstDash val="solid"/>
            <a:miter/>
          </a:ln>
        </p:spPr>
        <p:txBody>
          <a:bodyPr/>
          <a:lstStyle/>
          <a:p>
            <a:endParaRPr lang="en-DE">
              <a:solidFill>
                <a:schemeClr val="accent4"/>
              </a:solidFill>
              <a:latin typeface="Inter" panose="02000503000000020004" pitchFamily="50" charset="0"/>
            </a:endParaRPr>
          </a:p>
        </p:txBody>
      </p:sp>
      <p:sp>
        <p:nvSpPr>
          <p:cNvPr id="6" name="Text Box 115">
            <a:extLst>
              <a:ext uri="{FF2B5EF4-FFF2-40B4-BE49-F238E27FC236}">
                <a16:creationId xmlns:a16="http://schemas.microsoft.com/office/drawing/2014/main" id="{A048D12D-29DD-D8DF-D0A4-9A36FD29DDFF}"/>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sp>
        <p:nvSpPr>
          <p:cNvPr id="7" name="Text Box 115">
            <a:extLst>
              <a:ext uri="{FF2B5EF4-FFF2-40B4-BE49-F238E27FC236}">
                <a16:creationId xmlns:a16="http://schemas.microsoft.com/office/drawing/2014/main" id="{E3E80215-1A0C-AEE9-21D0-C1DFF761BE47}"/>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bg1"/>
                </a:solidFill>
                <a:latin typeface="Inter Bold"/>
                <a:ea typeface="Inter Bold"/>
              </a:rPr>
              <a:pPr algn="r" defTabSz="525272">
                <a:spcBef>
                  <a:spcPts val="0"/>
                </a:spcBef>
              </a:pPr>
              <a:t>‹#›</a:t>
            </a:fld>
            <a:endParaRPr lang="en-US" sz="900" b="1">
              <a:solidFill>
                <a:schemeClr val="bg1"/>
              </a:solidFill>
              <a:latin typeface="Inter Bold"/>
              <a:ea typeface="Inter Bold"/>
            </a:endParaRPr>
          </a:p>
        </p:txBody>
      </p:sp>
      <p:pic>
        <p:nvPicPr>
          <p:cNvPr id="9" name="Union" descr="preencoded.png">
            <a:extLst>
              <a:ext uri="{FF2B5EF4-FFF2-40B4-BE49-F238E27FC236}">
                <a16:creationId xmlns:a16="http://schemas.microsoft.com/office/drawing/2014/main" id="{84A28516-F244-E772-2F22-00C058D757CA}"/>
              </a:ext>
            </a:extLst>
          </p:cNvPr>
          <p:cNvPicPr>
            <a:picLocks noChangeAspect="1"/>
          </p:cNvPicPr>
          <p:nvPr/>
        </p:nvPicPr>
        <p:blipFill>
          <a:blip r:embed="rId3"/>
          <a:srcRect/>
          <a:stretch/>
        </p:blipFill>
        <p:spPr>
          <a:xfrm>
            <a:off x="491014" y="228835"/>
            <a:ext cx="938212" cy="151929"/>
          </a:xfrm>
          <a:prstGeom prst="rect">
            <a:avLst/>
          </a:prstGeom>
        </p:spPr>
      </p:pic>
    </p:spTree>
    <p:extLst>
      <p:ext uri="{BB962C8B-B14F-4D97-AF65-F5344CB8AC3E}">
        <p14:creationId xmlns:p14="http://schemas.microsoft.com/office/powerpoint/2010/main" val="15867556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28104F-AAE6-B720-6AA2-9965E47FA0B2}"/>
              </a:ext>
            </a:extLst>
          </p:cNvPr>
          <p:cNvSpPr/>
          <p:nvPr/>
        </p:nvSpPr>
        <p:spPr>
          <a:xfrm>
            <a:off x="0" y="481693"/>
            <a:ext cx="14630400" cy="7747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11" name="Picture Placeholder 8">
            <a:extLst>
              <a:ext uri="{FF2B5EF4-FFF2-40B4-BE49-F238E27FC236}">
                <a16:creationId xmlns:a16="http://schemas.microsoft.com/office/drawing/2014/main" id="{542B0A81-49C8-FCE9-4620-D42F33FDA286}"/>
              </a:ext>
            </a:extLst>
          </p:cNvPr>
          <p:cNvSpPr>
            <a:spLocks noGrp="1"/>
          </p:cNvSpPr>
          <p:nvPr>
            <p:ph type="pic" sz="quarter" idx="16"/>
          </p:nvPr>
        </p:nvSpPr>
        <p:spPr>
          <a:xfrm>
            <a:off x="276099" y="619732"/>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2" name="Picture Placeholder 8">
            <a:extLst>
              <a:ext uri="{FF2B5EF4-FFF2-40B4-BE49-F238E27FC236}">
                <a16:creationId xmlns:a16="http://schemas.microsoft.com/office/drawing/2014/main" id="{821B71CE-FC70-2F19-3188-ACCD0DB193BC}"/>
              </a:ext>
            </a:extLst>
          </p:cNvPr>
          <p:cNvSpPr>
            <a:spLocks noGrp="1"/>
          </p:cNvSpPr>
          <p:nvPr>
            <p:ph type="pic" sz="quarter" idx="17"/>
          </p:nvPr>
        </p:nvSpPr>
        <p:spPr>
          <a:xfrm>
            <a:off x="3141219" y="619733"/>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3" name="Picture Placeholder 8">
            <a:extLst>
              <a:ext uri="{FF2B5EF4-FFF2-40B4-BE49-F238E27FC236}">
                <a16:creationId xmlns:a16="http://schemas.microsoft.com/office/drawing/2014/main" id="{29D4AFB4-FC0D-A2B9-7EC1-DD4D7717C96B}"/>
              </a:ext>
            </a:extLst>
          </p:cNvPr>
          <p:cNvSpPr>
            <a:spLocks noGrp="1"/>
          </p:cNvSpPr>
          <p:nvPr>
            <p:ph type="pic" sz="quarter" idx="18"/>
          </p:nvPr>
        </p:nvSpPr>
        <p:spPr>
          <a:xfrm>
            <a:off x="276099" y="4248149"/>
            <a:ext cx="2649981" cy="3435958"/>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4" name="Picture Placeholder 8">
            <a:extLst>
              <a:ext uri="{FF2B5EF4-FFF2-40B4-BE49-F238E27FC236}">
                <a16:creationId xmlns:a16="http://schemas.microsoft.com/office/drawing/2014/main" id="{DEF1DFB8-BC9A-B59F-8B8A-BC5D1016A388}"/>
              </a:ext>
            </a:extLst>
          </p:cNvPr>
          <p:cNvSpPr>
            <a:spLocks noGrp="1"/>
          </p:cNvSpPr>
          <p:nvPr>
            <p:ph type="pic" sz="quarter" idx="19"/>
          </p:nvPr>
        </p:nvSpPr>
        <p:spPr>
          <a:xfrm>
            <a:off x="3141219" y="4248150"/>
            <a:ext cx="2649981" cy="3435958"/>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5" name="Picture Placeholder 8">
            <a:extLst>
              <a:ext uri="{FF2B5EF4-FFF2-40B4-BE49-F238E27FC236}">
                <a16:creationId xmlns:a16="http://schemas.microsoft.com/office/drawing/2014/main" id="{6C11F13A-F960-0FFA-2F9F-71D30C7E6C91}"/>
              </a:ext>
            </a:extLst>
          </p:cNvPr>
          <p:cNvSpPr>
            <a:spLocks noGrp="1"/>
          </p:cNvSpPr>
          <p:nvPr>
            <p:ph type="pic" sz="quarter" idx="20"/>
          </p:nvPr>
        </p:nvSpPr>
        <p:spPr>
          <a:xfrm>
            <a:off x="5981701" y="619732"/>
            <a:ext cx="5524500" cy="7064375"/>
          </a:xfrm>
          <a:prstGeom prst="roundRect">
            <a:avLst>
              <a:gd name="adj" fmla="val 2349"/>
            </a:avLst>
          </a:prstGeom>
          <a:noFill/>
        </p:spPr>
        <p:txBody>
          <a:bodyPr anchor="ctr" anchorCtr="0">
            <a:normAutofit/>
          </a:bodyPr>
          <a:lstStyle>
            <a:lvl1pPr algn="ctr">
              <a:defRPr sz="1600" b="0"/>
            </a:lvl1pPr>
          </a:lstStyle>
          <a:p>
            <a:r>
              <a:rPr lang="en-US"/>
              <a:t>Click icon to add picture</a:t>
            </a:r>
          </a:p>
        </p:txBody>
      </p:sp>
      <p:sp>
        <p:nvSpPr>
          <p:cNvPr id="16" name="Picture Placeholder 8">
            <a:extLst>
              <a:ext uri="{FF2B5EF4-FFF2-40B4-BE49-F238E27FC236}">
                <a16:creationId xmlns:a16="http://schemas.microsoft.com/office/drawing/2014/main" id="{C9AEF74C-2790-BA06-A268-BE5922DA3620}"/>
              </a:ext>
            </a:extLst>
          </p:cNvPr>
          <p:cNvSpPr>
            <a:spLocks noGrp="1"/>
          </p:cNvSpPr>
          <p:nvPr>
            <p:ph type="pic" sz="quarter" idx="21"/>
          </p:nvPr>
        </p:nvSpPr>
        <p:spPr>
          <a:xfrm>
            <a:off x="11696700" y="619733"/>
            <a:ext cx="2649981" cy="3409342"/>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17" name="Picture Placeholder 8">
            <a:extLst>
              <a:ext uri="{FF2B5EF4-FFF2-40B4-BE49-F238E27FC236}">
                <a16:creationId xmlns:a16="http://schemas.microsoft.com/office/drawing/2014/main" id="{72D46F34-3342-C2E2-018B-2A1814EC730C}"/>
              </a:ext>
            </a:extLst>
          </p:cNvPr>
          <p:cNvSpPr>
            <a:spLocks noGrp="1"/>
          </p:cNvSpPr>
          <p:nvPr>
            <p:ph type="pic" sz="quarter" idx="22"/>
          </p:nvPr>
        </p:nvSpPr>
        <p:spPr>
          <a:xfrm>
            <a:off x="11696700" y="4248149"/>
            <a:ext cx="2649981" cy="3435959"/>
          </a:xfrm>
          <a:prstGeom prst="roundRect">
            <a:avLst>
              <a:gd name="adj" fmla="val 5813"/>
            </a:avLst>
          </a:prstGeom>
          <a:noFill/>
        </p:spPr>
        <p:txBody>
          <a:bodyPr anchor="ctr" anchorCtr="0">
            <a:normAutofit/>
          </a:bodyPr>
          <a:lstStyle>
            <a:lvl1pPr algn="ctr">
              <a:defRPr sz="1600" b="0"/>
            </a:lvl1pPr>
          </a:lstStyle>
          <a:p>
            <a:r>
              <a:rPr lang="en-US"/>
              <a:t>Click icon to add picture</a:t>
            </a:r>
          </a:p>
        </p:txBody>
      </p:sp>
      <p:sp>
        <p:nvSpPr>
          <p:cNvPr id="2" name="TextBox 1">
            <a:extLst>
              <a:ext uri="{FF2B5EF4-FFF2-40B4-BE49-F238E27FC236}">
                <a16:creationId xmlns:a16="http://schemas.microsoft.com/office/drawing/2014/main" id="{07C06C4B-AD0F-177E-920A-CFF3206E0714}"/>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3" name="Footer Placeholder 4">
            <a:extLst>
              <a:ext uri="{FF2B5EF4-FFF2-40B4-BE49-F238E27FC236}">
                <a16:creationId xmlns:a16="http://schemas.microsoft.com/office/drawing/2014/main" id="{59879712-D34B-145B-F968-944F6414925F}"/>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3074512584"/>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Canva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p:nvSpPr>
        <p:spPr>
          <a:xfrm>
            <a:off x="0" y="0"/>
            <a:ext cx="14630400" cy="579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Tree>
    <p:extLst>
      <p:ext uri="{BB962C8B-B14F-4D97-AF65-F5344CB8AC3E}">
        <p14:creationId xmlns:p14="http://schemas.microsoft.com/office/powerpoint/2010/main" val="2483335728"/>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08022F-70F3-0023-FA21-49EBA8DE9FA0}"/>
              </a:ext>
            </a:extLst>
          </p:cNvPr>
          <p:cNvSpPr/>
          <p:nvPr/>
        </p:nvSpPr>
        <p:spPr>
          <a:xfrm>
            <a:off x="0" y="0"/>
            <a:ext cx="14630400" cy="822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sp>
        <p:nvSpPr>
          <p:cNvPr id="5" name="TextBox 4">
            <a:extLst>
              <a:ext uri="{FF2B5EF4-FFF2-40B4-BE49-F238E27FC236}">
                <a16:creationId xmlns:a16="http://schemas.microsoft.com/office/drawing/2014/main" id="{8624D140-B4EA-E7E0-18A8-B7D83155FBFC}"/>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6" name="Footer Placeholder 4">
            <a:extLst>
              <a:ext uri="{FF2B5EF4-FFF2-40B4-BE49-F238E27FC236}">
                <a16:creationId xmlns:a16="http://schemas.microsoft.com/office/drawing/2014/main" id="{858E8F88-DA2A-1D8C-C16A-A27EE17F1733}"/>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spTree>
    <p:extLst>
      <p:ext uri="{BB962C8B-B14F-4D97-AF65-F5344CB8AC3E}">
        <p14:creationId xmlns:p14="http://schemas.microsoft.com/office/powerpoint/2010/main" val="2016356879"/>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4630400" cy="82296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p:nvSpPr>
        <p:spPr>
          <a:xfrm>
            <a:off x="0" y="0"/>
            <a:ext cx="14630400" cy="82296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pic>
        <p:nvPicPr>
          <p:cNvPr id="14" name="Union" descr="preencoded.png">
            <a:extLst>
              <a:ext uri="{FF2B5EF4-FFF2-40B4-BE49-F238E27FC236}">
                <a16:creationId xmlns:a16="http://schemas.microsoft.com/office/drawing/2014/main" id="{EA16ED0D-CB25-EA45-6EB2-9A86149AB4A7}"/>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0" y="2922270"/>
            <a:ext cx="14630400" cy="2385060"/>
          </a:xfrm>
          <a:prstGeom prst="rect">
            <a:avLst/>
          </a:prstGeom>
        </p:spPr>
      </p:pic>
      <p:sp>
        <p:nvSpPr>
          <p:cNvPr id="3" name="TextBox 2">
            <a:extLst>
              <a:ext uri="{FF2B5EF4-FFF2-40B4-BE49-F238E27FC236}">
                <a16:creationId xmlns:a16="http://schemas.microsoft.com/office/drawing/2014/main" id="{AF589ECB-9023-389E-E7EE-1285853BDEB5}"/>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sp>
        <p:nvSpPr>
          <p:cNvPr id="6" name="TextBox 5">
            <a:extLst>
              <a:ext uri="{FF2B5EF4-FFF2-40B4-BE49-F238E27FC236}">
                <a16:creationId xmlns:a16="http://schemas.microsoft.com/office/drawing/2014/main" id="{5711374D-BA4A-0EF5-3894-069B57DF8D2A}"/>
              </a:ext>
            </a:extLst>
          </p:cNvPr>
          <p:cNvSpPr txBox="1"/>
          <p:nvPr/>
        </p:nvSpPr>
        <p:spPr>
          <a:xfrm>
            <a:off x="267231" y="7989116"/>
            <a:ext cx="297125" cy="123111"/>
          </a:xfrm>
          <a:prstGeom prst="rect">
            <a:avLst/>
          </a:prstGeom>
          <a:noFill/>
        </p:spPr>
        <p:txBody>
          <a:bodyPr wrap="square" lIns="0" tIns="0" rIns="0" bIns="0">
            <a:spAutoFit/>
          </a:bodyPr>
          <a:lstStyle/>
          <a:p>
            <a:pPr algn="l"/>
            <a:r>
              <a:rPr lang="en-US" sz="800" b="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195659968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losing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501907-F4B6-0B68-11B4-BFBE267DA6BB}"/>
              </a:ext>
            </a:extLst>
          </p:cNvPr>
          <p:cNvSpPr/>
          <p:nvPr/>
        </p:nvSpPr>
        <p:spPr>
          <a:xfrm>
            <a:off x="0" y="0"/>
            <a:ext cx="14630400" cy="8229600"/>
          </a:xfrm>
          <a:prstGeom prst="rect">
            <a:avLst/>
          </a:prstGeom>
          <a:solidFill>
            <a:srgbClr val="0E102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2" name="Rectangle 1">
            <a:extLst>
              <a:ext uri="{FF2B5EF4-FFF2-40B4-BE49-F238E27FC236}">
                <a16:creationId xmlns:a16="http://schemas.microsoft.com/office/drawing/2014/main" id="{1FA1C404-616A-0398-E1D5-7C7002338054}"/>
              </a:ext>
            </a:extLst>
          </p:cNvPr>
          <p:cNvSpPr/>
          <p:nvPr/>
        </p:nvSpPr>
        <p:spPr>
          <a:xfrm>
            <a:off x="0" y="0"/>
            <a:ext cx="14630400" cy="8229600"/>
          </a:xfrm>
          <a:prstGeom prst="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Inter" panose="02000503000000020004" pitchFamily="50" charset="0"/>
              <a:ea typeface="+mn-ea"/>
              <a:cs typeface="+mn-cs"/>
            </a:endParaRPr>
          </a:p>
        </p:txBody>
      </p:sp>
      <p:sp>
        <p:nvSpPr>
          <p:cNvPr id="3" name="TextBox 2">
            <a:extLst>
              <a:ext uri="{FF2B5EF4-FFF2-40B4-BE49-F238E27FC236}">
                <a16:creationId xmlns:a16="http://schemas.microsoft.com/office/drawing/2014/main" id="{AF589ECB-9023-389E-E7EE-1285853BDEB5}"/>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6D6D6D"/>
                </a:solidFill>
                <a:latin typeface="Inter" panose="02000503000000020004" pitchFamily="50" charset="0"/>
                <a:cs typeface="Inter" panose="02000503000000020004" pitchFamily="50" charset="0"/>
              </a:rPr>
              <a:t>DXC Internal</a:t>
            </a:r>
          </a:p>
        </p:txBody>
      </p:sp>
      <p:sp>
        <p:nvSpPr>
          <p:cNvPr id="5" name="Footer Placeholder 4">
            <a:extLst>
              <a:ext uri="{FF2B5EF4-FFF2-40B4-BE49-F238E27FC236}">
                <a16:creationId xmlns:a16="http://schemas.microsoft.com/office/drawing/2014/main" id="{3F2D46D9-B686-7E94-2205-17D8ADEA3502}"/>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bg1"/>
                </a:solidFill>
                <a:latin typeface="Inter" panose="02000503000000020004" pitchFamily="50" charset="0"/>
                <a:cs typeface="Inter" panose="02000503000000020004" pitchFamily="50" charset="0"/>
              </a:rPr>
              <a:t>© </a:t>
            </a:r>
            <a:fld id="{C0650B53-F5B1-403A-BD70-58B7AE2589AD}" type="datetimeyyyy">
              <a:rPr lang="en-US" sz="850" smtClean="0">
                <a:solidFill>
                  <a:schemeClr val="bg1"/>
                </a:solidFill>
                <a:latin typeface="Inter" panose="02000503000000020004" pitchFamily="50" charset="0"/>
                <a:cs typeface="Inter" panose="02000503000000020004" pitchFamily="50" charset="0"/>
              </a:rPr>
              <a:pPr algn="r"/>
              <a:t>2026</a:t>
            </a:fld>
            <a:r>
              <a:rPr lang="en-US" sz="850">
                <a:solidFill>
                  <a:schemeClr val="bg1"/>
                </a:solidFill>
                <a:latin typeface="Inter" panose="02000503000000020004" pitchFamily="50" charset="0"/>
                <a:cs typeface="Inter" panose="02000503000000020004" pitchFamily="50" charset="0"/>
              </a:rPr>
              <a:t> DXC Technology Company. All rights reserved.</a:t>
            </a:r>
          </a:p>
        </p:txBody>
      </p:sp>
      <p:pic>
        <p:nvPicPr>
          <p:cNvPr id="13" name="Picture 12">
            <a:extLst>
              <a:ext uri="{FF2B5EF4-FFF2-40B4-BE49-F238E27FC236}">
                <a16:creationId xmlns:a16="http://schemas.microsoft.com/office/drawing/2014/main" id="{E3CF4D50-45C8-DA6C-C9B8-13ED37CF32EA}"/>
              </a:ext>
            </a:extLst>
          </p:cNvPr>
          <p:cNvPicPr>
            <a:picLocks noChangeAspect="1"/>
          </p:cNvPicPr>
          <p:nvPr/>
        </p:nvPicPr>
        <p:blipFill>
          <a:blip r:embed="rId2"/>
          <a:stretch>
            <a:fillRect/>
          </a:stretch>
        </p:blipFill>
        <p:spPr>
          <a:xfrm>
            <a:off x="3429000" y="2677810"/>
            <a:ext cx="7772400" cy="2873980"/>
          </a:xfrm>
          <a:prstGeom prst="rect">
            <a:avLst/>
          </a:prstGeom>
        </p:spPr>
      </p:pic>
      <p:sp>
        <p:nvSpPr>
          <p:cNvPr id="6" name="TextBox 5">
            <a:extLst>
              <a:ext uri="{FF2B5EF4-FFF2-40B4-BE49-F238E27FC236}">
                <a16:creationId xmlns:a16="http://schemas.microsoft.com/office/drawing/2014/main" id="{34CDDA3C-197F-4DFB-CFBA-4D8F92B01B89}"/>
              </a:ext>
            </a:extLst>
          </p:cNvPr>
          <p:cNvSpPr txBox="1"/>
          <p:nvPr/>
        </p:nvSpPr>
        <p:spPr>
          <a:xfrm>
            <a:off x="267231" y="7989116"/>
            <a:ext cx="297125" cy="123111"/>
          </a:xfrm>
          <a:prstGeom prst="rect">
            <a:avLst/>
          </a:prstGeom>
          <a:noFill/>
        </p:spPr>
        <p:txBody>
          <a:bodyPr wrap="square" lIns="0" tIns="0" rIns="0" bIns="0">
            <a:spAutoFit/>
          </a:bodyPr>
          <a:lstStyle/>
          <a:p>
            <a:pPr algn="l"/>
            <a:r>
              <a:rPr lang="en-US" sz="800" b="0">
                <a:solidFill>
                  <a:schemeClr val="tx1">
                    <a:lumMod val="75000"/>
                    <a:lumOff val="25000"/>
                  </a:schemeClr>
                </a:solidFill>
                <a:latin typeface="Inter" panose="02000503000000020004" pitchFamily="50" charset="0"/>
                <a:cs typeface="Inter" panose="02000503000000020004" pitchFamily="50" charset="0"/>
              </a:rPr>
              <a:t>v01 </a:t>
            </a:r>
          </a:p>
        </p:txBody>
      </p:sp>
    </p:spTree>
    <p:extLst>
      <p:ext uri="{BB962C8B-B14F-4D97-AF65-F5344CB8AC3E}">
        <p14:creationId xmlns:p14="http://schemas.microsoft.com/office/powerpoint/2010/main" val="227552038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69B77A6-51DB-A275-1E8D-9C0DB96B9B2E}"/>
              </a:ext>
            </a:extLst>
          </p:cNvPr>
          <p:cNvSpPr/>
          <p:nvPr/>
        </p:nvSpPr>
        <p:spPr>
          <a:xfrm>
            <a:off x="0" y="609600"/>
            <a:ext cx="14630400" cy="7620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50" charset="0"/>
            </a:endParaRPr>
          </a:p>
        </p:txBody>
      </p:sp>
      <p:pic>
        <p:nvPicPr>
          <p:cNvPr id="11" name="HeaderMasthead" descr="preencoded.png">
            <a:extLst>
              <a:ext uri="{FF2B5EF4-FFF2-40B4-BE49-F238E27FC236}">
                <a16:creationId xmlns:a16="http://schemas.microsoft.com/office/drawing/2014/main" id="{7AD18B85-66FF-545C-62C1-1AA3E2F607F2}"/>
              </a:ext>
            </a:extLst>
          </p:cNvPr>
          <p:cNvPicPr>
            <a:picLocks noChangeAspect="1"/>
          </p:cNvPicPr>
          <p:nvPr/>
        </p:nvPicPr>
        <p:blipFill>
          <a:blip r:embed="rId31"/>
          <a:srcRect t="7407"/>
          <a:stretch>
            <a:fillRect/>
          </a:stretch>
        </p:blipFill>
        <p:spPr>
          <a:xfrm>
            <a:off x="0" y="639763"/>
            <a:ext cx="14630400" cy="7620000"/>
          </a:xfrm>
          <a:prstGeom prst="rect">
            <a:avLst/>
          </a:prstGeom>
          <a:solidFill>
            <a:srgbClr val="F6F3F0"/>
          </a:solidFill>
        </p:spPr>
      </p:pic>
      <p:sp>
        <p:nvSpPr>
          <p:cNvPr id="8" name="Text Box 115">
            <a:extLst>
              <a:ext uri="{FF2B5EF4-FFF2-40B4-BE49-F238E27FC236}">
                <a16:creationId xmlns:a16="http://schemas.microsoft.com/office/drawing/2014/main" id="{E509171D-D1E5-AC55-9CA5-72DEBB6700FA}"/>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sp>
        <p:nvSpPr>
          <p:cNvPr id="6" name="Text Box 115">
            <a:extLst>
              <a:ext uri="{FF2B5EF4-FFF2-40B4-BE49-F238E27FC236}">
                <a16:creationId xmlns:a16="http://schemas.microsoft.com/office/drawing/2014/main" id="{57FED08E-39F8-715B-3405-179C34F64955}"/>
              </a:ext>
            </a:extLst>
          </p:cNvPr>
          <p:cNvSpPr txBox="1">
            <a:spLocks noChangeArrowheads="1"/>
          </p:cNvSpPr>
          <p:nvPr/>
        </p:nvSpPr>
        <p:spPr bwMode="auto">
          <a:xfrm>
            <a:off x="14116937" y="209246"/>
            <a:ext cx="263347" cy="175565"/>
          </a:xfrm>
          <a:prstGeom prst="rect">
            <a:avLst/>
          </a:prstGeom>
          <a:noFill/>
          <a:ln w="9525">
            <a:noFill/>
            <a:miter lim="800000"/>
            <a:headEnd/>
            <a:tailEnd/>
          </a:ln>
          <a:effectLst/>
        </p:spPr>
        <p:txBody>
          <a:bodyPr wrap="square" lIns="0" tIns="0" rIns="0" bIns="0" anchor="ctr" anchorCtr="0">
            <a:noAutofit/>
          </a:bodyPr>
          <a:lstStyle/>
          <a:p>
            <a:pPr algn="r" defTabSz="525272">
              <a:spcBef>
                <a:spcPts val="0"/>
              </a:spcBef>
            </a:pPr>
            <a:fld id="{18E29826-F105-4F77-B977-03F4A4723A21}" type="slidenum">
              <a:rPr lang="en-US" sz="900" b="1" smtClean="0">
                <a:solidFill>
                  <a:schemeClr val="tx1"/>
                </a:solidFill>
                <a:latin typeface="Inter Bold"/>
                <a:ea typeface="Inter Bold"/>
              </a:rPr>
              <a:pPr algn="r" defTabSz="525272">
                <a:spcBef>
                  <a:spcPts val="0"/>
                </a:spcBef>
              </a:pPr>
              <a:t>‹#›</a:t>
            </a:fld>
            <a:endParaRPr lang="en-US" sz="900" b="1">
              <a:solidFill>
                <a:schemeClr val="tx1"/>
              </a:solidFill>
              <a:latin typeface="Inter Bold"/>
              <a:ea typeface="Inter Bold"/>
            </a:endParaRPr>
          </a:p>
        </p:txBody>
      </p:sp>
      <p:pic>
        <p:nvPicPr>
          <p:cNvPr id="12" name="Union" descr="preencoded.png">
            <a:extLst>
              <a:ext uri="{FF2B5EF4-FFF2-40B4-BE49-F238E27FC236}">
                <a16:creationId xmlns:a16="http://schemas.microsoft.com/office/drawing/2014/main" id="{4FB38D83-98DA-D85F-B63C-1565BED26FC5}"/>
              </a:ext>
            </a:extLst>
          </p:cNvPr>
          <p:cNvPicPr>
            <a:picLocks noChangeAspect="1"/>
          </p:cNvPicPr>
          <p:nvPr/>
        </p:nvPicPr>
        <p:blipFill>
          <a:blip r:embed="rId32"/>
          <a:srcRect/>
          <a:stretch/>
        </p:blipFill>
        <p:spPr>
          <a:xfrm>
            <a:off x="491014" y="228835"/>
            <a:ext cx="938212" cy="151929"/>
          </a:xfrm>
          <a:prstGeom prst="rect">
            <a:avLst/>
          </a:prstGeom>
        </p:spPr>
      </p:pic>
      <p:sp>
        <p:nvSpPr>
          <p:cNvPr id="14" name="Title Placeholder 1">
            <a:extLst>
              <a:ext uri="{FF2B5EF4-FFF2-40B4-BE49-F238E27FC236}">
                <a16:creationId xmlns:a16="http://schemas.microsoft.com/office/drawing/2014/main" id="{9954F591-DD1D-779B-F521-4357971A48C6}"/>
              </a:ext>
            </a:extLst>
          </p:cNvPr>
          <p:cNvSpPr>
            <a:spLocks noGrp="1"/>
          </p:cNvSpPr>
          <p:nvPr>
            <p:ph type="title"/>
          </p:nvPr>
        </p:nvSpPr>
        <p:spPr>
          <a:xfrm>
            <a:off x="484187" y="1305919"/>
            <a:ext cx="13689011" cy="1097280"/>
          </a:xfrm>
          <a:prstGeom prst="rect">
            <a:avLst/>
          </a:prstGeom>
        </p:spPr>
        <p:txBody>
          <a:bodyPr vert="horz" lIns="0" tIns="0" rIns="0" bIns="0" rtlCol="0" anchor="t" anchorCtr="0">
            <a:noAutofit/>
          </a:bodyPr>
          <a:lstStyle/>
          <a:p>
            <a:r>
              <a:rPr lang="en-US"/>
              <a:t>Click to edit Master title style</a:t>
            </a:r>
          </a:p>
        </p:txBody>
      </p:sp>
      <p:sp>
        <p:nvSpPr>
          <p:cNvPr id="2" name="Text Placeholder 2">
            <a:extLst>
              <a:ext uri="{FF2B5EF4-FFF2-40B4-BE49-F238E27FC236}">
                <a16:creationId xmlns:a16="http://schemas.microsoft.com/office/drawing/2014/main" id="{078D71ED-9D19-C6F9-2CB5-DED660B9BBAE}"/>
              </a:ext>
            </a:extLst>
          </p:cNvPr>
          <p:cNvSpPr>
            <a:spLocks noGrp="1"/>
          </p:cNvSpPr>
          <p:nvPr>
            <p:ph type="body" idx="1"/>
          </p:nvPr>
        </p:nvSpPr>
        <p:spPr>
          <a:xfrm>
            <a:off x="484188" y="2506980"/>
            <a:ext cx="13689012" cy="5162551"/>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8F1740BB-194C-8CB0-E91C-E0A8396C52B4}"/>
              </a:ext>
            </a:extLst>
          </p:cNvPr>
          <p:cNvSpPr txBox="1"/>
          <p:nvPr/>
        </p:nvSpPr>
        <p:spPr>
          <a:xfrm>
            <a:off x="12008591" y="7985760"/>
            <a:ext cx="2354579" cy="123111"/>
          </a:xfrm>
          <a:prstGeom prst="rect">
            <a:avLst/>
          </a:prstGeom>
          <a:noFill/>
        </p:spPr>
        <p:txBody>
          <a:bodyPr wrap="square" lIns="0" tIns="0" rIns="0" bIns="0">
            <a:spAutoFit/>
          </a:bodyPr>
          <a:lstStyle/>
          <a:p>
            <a:pPr algn="r"/>
            <a:r>
              <a:rPr lang="en-US" sz="800" b="0">
                <a:solidFill>
                  <a:srgbClr val="B4B0AC"/>
                </a:solidFill>
                <a:latin typeface="Inter" panose="02000503000000020004" pitchFamily="50" charset="0"/>
                <a:cs typeface="Inter" panose="02000503000000020004" pitchFamily="50" charset="0"/>
              </a:rPr>
              <a:t>DXC Internal</a:t>
            </a:r>
          </a:p>
        </p:txBody>
      </p:sp>
      <p:sp>
        <p:nvSpPr>
          <p:cNvPr id="13" name="Footer Placeholder 4">
            <a:extLst>
              <a:ext uri="{FF2B5EF4-FFF2-40B4-BE49-F238E27FC236}">
                <a16:creationId xmlns:a16="http://schemas.microsoft.com/office/drawing/2014/main" id="{DD39F452-F205-21C0-5578-B7519A84CA15}"/>
              </a:ext>
            </a:extLst>
          </p:cNvPr>
          <p:cNvSpPr txBox="1">
            <a:spLocks/>
          </p:cNvSpPr>
          <p:nvPr/>
        </p:nvSpPr>
        <p:spPr>
          <a:xfrm>
            <a:off x="11296392" y="7788274"/>
            <a:ext cx="3066778" cy="17526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50">
                <a:solidFill>
                  <a:schemeClr val="tx1"/>
                </a:solidFill>
                <a:latin typeface="Inter" panose="02000503000000020004" pitchFamily="50" charset="0"/>
                <a:cs typeface="Inter" panose="02000503000000020004" pitchFamily="50" charset="0"/>
              </a:rPr>
              <a:t>© </a:t>
            </a:r>
            <a:fld id="{C0650B53-F5B1-403A-BD70-58B7AE2589AD}" type="datetimeyyyy">
              <a:rPr lang="en-US" sz="850" smtClean="0">
                <a:solidFill>
                  <a:schemeClr val="tx1"/>
                </a:solidFill>
                <a:latin typeface="Inter" panose="02000503000000020004" pitchFamily="50" charset="0"/>
                <a:cs typeface="Inter" panose="02000503000000020004" pitchFamily="50" charset="0"/>
              </a:rPr>
              <a:pPr algn="r"/>
              <a:t>2026</a:t>
            </a:fld>
            <a:r>
              <a:rPr lang="en-US" sz="850">
                <a:solidFill>
                  <a:schemeClr val="tx1"/>
                </a:solidFill>
                <a:latin typeface="Inter" panose="02000503000000020004" pitchFamily="50" charset="0"/>
                <a:cs typeface="Inter" panose="02000503000000020004" pitchFamily="50" charset="0"/>
              </a:rPr>
              <a:t> DXC Technology Company. All rights reserved.</a:t>
            </a:r>
          </a:p>
        </p:txBody>
      </p:sp>
      <p:grpSp>
        <p:nvGrpSpPr>
          <p:cNvPr id="4" name="Group 3">
            <a:extLst>
              <a:ext uri="{FF2B5EF4-FFF2-40B4-BE49-F238E27FC236}">
                <a16:creationId xmlns:a16="http://schemas.microsoft.com/office/drawing/2014/main" id="{F48242A9-9030-9BB8-FC00-BFF74862ABD3}"/>
              </a:ext>
            </a:extLst>
          </p:cNvPr>
          <p:cNvGrpSpPr/>
          <p:nvPr userDrawn="1"/>
        </p:nvGrpSpPr>
        <p:grpSpPr>
          <a:xfrm>
            <a:off x="-91440" y="-91440"/>
            <a:ext cx="14813280" cy="8412480"/>
            <a:chOff x="-91440" y="-91440"/>
            <a:chExt cx="14813280" cy="8412480"/>
          </a:xfrm>
        </p:grpSpPr>
        <p:cxnSp>
          <p:nvCxnSpPr>
            <p:cNvPr id="5" name="Straight Connector 4">
              <a:extLst>
                <a:ext uri="{FF2B5EF4-FFF2-40B4-BE49-F238E27FC236}">
                  <a16:creationId xmlns:a16="http://schemas.microsoft.com/office/drawing/2014/main" id="{561733B6-5D5C-C664-B53C-90E002F19136}"/>
                </a:ext>
              </a:extLst>
            </p:cNvPr>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2F5D06-0441-A161-456F-AC0EE1772689}"/>
                </a:ext>
              </a:extLst>
            </p:cNvPr>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2DB3B46-761F-4FA5-24BF-8E5B07F5BF87}"/>
                </a:ext>
              </a:extLst>
            </p:cNvPr>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CCB415D-F19D-72CD-2CD2-295D5607D3B9}"/>
                </a:ext>
              </a:extLst>
            </p:cNvPr>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19BCD32-09AB-CD28-9F40-68E308715234}"/>
                </a:ext>
              </a:extLst>
            </p:cNvPr>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88667CB-50E3-E01E-E284-05C1918A482D}"/>
                </a:ext>
              </a:extLst>
            </p:cNvPr>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2F58340-ACB3-0775-728C-E9FFA2BFFFB8}"/>
                </a:ext>
              </a:extLst>
            </p:cNvPr>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79F10C6-25EA-BAEE-9756-8275AB7CB4F5}"/>
                </a:ext>
              </a:extLst>
            </p:cNvPr>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CC430A9-1D51-D131-E402-0F29BE4780F4}"/>
                </a:ext>
              </a:extLst>
            </p:cNvPr>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9AD62CA-C5D2-C1E4-09CC-4A015C1B5878}"/>
                </a:ext>
              </a:extLst>
            </p:cNvPr>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AD2B660-A116-5882-4877-7CD56E7AE815}"/>
                </a:ext>
              </a:extLst>
            </p:cNvPr>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E468359-C05E-1D74-AFF9-062C2DF56D3C}"/>
                </a:ext>
              </a:extLst>
            </p:cNvPr>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22D6E6F-E0F7-C0D4-C5EB-8A0C1218EC9E}"/>
                </a:ext>
              </a:extLst>
            </p:cNvPr>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802C991-0818-CACE-3AA2-6D4AB17447C1}"/>
                </a:ext>
              </a:extLst>
            </p:cNvPr>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340081E-3F81-7894-7122-B62C0A7FE73C}"/>
                </a:ext>
              </a:extLst>
            </p:cNvPr>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6561427-C9D6-5123-8650-0B33E0DCECEC}"/>
                </a:ext>
              </a:extLst>
            </p:cNvPr>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C1BC940-1633-51B1-1111-D317A91D2808}"/>
                </a:ext>
              </a:extLst>
            </p:cNvPr>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FADAB61-0CDC-A51B-15CB-8A739928F48A}"/>
                </a:ext>
              </a:extLst>
            </p:cNvPr>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8F5729A-CE0A-155B-A97B-B1B51AF172F3}"/>
                </a:ext>
              </a:extLst>
            </p:cNvPr>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DEE29EC-BA45-85FC-25EE-4A05EC5F3809}"/>
                </a:ext>
              </a:extLst>
            </p:cNvPr>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F57017F-CE8E-9582-38C4-60BB8CD62655}"/>
                </a:ext>
              </a:extLst>
            </p:cNvPr>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05E88CF-2727-F898-D7C9-72C9D62D0A8C}"/>
                </a:ext>
              </a:extLst>
            </p:cNvPr>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72DD274-8D12-1A3D-2F05-074ACD5BA48E}"/>
                </a:ext>
              </a:extLst>
            </p:cNvPr>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3A4B883-34F2-CBE8-BF63-2308AC7A8D5B}"/>
                </a:ext>
              </a:extLst>
            </p:cNvPr>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997B1EB-3BA3-C8A2-CFE2-C0BDF9434A85}"/>
                </a:ext>
              </a:extLst>
            </p:cNvPr>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9E749D36-75E6-E536-36DF-4ABF681E597B}"/>
                </a:ext>
              </a:extLst>
            </p:cNvPr>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0251DB7-60DD-7EA0-6084-969EE694C558}"/>
                </a:ext>
              </a:extLst>
            </p:cNvPr>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937057B-7C1F-0724-386A-96ECCF0DDED4}"/>
                </a:ext>
              </a:extLst>
            </p:cNvPr>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2" name="Text Box 115">
            <a:extLst>
              <a:ext uri="{FF2B5EF4-FFF2-40B4-BE49-F238E27FC236}">
                <a16:creationId xmlns:a16="http://schemas.microsoft.com/office/drawing/2014/main" id="{5DA53D0E-D562-3F29-B867-C57D6490A58D}"/>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sp>
        <p:nvSpPr>
          <p:cNvPr id="44" name="TextBox 43">
            <a:extLst>
              <a:ext uri="{FF2B5EF4-FFF2-40B4-BE49-F238E27FC236}">
                <a16:creationId xmlns:a16="http://schemas.microsoft.com/office/drawing/2014/main" id="{8EDCDE2C-4193-18CC-6BB2-11DCAF01E4DF}"/>
              </a:ext>
            </a:extLst>
          </p:cNvPr>
          <p:cNvSpPr txBox="1"/>
          <p:nvPr userDrawn="1"/>
        </p:nvSpPr>
        <p:spPr>
          <a:xfrm>
            <a:off x="6137910" y="7868126"/>
            <a:ext cx="2354579" cy="215444"/>
          </a:xfrm>
          <a:prstGeom prst="rect">
            <a:avLst/>
          </a:prstGeom>
          <a:noFill/>
        </p:spPr>
        <p:txBody>
          <a:bodyPr wrap="square">
            <a:spAutoFit/>
          </a:bodyPr>
          <a:lstStyle/>
          <a:p>
            <a:pPr algn="ctr"/>
            <a:r>
              <a:rPr lang="en-US" sz="800" b="1"/>
              <a:t>DXC Internal</a:t>
            </a:r>
          </a:p>
        </p:txBody>
      </p:sp>
      <p:grpSp>
        <p:nvGrpSpPr>
          <p:cNvPr id="46" name="Group 45">
            <a:extLst>
              <a:ext uri="{FF2B5EF4-FFF2-40B4-BE49-F238E27FC236}">
                <a16:creationId xmlns:a16="http://schemas.microsoft.com/office/drawing/2014/main" id="{DF1ADE89-069A-8A8F-6198-6D41C00D8F7A}"/>
              </a:ext>
            </a:extLst>
          </p:cNvPr>
          <p:cNvGrpSpPr/>
          <p:nvPr userDrawn="1"/>
        </p:nvGrpSpPr>
        <p:grpSpPr>
          <a:xfrm>
            <a:off x="1546698" y="171495"/>
            <a:ext cx="5390580" cy="316648"/>
            <a:chOff x="1546698" y="171495"/>
            <a:chExt cx="5390580" cy="316648"/>
          </a:xfrm>
        </p:grpSpPr>
        <p:pic>
          <p:nvPicPr>
            <p:cNvPr id="47" name="Graphic 46">
              <a:extLst>
                <a:ext uri="{FF2B5EF4-FFF2-40B4-BE49-F238E27FC236}">
                  <a16:creationId xmlns:a16="http://schemas.microsoft.com/office/drawing/2014/main" id="{CCEA3DB3-193D-8E5A-6D58-983FE037FE97}"/>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1546698" y="171495"/>
              <a:ext cx="1428120" cy="266627"/>
            </a:xfrm>
            <a:prstGeom prst="rect">
              <a:avLst/>
            </a:prstGeom>
          </p:spPr>
        </p:pic>
        <p:sp>
          <p:nvSpPr>
            <p:cNvPr id="48" name="COMPANY OVERVIEW">
              <a:extLst>
                <a:ext uri="{FF2B5EF4-FFF2-40B4-BE49-F238E27FC236}">
                  <a16:creationId xmlns:a16="http://schemas.microsoft.com/office/drawing/2014/main" id="{6BDD72A1-BF94-CB03-4E93-B32C6AC55826}"/>
                </a:ext>
              </a:extLst>
            </p:cNvPr>
            <p:cNvSpPr/>
            <p:nvPr userDrawn="1"/>
          </p:nvSpPr>
          <p:spPr>
            <a:xfrm>
              <a:off x="2171700" y="274378"/>
              <a:ext cx="4765578" cy="213765"/>
            </a:xfrm>
            <a:prstGeom prst="rect">
              <a:avLst/>
            </a:prstGeom>
            <a:noFill/>
            <a:ln/>
          </p:spPr>
          <p:txBody>
            <a:bodyPr wrap="square" lIns="0" tIns="0" rIns="0" bIns="0" rtlCol="0" anchor="t"/>
            <a:lstStyle/>
            <a:p>
              <a:pPr marL="0" indent="0" algn="ctr">
                <a:lnSpc>
                  <a:spcPts val="1020"/>
                </a:lnSpc>
                <a:buNone/>
              </a:pPr>
              <a:r>
                <a:rPr lang="en-US" sz="1400" b="0" kern="0" cap="all" spc="168" baseline="0" dirty="0">
                  <a:solidFill>
                    <a:schemeClr val="tx1"/>
                  </a:solidFill>
                  <a:latin typeface="GT Standard L Extended" pitchFamily="2" charset="0"/>
                  <a:ea typeface="Inter" panose="02000503000000020004" pitchFamily="50" charset="0"/>
                  <a:cs typeface="Inter" panose="02000503000000020004" pitchFamily="50" charset="0"/>
                </a:rPr>
                <a:t>Process Framework</a:t>
              </a:r>
              <a:endParaRPr lang="en-US" sz="1400" b="0" cap="all" baseline="0" dirty="0">
                <a:solidFill>
                  <a:schemeClr val="tx1"/>
                </a:solidFill>
                <a:latin typeface="GT Standard L Extended" pitchFamily="2" charset="0"/>
                <a:ea typeface="Inter" panose="02000503000000020004" pitchFamily="50" charset="0"/>
                <a:cs typeface="Inter" panose="02000503000000020004" pitchFamily="50" charset="0"/>
              </a:endParaRPr>
            </a:p>
          </p:txBody>
        </p:sp>
      </p:grpSp>
    </p:spTree>
    <p:extLst>
      <p:ext uri="{BB962C8B-B14F-4D97-AF65-F5344CB8AC3E}">
        <p14:creationId xmlns:p14="http://schemas.microsoft.com/office/powerpoint/2010/main" val="815949018"/>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74" r:id="rId3"/>
    <p:sldLayoutId id="2147483975" r:id="rId4"/>
    <p:sldLayoutId id="2147483976" r:id="rId5"/>
    <p:sldLayoutId id="2147483978" r:id="rId6"/>
    <p:sldLayoutId id="2147483980" r:id="rId7"/>
    <p:sldLayoutId id="2147483951" r:id="rId8"/>
    <p:sldLayoutId id="2147483953" r:id="rId9"/>
    <p:sldLayoutId id="2147483954" r:id="rId10"/>
    <p:sldLayoutId id="2147483955" r:id="rId11"/>
    <p:sldLayoutId id="2147483956" r:id="rId12"/>
    <p:sldLayoutId id="2147483957" r:id="rId13"/>
    <p:sldLayoutId id="2147483958" r:id="rId14"/>
    <p:sldLayoutId id="2147483959" r:id="rId15"/>
    <p:sldLayoutId id="2147483960" r:id="rId16"/>
    <p:sldLayoutId id="2147483961" r:id="rId17"/>
    <p:sldLayoutId id="2147483962" r:id="rId18"/>
    <p:sldLayoutId id="2147483963" r:id="rId19"/>
    <p:sldLayoutId id="2147483964" r:id="rId20"/>
    <p:sldLayoutId id="2147483965" r:id="rId21"/>
    <p:sldLayoutId id="2147483966" r:id="rId22"/>
    <p:sldLayoutId id="2147483967" r:id="rId23"/>
    <p:sldLayoutId id="2147483968" r:id="rId24"/>
    <p:sldLayoutId id="2147483969" r:id="rId25"/>
    <p:sldLayoutId id="2147483970" r:id="rId26"/>
    <p:sldLayoutId id="2147483971" r:id="rId27"/>
    <p:sldLayoutId id="2147483972" r:id="rId28"/>
    <p:sldLayoutId id="2147483973"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097280" rtl="0" eaLnBrk="1" latinLnBrk="0" hangingPunct="1">
        <a:lnSpc>
          <a:spcPct val="90000"/>
        </a:lnSpc>
        <a:spcBef>
          <a:spcPct val="0"/>
        </a:spcBef>
        <a:buNone/>
        <a:defRPr sz="3600" kern="1200" cap="all" baseline="0">
          <a:solidFill>
            <a:schemeClr val="tx1"/>
          </a:solidFill>
          <a:latin typeface="GT Standard L Extended" pitchFamily="50" charset="0"/>
          <a:ea typeface="Inter Medium" panose="02000603000000020004" pitchFamily="50" charset="0"/>
          <a:cs typeface="Inter Medium" panose="02000603000000020004" pitchFamily="50" charset="0"/>
        </a:defRPr>
      </a:lvl1pPr>
    </p:titleStyle>
    <p:bodyStyle>
      <a:lvl1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1pPr>
      <a:lvl2pPr marL="0" indent="0" algn="l" defTabSz="1097280" rtl="0" eaLnBrk="1" latinLnBrk="0" hangingPunct="1">
        <a:lnSpc>
          <a:spcPct val="100000"/>
        </a:lnSpc>
        <a:spcBef>
          <a:spcPts val="600"/>
        </a:spcBef>
        <a:spcAft>
          <a:spcPts val="400"/>
        </a:spcAft>
        <a:buFont typeface="Arial" panose="020B0604020202020204" pitchFamily="34" charset="0"/>
        <a:buNone/>
        <a:defRPr sz="16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2pPr>
      <a:lvl3pPr marL="228600" indent="-22860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3pPr>
      <a:lvl4pPr marL="517525" indent="-288925"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4pPr>
      <a:lvl5pPr marL="800100" indent="-273050" algn="l" defTabSz="1097280" rtl="0" eaLnBrk="1" latinLnBrk="0" hangingPunct="1">
        <a:lnSpc>
          <a:spcPct val="100000"/>
        </a:lnSpc>
        <a:spcBef>
          <a:spcPts val="600"/>
        </a:spcBef>
        <a:spcAft>
          <a:spcPts val="400"/>
        </a:spcAft>
        <a:buFont typeface="Arial" panose="020B0604020202020204" pitchFamily="34" charset="0"/>
        <a:buChar char="–"/>
        <a:defRPr sz="1400" kern="1200">
          <a:solidFill>
            <a:schemeClr val="tx1"/>
          </a:solidFill>
          <a:latin typeface="Inter Light" panose="02000403000000020004" pitchFamily="50" charset="0"/>
          <a:ea typeface="Inter Light" panose="02000403000000020004" pitchFamily="50" charset="0"/>
          <a:cs typeface="Inter Light" panose="02000403000000020004" pitchFamily="50"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4" pos="8928">
          <p15:clr>
            <a:srgbClr val="F26B43"/>
          </p15:clr>
        </p15:guide>
        <p15:guide id="5" orient="horz" pos="384">
          <p15:clr>
            <a:srgbClr val="F26B43"/>
          </p15:clr>
        </p15:guide>
        <p15:guide id="6" orient="horz" pos="5034">
          <p15:clr>
            <a:srgbClr val="F26B43"/>
          </p15:clr>
        </p15:guide>
        <p15:guide id="7" pos="288">
          <p15:clr>
            <a:srgbClr val="F26B43"/>
          </p15:clr>
        </p15:guide>
        <p15:guide id="8" pos="1836">
          <p15:clr>
            <a:srgbClr val="F26B43"/>
          </p15:clr>
        </p15:guide>
        <p15:guide id="9" pos="1956">
          <p15:clr>
            <a:srgbClr val="F26B43"/>
          </p15:clr>
        </p15:guide>
        <p15:guide id="10" pos="3648">
          <p15:clr>
            <a:srgbClr val="F26B43"/>
          </p15:clr>
        </p15:guide>
        <p15:guide id="11" pos="3768">
          <p15:clr>
            <a:srgbClr val="F26B43"/>
          </p15:clr>
        </p15:guide>
        <p15:guide id="12" pos="5448">
          <p15:clr>
            <a:srgbClr val="F26B43"/>
          </p15:clr>
        </p15:guide>
        <p15:guide id="13" pos="5568">
          <p15:clr>
            <a:srgbClr val="F26B43"/>
          </p15:clr>
        </p15:guide>
        <p15:guide id="14" pos="7248">
          <p15:clr>
            <a:srgbClr val="F26B43"/>
          </p15:clr>
        </p15:guide>
        <p15:guide id="15" pos="7368">
          <p15:clr>
            <a:srgbClr val="F26B43"/>
          </p15:clr>
        </p15:guide>
        <p15:guide id="16" pos="168">
          <p15:clr>
            <a:srgbClr val="F26B43"/>
          </p15:clr>
        </p15:guide>
        <p15:guide id="17" pos="9048">
          <p15:clr>
            <a:srgbClr val="F26B43"/>
          </p15:clr>
        </p15:guide>
        <p15:guide id="18" orient="horz" pos="4848">
          <p15:clr>
            <a:srgbClr val="F26B43"/>
          </p15:clr>
        </p15:guide>
        <p15:guide id="19" orient="horz" pos="403" userDrawn="1">
          <p15:clr>
            <a:srgbClr val="F26B43"/>
          </p15:clr>
        </p15:guide>
        <p15:guide id="20" pos="4608" userDrawn="1">
          <p15:clr>
            <a:srgbClr val="F26B43"/>
          </p15:clr>
        </p15:guide>
        <p15:guide id="21" pos="432" userDrawn="1">
          <p15:clr>
            <a:srgbClr val="F26B43"/>
          </p15:clr>
        </p15:guide>
        <p15:guide id="22" pos="3024" userDrawn="1">
          <p15:clr>
            <a:srgbClr val="F26B43"/>
          </p15:clr>
        </p15:guide>
        <p15:guide id="23" pos="3312" userDrawn="1">
          <p15:clr>
            <a:srgbClr val="F26B43"/>
          </p15:clr>
        </p15:guide>
        <p15:guide id="24" pos="4464" userDrawn="1">
          <p15:clr>
            <a:srgbClr val="F26B43"/>
          </p15:clr>
        </p15:guide>
        <p15:guide id="25" pos="4752" userDrawn="1">
          <p15:clr>
            <a:srgbClr val="F26B43"/>
          </p15:clr>
        </p15:guide>
        <p15:guide id="26" pos="5904" userDrawn="1">
          <p15:clr>
            <a:srgbClr val="F26B43"/>
          </p15:clr>
        </p15:guide>
        <p15:guide id="27" pos="6192" userDrawn="1">
          <p15:clr>
            <a:srgbClr val="F26B43"/>
          </p15:clr>
        </p15:guide>
        <p15:guide id="28" pos="7488" userDrawn="1">
          <p15:clr>
            <a:srgbClr val="F26B43"/>
          </p15:clr>
        </p15:guide>
        <p15:guide id="29" pos="8784" userDrawn="1">
          <p15:clr>
            <a:srgbClr val="F26B43"/>
          </p15:clr>
        </p15:guide>
        <p15:guide id="30" orient="horz" pos="1296" userDrawn="1">
          <p15:clr>
            <a:srgbClr val="F26B43"/>
          </p15:clr>
        </p15:guide>
        <p15:guide id="31" orient="horz" pos="4522" userDrawn="1">
          <p15:clr>
            <a:srgbClr val="F26B43"/>
          </p15:clr>
        </p15:guide>
        <p15:guide id="32"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blog/changelog/2026-09-10-control-github-actions-cache-access-with-cache-mode/"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docs.github.com/actions/reference/workflows-and-actions/workflow-syntax#cache-mode"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blog/changelog/2026-09-10-control-github-actions-cache-access-with-cache-mode/"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eandorsett/dxc-actions-office-hour/blob/main/.github/workflows/demo-1-before.yml"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github.com/seandorsett/dxc-actions-office-hour/blob/main/.github/workflows/demo-1-after.y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blog/changelog/2026-09-17-workflow-execution-protections-in-github-actions-generally-available/"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docs.github.com/en/rest/actions/policies"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eandorsett/dxc-actions-office-hour/blob/main/.github/workflows/demo-2-before.yml"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github.com/seandorsett/dxc-actions-office-hour/blob/main/.github/workflows/demo-2-after.y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blog/changelog/2026-09-24-expired-github-actions-artifacts-no-longer-shown-in-ui-and-api/"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blog/changelog/2026-09-24-expired-github-actions-artifacts-no-longer-shown-in-ui-and-api/"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eandorsett/dxc-actions-office-hour/blob/main/.github/workflows/demo-3-before.yml"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github.com/seandorsett/dxc-actions-office-hour/blob/main/.github/workflows/demo-3-after.y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blog/changelog/2026-09-25-changes-to-query-results-in-the-github-actions-api-and-ui/"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ithub.com/rest/actions/workflow-runs#list-workflow-runs-for-a-repository"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eandorsett/dxc-actions-office-hour/blob/main/.github/workflows/demo-4-before.yml"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s://github.com/seandorsett/dxc-actions-office-hour/blob/main/.github/workflows/demo-4-after.y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blog/changelog/2026-09-28-self-hosted-runner-version-enforcement-date-has-moved/"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eandorsett/dxc-actions-office-hour/blob/main/.github/workflows/demo-5-before.yml"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github.com/seandorsett/dxc-actions-office-hour/blob/main/.github/workflows/demo-5-after.y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blog/changelog/2026-09-10-control-github-actions-cache-access-with-cache-mode/" TargetMode="External"/><Relationship Id="rId7" Type="http://schemas.openxmlformats.org/officeDocument/2006/relationships/hyperlink" Target="https://github.blog/changelog/2026-09-28-self-hosted-runner-version-enforcement-date-has-moved/"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github.blog/changelog/2026-09-25-changes-to-query-results-in-the-github-actions-api-and-ui/" TargetMode="External"/><Relationship Id="rId5" Type="http://schemas.openxmlformats.org/officeDocument/2006/relationships/hyperlink" Target="https://github.blog/changelog/2026-09-24-expired-github-actions-artifacts-no-longer-shown-in-ui-and-api/" TargetMode="External"/><Relationship Id="rId4" Type="http://schemas.openxmlformats.org/officeDocument/2006/relationships/hyperlink" Target="https://github.blog/changelog/2026-09-17-workflow-execution-protections-in-github-actions-generally-available/"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github.blog/changelog/2026-09-03-github-actions-early-september-2026-updates/#new-rest-api-for-runner-version-deprecations" TargetMode="External"/><Relationship Id="rId3" Type="http://schemas.openxmlformats.org/officeDocument/2006/relationships/hyperlink" Target="https://docs.github.com/actions/reference/workflows-and-actions/workflow-syntax#cache-mode" TargetMode="External"/><Relationship Id="rId7" Type="http://schemas.openxmlformats.org/officeDocument/2006/relationships/hyperlink" Target="https://docs.github.com/rest/actions/workflow-runs#list-workflow-runs-for-a-repository"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hyperlink" Target="https://docs.github.com/en/rest/actions/policies" TargetMode="External"/><Relationship Id="rId5" Type="http://schemas.openxmlformats.org/officeDocument/2006/relationships/hyperlink" Target="https://docs.github.com/en/actions/how-tos/administer/control-workflow-execution" TargetMode="External"/><Relationship Id="rId4" Type="http://schemas.openxmlformats.org/officeDocument/2006/relationships/hyperlink" Target="https://docs.github.com/en/actions/concepts/about-actions-policies"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mailto:%20edge.support@dxc.com?subject=Question%20related%20to%20EDGE" TargetMode="External"/><Relationship Id="rId3" Type="http://schemas.openxmlformats.org/officeDocument/2006/relationships/hyperlink" Target="https://teams.microsoft.com/l/channel/19%3a473936464b894722bf3bcd3e127b349f%40thread.skype/Quick%2520Videos?groupId=7229348b-6752-4a49-a8b9-4de7ae27876f&amp;tenantId=93f33571-550f-43cf-b09f-cd331338d086" TargetMode="External"/><Relationship Id="rId7" Type="http://schemas.openxmlformats.org/officeDocument/2006/relationships/hyperlink" Target="https://dxcportal.sharepoint.com/sites/edge/SitePages/EDGE-FAQ.aspx" TargetMode="External"/><Relationship Id="rId2" Type="http://schemas.openxmlformats.org/officeDocument/2006/relationships/hyperlink" Target="https://dxcportal.sharepoint.com/sites/edgeims/SitePages/EDGE-Video-Library.aspx" TargetMode="External"/><Relationship Id="rId1" Type="http://schemas.openxmlformats.org/officeDocument/2006/relationships/slideLayout" Target="../slideLayouts/slideLayout7.xml"/><Relationship Id="rId6" Type="http://schemas.openxmlformats.org/officeDocument/2006/relationships/hyperlink" Target="https://dxcportal.sharepoint.com/sites/edgeims/SitePages/EDGE_Global_SME_Sessions_and_Honor_Board.aspx" TargetMode="External"/><Relationship Id="rId11" Type="http://schemas.openxmlformats.org/officeDocument/2006/relationships/hyperlink" Target="https://apps.powerapps.com/play/fd4264e6-1ac0-445e-829b-d6d423c4fb27?tenantId=93f33571-550f-43cf-b09f-cd331338d086" TargetMode="External"/><Relationship Id="rId5" Type="http://schemas.openxmlformats.org/officeDocument/2006/relationships/hyperlink" Target="https://dxcportal.sharepoint.com/sites/edgeims/SitePages/DXC_Guilds_and_Communities_of_Practice.aspx" TargetMode="External"/><Relationship Id="rId10" Type="http://schemas.openxmlformats.org/officeDocument/2006/relationships/hyperlink" Target="https://aet-teams-visual.azurewebsites.net/pages/dashboard" TargetMode="External"/><Relationship Id="rId4" Type="http://schemas.openxmlformats.org/officeDocument/2006/relationships/hyperlink" Target="https://engage.cloud.microsoft/main/org/dxc.com/groups/eyJfdHlwZSI6Ikdyb3VwIiwiaWQiOiIxNDM5NDA5NiJ9" TargetMode="External"/><Relationship Id="rId9" Type="http://schemas.openxmlformats.org/officeDocument/2006/relationships/hyperlink" Target="https://dxclearning.edcast.com/channel/edge-training"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71032" y="5376672"/>
            <a:ext cx="7680960" cy="329184"/>
          </a:xfrm>
          <a:prstGeom prst="rect">
            <a:avLst/>
          </a:prstGeom>
          <a:noFill/>
        </p:spPr>
        <p:txBody>
          <a:bodyPr wrap="square" lIns="18288" tIns="18288" rIns="18288" bIns="18288" anchor="t">
            <a:normAutofit/>
          </a:bodyPr>
          <a:lstStyle/>
          <a:p>
            <a:pPr algn="l">
              <a:spcAft>
                <a:spcPts val="800"/>
              </a:spcAft>
            </a:pPr>
            <a:r>
              <a:rPr sz="1200" b="0">
                <a:solidFill>
                  <a:srgbClr val="555B65"/>
                </a:solidFill>
                <a:latin typeface="Arial"/>
              </a:rPr>
              <a:t>Security controls, reliable evidence, and runner readiness</a:t>
            </a:r>
          </a:p>
        </p:txBody>
      </p:sp>
      <p:sp>
        <p:nvSpPr>
          <p:cNvPr id="3" name="TextBox 2"/>
          <p:cNvSpPr txBox="1"/>
          <p:nvPr/>
        </p:nvSpPr>
        <p:spPr>
          <a:xfrm>
            <a:off x="5971032" y="5715000"/>
            <a:ext cx="7772400" cy="1078992"/>
          </a:xfrm>
          <a:prstGeom prst="rect">
            <a:avLst/>
          </a:prstGeom>
          <a:noFill/>
        </p:spPr>
        <p:txBody>
          <a:bodyPr wrap="square" lIns="18288" tIns="18288" rIns="18288" bIns="18288" anchor="t">
            <a:normAutofit lnSpcReduction="10000"/>
          </a:bodyPr>
          <a:lstStyle/>
          <a:p>
            <a:pPr algn="l">
              <a:spcAft>
                <a:spcPts val="800"/>
              </a:spcAft>
            </a:pPr>
            <a:r>
              <a:rPr sz="3400" b="1" dirty="0">
                <a:solidFill>
                  <a:srgbClr val="0E1022"/>
                </a:solidFill>
                <a:latin typeface="Arial"/>
              </a:rPr>
              <a:t>GitHub Actions</a:t>
            </a:r>
          </a:p>
          <a:p>
            <a:pPr algn="l">
              <a:spcAft>
                <a:spcPts val="800"/>
              </a:spcAft>
            </a:pPr>
            <a:r>
              <a:rPr sz="3400" b="1" dirty="0">
                <a:solidFill>
                  <a:srgbClr val="0E1022"/>
                </a:solidFill>
                <a:latin typeface="Arial"/>
              </a:rPr>
              <a:t>Monthly Office Hour</a:t>
            </a:r>
          </a:p>
        </p:txBody>
      </p:sp>
      <p:sp>
        <p:nvSpPr>
          <p:cNvPr id="4" name="TextBox 3"/>
          <p:cNvSpPr txBox="1"/>
          <p:nvPr/>
        </p:nvSpPr>
        <p:spPr>
          <a:xfrm>
            <a:off x="5971032" y="6949440"/>
            <a:ext cx="7772400" cy="365760"/>
          </a:xfrm>
          <a:prstGeom prst="rect">
            <a:avLst/>
          </a:prstGeom>
          <a:noFill/>
        </p:spPr>
        <p:txBody>
          <a:bodyPr wrap="square" lIns="18288" tIns="18288" rIns="18288" bIns="18288" anchor="t">
            <a:normAutofit fontScale="85000" lnSpcReduction="20000"/>
          </a:bodyPr>
          <a:lstStyle/>
          <a:p>
            <a:pPr algn="l">
              <a:spcAft>
                <a:spcPts val="800"/>
              </a:spcAft>
            </a:pPr>
            <a:r>
              <a:rPr lang="en-US" sz="1900" b="0" dirty="0">
                <a:solidFill>
                  <a:srgbClr val="0E1022"/>
                </a:solidFill>
                <a:latin typeface="Arial"/>
              </a:rPr>
              <a:t>Sean Dorsett</a:t>
            </a:r>
            <a:br>
              <a:rPr lang="en-US" sz="1050" b="0" dirty="0">
                <a:solidFill>
                  <a:srgbClr val="0E1022"/>
                </a:solidFill>
                <a:latin typeface="Arial"/>
              </a:rPr>
            </a:br>
            <a:r>
              <a:rPr lang="en-US" sz="1050" b="0" dirty="0">
                <a:solidFill>
                  <a:srgbClr val="0E1022"/>
                </a:solidFill>
                <a:latin typeface="Arial"/>
              </a:rPr>
              <a:t>Principal Engineer</a:t>
            </a:r>
            <a:endParaRPr sz="1050" b="0" dirty="0">
              <a:solidFill>
                <a:srgbClr val="0E1022"/>
              </a:solidFill>
              <a:latin typeface="Arial"/>
            </a:endParaRPr>
          </a:p>
        </p:txBody>
      </p:sp>
      <p:sp>
        <p:nvSpPr>
          <p:cNvPr id="5" name="TextBox 4"/>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00-02 min</a:t>
            </a:r>
          </a:p>
        </p:txBody>
      </p:sp>
      <p:pic>
        <p:nvPicPr>
          <p:cNvPr id="8" name="Picture 7">
            <a:extLst>
              <a:ext uri="{FF2B5EF4-FFF2-40B4-BE49-F238E27FC236}">
                <a16:creationId xmlns:a16="http://schemas.microsoft.com/office/drawing/2014/main" id="{EFF27F1D-6B1C-629F-90E1-9194896223EA}"/>
              </a:ext>
            </a:extLst>
          </p:cNvPr>
          <p:cNvPicPr>
            <a:picLocks noChangeAspect="1"/>
          </p:cNvPicPr>
          <p:nvPr/>
        </p:nvPicPr>
        <p:blipFill>
          <a:blip r:embed="rId3"/>
          <a:stretch>
            <a:fillRect/>
          </a:stretch>
        </p:blipFill>
        <p:spPr>
          <a:xfrm>
            <a:off x="6004584" y="7315200"/>
            <a:ext cx="1047750" cy="228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Five updates. Fifty minutes. Ten minutes for questions.</a:t>
            </a:r>
          </a:p>
        </p:txBody>
      </p:sp>
      <p:graphicFrame>
        <p:nvGraphicFramePr>
          <p:cNvPr id="4" name="Table 3"/>
          <p:cNvGraphicFramePr>
            <a:graphicFrameLocks noGrp="1"/>
          </p:cNvGraphicFramePr>
          <p:nvPr/>
        </p:nvGraphicFramePr>
        <p:xfrm>
          <a:off x="594360" y="2697480"/>
          <a:ext cx="13441680" cy="4343400"/>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7772400">
                  <a:extLst>
                    <a:ext uri="{9D8B030D-6E8A-4147-A177-3AD203B41FA5}">
                      <a16:colId xmlns:a16="http://schemas.microsoft.com/office/drawing/2014/main" val="20002"/>
                    </a:ext>
                  </a:extLst>
                </a:gridCol>
              </a:tblGrid>
              <a:tr h="542925">
                <a:tc>
                  <a:txBody>
                    <a:bodyPr/>
                    <a:lstStyle/>
                    <a:p>
                      <a:pPr>
                        <a:lnSpc>
                          <a:spcPct val="100000"/>
                        </a:lnSpc>
                      </a:pPr>
                      <a:r>
                        <a:rPr sz="1800" b="1">
                          <a:solidFill>
                            <a:srgbClr val="FFFFFF"/>
                          </a:solidFill>
                          <a:latin typeface="Arial"/>
                        </a:rPr>
                        <a:t>Minutes</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Segment</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Outcome</a:t>
                      </a:r>
                    </a:p>
                  </a:txBody>
                  <a:tcPr marL="137160" marR="137160" marT="59436" marB="59436" anchor="ctr">
                    <a:solidFill>
                      <a:srgbClr val="0E1022"/>
                    </a:solidFill>
                  </a:tcPr>
                </a:tc>
                <a:extLst>
                  <a:ext uri="{0D108BD9-81ED-4DB2-BD59-A6C34878D82A}">
                    <a16:rowId xmlns:a16="http://schemas.microsoft.com/office/drawing/2014/main" val="10000"/>
                  </a:ext>
                </a:extLst>
              </a:tr>
              <a:tr h="542925">
                <a:tc>
                  <a:txBody>
                    <a:bodyPr/>
                    <a:lstStyle/>
                    <a:p>
                      <a:pPr>
                        <a:lnSpc>
                          <a:spcPct val="100000"/>
                        </a:lnSpc>
                      </a:pPr>
                      <a:r>
                        <a:rPr sz="1800" b="0">
                          <a:solidFill>
                            <a:srgbClr val="0E1022"/>
                          </a:solidFill>
                          <a:latin typeface="Arial"/>
                        </a:rPr>
                        <a:t>03-15</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Cache least privilege</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Implicit write access vs explicit read-only</a:t>
                      </a:r>
                    </a:p>
                  </a:txBody>
                  <a:tcPr marL="137160" marR="137160" marT="59436" marB="59436" anchor="ctr">
                    <a:solidFill>
                      <a:srgbClr val="F2F4F7"/>
                    </a:solidFill>
                  </a:tcPr>
                </a:tc>
                <a:extLst>
                  <a:ext uri="{0D108BD9-81ED-4DB2-BD59-A6C34878D82A}">
                    <a16:rowId xmlns:a16="http://schemas.microsoft.com/office/drawing/2014/main" val="10001"/>
                  </a:ext>
                </a:extLst>
              </a:tr>
              <a:tr h="542925">
                <a:tc>
                  <a:txBody>
                    <a:bodyPr/>
                    <a:lstStyle/>
                    <a:p>
                      <a:pPr>
                        <a:lnSpc>
                          <a:spcPct val="100000"/>
                        </a:lnSpc>
                      </a:pPr>
                      <a:r>
                        <a:rPr sz="1800" b="0">
                          <a:solidFill>
                            <a:srgbClr val="0E1022"/>
                          </a:solidFill>
                          <a:latin typeface="Arial"/>
                        </a:rPr>
                        <a:t>15-26</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Execution protections</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Before runs; file-scoped policy blocks After</a:t>
                      </a:r>
                    </a:p>
                  </a:txBody>
                  <a:tcPr marL="137160" marR="137160" marT="59436" marB="59436" anchor="ctr">
                    <a:solidFill>
                      <a:srgbClr val="FFFFFF"/>
                    </a:solidFill>
                  </a:tcPr>
                </a:tc>
                <a:extLst>
                  <a:ext uri="{0D108BD9-81ED-4DB2-BD59-A6C34878D82A}">
                    <a16:rowId xmlns:a16="http://schemas.microsoft.com/office/drawing/2014/main" val="10002"/>
                  </a:ext>
                </a:extLst>
              </a:tr>
              <a:tr h="542925">
                <a:tc>
                  <a:txBody>
                    <a:bodyPr/>
                    <a:lstStyle/>
                    <a:p>
                      <a:pPr>
                        <a:lnSpc>
                          <a:spcPct val="100000"/>
                        </a:lnSpc>
                      </a:pPr>
                      <a:r>
                        <a:rPr sz="1800" b="0">
                          <a:solidFill>
                            <a:srgbClr val="0E1022"/>
                          </a:solidFill>
                          <a:latin typeface="Arial"/>
                        </a:rPr>
                        <a:t>26-34</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Expired artifact visibility</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Artifact exists, then disappears after expiry</a:t>
                      </a:r>
                    </a:p>
                  </a:txBody>
                  <a:tcPr marL="137160" marR="137160" marT="59436" marB="59436" anchor="ctr">
                    <a:solidFill>
                      <a:srgbClr val="F2F4F7"/>
                    </a:solidFill>
                  </a:tcPr>
                </a:tc>
                <a:extLst>
                  <a:ext uri="{0D108BD9-81ED-4DB2-BD59-A6C34878D82A}">
                    <a16:rowId xmlns:a16="http://schemas.microsoft.com/office/drawing/2014/main" val="10003"/>
                  </a:ext>
                </a:extLst>
              </a:tr>
              <a:tr h="542925">
                <a:tc>
                  <a:txBody>
                    <a:bodyPr/>
                    <a:lstStyle/>
                    <a:p>
                      <a:pPr>
                        <a:lnSpc>
                          <a:spcPct val="100000"/>
                        </a:lnSpc>
                      </a:pPr>
                      <a:r>
                        <a:rPr sz="1800" b="0">
                          <a:solidFill>
                            <a:srgbClr val="0E1022"/>
                          </a:solidFill>
                          <a:latin typeface="Arial"/>
                        </a:rPr>
                        <a:t>34-40</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Bounded reporting</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One broad page vs date-bounded pagination</a:t>
                      </a:r>
                    </a:p>
                  </a:txBody>
                  <a:tcPr marL="137160" marR="137160" marT="59436" marB="59436" anchor="ctr">
                    <a:solidFill>
                      <a:srgbClr val="FFFFFF"/>
                    </a:solidFill>
                  </a:tcPr>
                </a:tc>
                <a:extLst>
                  <a:ext uri="{0D108BD9-81ED-4DB2-BD59-A6C34878D82A}">
                    <a16:rowId xmlns:a16="http://schemas.microsoft.com/office/drawing/2014/main" val="10004"/>
                  </a:ext>
                </a:extLst>
              </a:tr>
              <a:tr h="542925">
                <a:tc>
                  <a:txBody>
                    <a:bodyPr/>
                    <a:lstStyle/>
                    <a:p>
                      <a:pPr>
                        <a:lnSpc>
                          <a:spcPct val="100000"/>
                        </a:lnSpc>
                      </a:pPr>
                      <a:r>
                        <a:rPr sz="1800" b="0">
                          <a:solidFill>
                            <a:srgbClr val="0E1022"/>
                          </a:solidFill>
                          <a:latin typeface="Arial"/>
                        </a:rPr>
                        <a:t>40-45</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Runner readiness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Registration-only assumption vs two live dates</a:t>
                      </a:r>
                    </a:p>
                  </a:txBody>
                  <a:tcPr marL="137160" marR="137160" marT="59436" marB="59436" anchor="ctr">
                    <a:solidFill>
                      <a:srgbClr val="F2F4F7"/>
                    </a:solidFill>
                  </a:tcPr>
                </a:tc>
                <a:extLst>
                  <a:ext uri="{0D108BD9-81ED-4DB2-BD59-A6C34878D82A}">
                    <a16:rowId xmlns:a16="http://schemas.microsoft.com/office/drawing/2014/main" val="10005"/>
                  </a:ext>
                </a:extLst>
              </a:tr>
              <a:tr h="542925">
                <a:tc>
                  <a:txBody>
                    <a:bodyPr/>
                    <a:lstStyle/>
                    <a:p>
                      <a:pPr>
                        <a:lnSpc>
                          <a:spcPct val="100000"/>
                        </a:lnSpc>
                      </a:pPr>
                      <a:r>
                        <a:rPr sz="1800" b="0">
                          <a:solidFill>
                            <a:srgbClr val="0E1022"/>
                          </a:solidFill>
                          <a:latin typeface="Arial"/>
                        </a:rPr>
                        <a:t>45-50</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DXC adoption checklist</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Next actions, takeaways, and buffer</a:t>
                      </a:r>
                    </a:p>
                  </a:txBody>
                  <a:tcPr marL="137160" marR="137160" marT="59436" marB="59436" anchor="ctr">
                    <a:solidFill>
                      <a:srgbClr val="FFFFFF"/>
                    </a:solidFill>
                  </a:tcPr>
                </a:tc>
                <a:extLst>
                  <a:ext uri="{0D108BD9-81ED-4DB2-BD59-A6C34878D82A}">
                    <a16:rowId xmlns:a16="http://schemas.microsoft.com/office/drawing/2014/main" val="10006"/>
                  </a:ext>
                </a:extLst>
              </a:tr>
              <a:tr h="542925">
                <a:tc>
                  <a:txBody>
                    <a:bodyPr/>
                    <a:lstStyle/>
                    <a:p>
                      <a:pPr>
                        <a:lnSpc>
                          <a:spcPct val="100000"/>
                        </a:lnSpc>
                      </a:pPr>
                      <a:r>
                        <a:rPr sz="1800" b="0">
                          <a:solidFill>
                            <a:srgbClr val="0E1022"/>
                          </a:solidFill>
                          <a:latin typeface="Arial"/>
                        </a:rPr>
                        <a:t>50-60</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Q&amp;A</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Hard stop on presentation and demos</a:t>
                      </a:r>
                    </a:p>
                  </a:txBody>
                  <a:tcPr marL="137160" marR="137160" marT="59436" marB="59436" anchor="ctr">
                    <a:solidFill>
                      <a:srgbClr val="F2F4F7"/>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02-03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1 | Cache permissions | GA on github.com</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Cache access can now follow the trust boundary</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What changed</a:t>
            </a:r>
          </a:p>
        </p:txBody>
      </p:sp>
      <p:sp>
        <p:nvSpPr>
          <p:cNvPr id="6" name="TextBox 5"/>
          <p:cNvSpPr txBox="1"/>
          <p:nvPr/>
        </p:nvSpPr>
        <p:spPr>
          <a:xfrm>
            <a:off x="795528"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cache-mode at workflow or job level.</a:t>
            </a:r>
          </a:p>
          <a:p>
            <a:pPr algn="l">
              <a:spcAft>
                <a:spcPts val="800"/>
              </a:spcAft>
            </a:pPr>
            <a:r>
              <a:rPr sz="2000" b="0">
                <a:solidFill>
                  <a:srgbClr val="555B65"/>
                </a:solidFill>
                <a:latin typeface="Arial"/>
              </a:rPr>
              <a:t>Four explicit restore/save combinations.</a:t>
            </a:r>
          </a:p>
          <a:p>
            <a:pPr algn="l">
              <a:spcAft>
                <a:spcPts val="800"/>
              </a:spcAft>
            </a:pPr>
            <a:r>
              <a:rPr sz="2000" b="0">
                <a:solidFill>
                  <a:srgbClr val="555B65"/>
                </a:solidFill>
                <a:latin typeface="Arial"/>
              </a:rPr>
              <a:t>Scoped cache tokens enforce access.</a:t>
            </a:r>
          </a:p>
          <a:p>
            <a:pPr algn="l">
              <a:spcAft>
                <a:spcPts val="800"/>
              </a:spcAft>
            </a:pPr>
            <a:r>
              <a:rPr sz="2000" b="0">
                <a:solidFill>
                  <a:srgbClr val="555B65"/>
                </a:solidFill>
                <a:latin typeface="Arial"/>
              </a:rPr>
              <a:t>Job settings override workflow defaults.</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53527"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Why DXC should care</a:t>
            </a:r>
          </a:p>
        </p:txBody>
      </p:sp>
      <p:sp>
        <p:nvSpPr>
          <p:cNvPr id="9" name="TextBox 8"/>
          <p:cNvSpPr txBox="1"/>
          <p:nvPr/>
        </p:nvSpPr>
        <p:spPr>
          <a:xfrm>
            <a:off x="7653527"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Give tests only the cache access they need.</a:t>
            </a:r>
          </a:p>
          <a:p>
            <a:pPr algn="l">
              <a:spcAft>
                <a:spcPts val="800"/>
              </a:spcAft>
            </a:pPr>
            <a:r>
              <a:rPr sz="2000" b="0">
                <a:solidFill>
                  <a:srgbClr val="FFFFFF"/>
                </a:solidFill>
                <a:latin typeface="Arial"/>
              </a:rPr>
              <a:t>Separate trusted publishers from consumers.</a:t>
            </a:r>
          </a:p>
          <a:p>
            <a:pPr algn="l">
              <a:spcAft>
                <a:spcPts val="800"/>
              </a:spcAft>
            </a:pPr>
            <a:r>
              <a:rPr sz="2000" b="0">
                <a:solidFill>
                  <a:srgbClr val="FFFFFF"/>
                </a:solidFill>
                <a:latin typeface="Arial"/>
              </a:rPr>
              <a:t>Constrain shared reusable workflows.</a:t>
            </a:r>
          </a:p>
          <a:p>
            <a:pPr algn="l">
              <a:spcAft>
                <a:spcPts val="800"/>
              </a:spcAft>
            </a:pPr>
            <a:r>
              <a:rPr sz="2000" b="0">
                <a:solidFill>
                  <a:srgbClr val="FFFFFF"/>
                </a:solidFill>
                <a:latin typeface="Arial"/>
              </a:rPr>
              <a:t>Review low-trust event overrides carefully.</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Do not grant cache writes to an untrusted trigger just to remove a warning.</a:t>
            </a:r>
          </a:p>
        </p:txBody>
      </p:sp>
      <p:sp>
        <p:nvSpPr>
          <p:cNvPr id="11" name="TextBox 10"/>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GitHub Changelog | 10 Sep 2026</a:t>
            </a:r>
          </a:p>
        </p:txBody>
      </p:sp>
      <p:sp>
        <p:nvSpPr>
          <p:cNvPr id="12" name="TextBox 11"/>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03-06 min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1 | Read and write are independent capabilities</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The four cache modes have different guarantees</a:t>
            </a:r>
          </a:p>
        </p:txBody>
      </p:sp>
      <p:graphicFrame>
        <p:nvGraphicFramePr>
          <p:cNvPr id="4" name="Table 3"/>
          <p:cNvGraphicFramePr>
            <a:graphicFrameLocks noGrp="1"/>
          </p:cNvGraphicFramePr>
          <p:nvPr/>
        </p:nvGraphicFramePr>
        <p:xfrm>
          <a:off x="594360" y="2697480"/>
          <a:ext cx="13441680" cy="356616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6400800">
                  <a:extLst>
                    <a:ext uri="{9D8B030D-6E8A-4147-A177-3AD203B41FA5}">
                      <a16:colId xmlns:a16="http://schemas.microsoft.com/office/drawing/2014/main" val="20003"/>
                    </a:ext>
                  </a:extLst>
                </a:gridCol>
              </a:tblGrid>
              <a:tr h="713232">
                <a:tc>
                  <a:txBody>
                    <a:bodyPr/>
                    <a:lstStyle/>
                    <a:p>
                      <a:pPr>
                        <a:lnSpc>
                          <a:spcPct val="100000"/>
                        </a:lnSpc>
                      </a:pPr>
                      <a:r>
                        <a:rPr sz="1800" b="1">
                          <a:solidFill>
                            <a:srgbClr val="FFFFFF"/>
                          </a:solidFill>
                          <a:latin typeface="Arial"/>
                        </a:rPr>
                        <a:t>Mode</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Restore</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Save</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Typical design intent</a:t>
                      </a:r>
                    </a:p>
                  </a:txBody>
                  <a:tcPr marL="137160" marR="137160" marT="59436" marB="59436" anchor="ctr">
                    <a:solidFill>
                      <a:srgbClr val="0E1022"/>
                    </a:solidFill>
                  </a:tcPr>
                </a:tc>
                <a:extLst>
                  <a:ext uri="{0D108BD9-81ED-4DB2-BD59-A6C34878D82A}">
                    <a16:rowId xmlns:a16="http://schemas.microsoft.com/office/drawing/2014/main" val="10000"/>
                  </a:ext>
                </a:extLst>
              </a:tr>
              <a:tr h="713232">
                <a:tc>
                  <a:txBody>
                    <a:bodyPr/>
                    <a:lstStyle/>
                    <a:p>
                      <a:pPr>
                        <a:lnSpc>
                          <a:spcPct val="100000"/>
                        </a:lnSpc>
                      </a:pPr>
                      <a:r>
                        <a:rPr sz="1800" b="0">
                          <a:solidFill>
                            <a:srgbClr val="0E1022"/>
                          </a:solidFill>
                          <a:latin typeface="Arial"/>
                        </a:rPr>
                        <a:t>read</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Allowed</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Denied</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Consume trusted cache content</a:t>
                      </a:r>
                    </a:p>
                  </a:txBody>
                  <a:tcPr marL="137160" marR="137160" marT="59436" marB="59436" anchor="ctr">
                    <a:solidFill>
                      <a:srgbClr val="F2F4F7"/>
                    </a:solidFill>
                  </a:tcPr>
                </a:tc>
                <a:extLst>
                  <a:ext uri="{0D108BD9-81ED-4DB2-BD59-A6C34878D82A}">
                    <a16:rowId xmlns:a16="http://schemas.microsoft.com/office/drawing/2014/main" val="10001"/>
                  </a:ext>
                </a:extLst>
              </a:tr>
              <a:tr h="713232">
                <a:tc>
                  <a:txBody>
                    <a:bodyPr/>
                    <a:lstStyle/>
                    <a:p>
                      <a:pPr>
                        <a:lnSpc>
                          <a:spcPct val="100000"/>
                        </a:lnSpc>
                      </a:pPr>
                      <a:r>
                        <a:rPr sz="1800" b="0">
                          <a:solidFill>
                            <a:srgbClr val="0E1022"/>
                          </a:solidFill>
                          <a:latin typeface="Arial"/>
                        </a:rPr>
                        <a:t>write</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Allowed</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Allowed</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Trusted build/publisher</a:t>
                      </a:r>
                    </a:p>
                  </a:txBody>
                  <a:tcPr marL="137160" marR="137160" marT="59436" marB="59436" anchor="ctr">
                    <a:solidFill>
                      <a:srgbClr val="FFFFFF"/>
                    </a:solidFill>
                  </a:tcPr>
                </a:tc>
                <a:extLst>
                  <a:ext uri="{0D108BD9-81ED-4DB2-BD59-A6C34878D82A}">
                    <a16:rowId xmlns:a16="http://schemas.microsoft.com/office/drawing/2014/main" val="10002"/>
                  </a:ext>
                </a:extLst>
              </a:tr>
              <a:tr h="713232">
                <a:tc>
                  <a:txBody>
                    <a:bodyPr/>
                    <a:lstStyle/>
                    <a:p>
                      <a:pPr>
                        <a:lnSpc>
                          <a:spcPct val="100000"/>
                        </a:lnSpc>
                      </a:pPr>
                      <a:r>
                        <a:rPr sz="1800" b="0">
                          <a:solidFill>
                            <a:srgbClr val="0E1022"/>
                          </a:solidFill>
                          <a:latin typeface="Arial"/>
                        </a:rPr>
                        <a:t>write-only</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Denied</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Allowed</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Publish without consuming prior cache</a:t>
                      </a:r>
                    </a:p>
                  </a:txBody>
                  <a:tcPr marL="137160" marR="137160" marT="59436" marB="59436" anchor="ctr">
                    <a:solidFill>
                      <a:srgbClr val="F2F4F7"/>
                    </a:solidFill>
                  </a:tcPr>
                </a:tc>
                <a:extLst>
                  <a:ext uri="{0D108BD9-81ED-4DB2-BD59-A6C34878D82A}">
                    <a16:rowId xmlns:a16="http://schemas.microsoft.com/office/drawing/2014/main" val="10003"/>
                  </a:ext>
                </a:extLst>
              </a:tr>
              <a:tr h="713232">
                <a:tc>
                  <a:txBody>
                    <a:bodyPr/>
                    <a:lstStyle/>
                    <a:p>
                      <a:pPr>
                        <a:lnSpc>
                          <a:spcPct val="100000"/>
                        </a:lnSpc>
                      </a:pPr>
                      <a:r>
                        <a:rPr sz="1800" b="0">
                          <a:solidFill>
                            <a:srgbClr val="0E1022"/>
                          </a:solidFill>
                          <a:latin typeface="Arial"/>
                        </a:rPr>
                        <a:t>none</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Denied</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Denied</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No cache dependency or access</a:t>
                      </a:r>
                    </a:p>
                  </a:txBody>
                  <a:tcPr marL="137160" marR="137160" marT="59436" marB="59436" anchor="ctr">
                    <a:solidFill>
                      <a:srgbClr val="FFFF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Denied cache operations can log and continue. Green does not mean restored or saved.</a:t>
            </a:r>
          </a:p>
        </p:txBody>
      </p:sp>
      <p:sp>
        <p:nvSpPr>
          <p:cNvPr id="6" name="TextBox 5"/>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Workflow syntax | cache-mode</a:t>
            </a:r>
          </a:p>
        </p:txBody>
      </p:sp>
      <p:sp>
        <p:nvSpPr>
          <p:cNvPr id="7" name="TextBox 6"/>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06-08 min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1 | Same trusted manual trigger; different cache access</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Before and after: one explicit cache access setting</a:t>
            </a:r>
          </a:p>
        </p:txBody>
      </p:sp>
      <p:sp>
        <p:nvSpPr>
          <p:cNvPr id="4" name="Rounded Rectangle 3"/>
          <p:cNvSpPr/>
          <p:nvPr/>
        </p:nvSpPr>
        <p:spPr>
          <a:xfrm>
            <a:off x="594360" y="2761488"/>
            <a:ext cx="8412480" cy="3611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a:bodyPr>
          <a:lstStyle/>
          <a:p>
            <a:pPr algn="l">
              <a:lnSpc>
                <a:spcPct val="110000"/>
              </a:lnSpc>
              <a:spcAft>
                <a:spcPts val="0"/>
              </a:spcAft>
            </a:pPr>
            <a:r>
              <a:rPr sz="1500" b="0">
                <a:solidFill>
                  <a:srgbClr val="0E1022"/>
                </a:solidFill>
                <a:latin typeface="Consolas"/>
              </a:rPr>
              <a:t># BEFORE: implicit trigger-based access</a:t>
            </a:r>
          </a:p>
          <a:p>
            <a:pPr algn="l">
              <a:lnSpc>
                <a:spcPct val="110000"/>
              </a:lnSpc>
              <a:spcAft>
                <a:spcPts val="0"/>
              </a:spcAft>
            </a:pPr>
            <a:r>
              <a:rPr sz="1500" b="0">
                <a:solidFill>
                  <a:srgbClr val="0E1022"/>
                </a:solidFill>
                <a:latin typeface="Consolas"/>
              </a:rPr>
              <a:t>on: workflow_dispatch</a:t>
            </a:r>
          </a:p>
          <a:p>
            <a:pPr algn="l">
              <a:lnSpc>
                <a:spcPct val="110000"/>
              </a:lnSpc>
              <a:spcAft>
                <a:spcPts val="0"/>
              </a:spcAft>
            </a:pPr>
            <a:r>
              <a:rPr sz="1500" b="0">
                <a:solidFill>
                  <a:srgbClr val="0E1022"/>
                </a:solidFill>
                <a:latin typeface="Consolas"/>
              </a:rPr>
              <a:t># Trusted manual trigger may restore and save.</a:t>
            </a:r>
          </a:p>
          <a:p>
            <a:pPr algn="l">
              <a:lnSpc>
                <a:spcPct val="110000"/>
              </a:lnSpc>
              <a:spcAft>
                <a:spcPts val="0"/>
              </a:spcAft>
            </a:pPr>
            <a:endParaRPr sz="1500" b="0">
              <a:solidFill>
                <a:srgbClr val="0E1022"/>
              </a:solidFill>
              <a:latin typeface="Consolas"/>
            </a:endParaRPr>
          </a:p>
          <a:p>
            <a:pPr algn="l">
              <a:lnSpc>
                <a:spcPct val="110000"/>
              </a:lnSpc>
              <a:spcAft>
                <a:spcPts val="0"/>
              </a:spcAft>
            </a:pPr>
            <a:r>
              <a:rPr sz="1500" b="0">
                <a:solidFill>
                  <a:srgbClr val="0E1022"/>
                </a:solidFill>
                <a:latin typeface="Consolas"/>
              </a:rPr>
              <a:t># AFTER: choose the least access needed</a:t>
            </a:r>
          </a:p>
          <a:p>
            <a:pPr algn="l">
              <a:lnSpc>
                <a:spcPct val="110000"/>
              </a:lnSpc>
              <a:spcAft>
                <a:spcPts val="0"/>
              </a:spcAft>
            </a:pPr>
            <a:r>
              <a:rPr sz="1500" b="0">
                <a:solidFill>
                  <a:srgbClr val="0E1022"/>
                </a:solidFill>
                <a:latin typeface="Consolas"/>
              </a:rPr>
              <a:t>on: workflow_dispatch</a:t>
            </a:r>
          </a:p>
          <a:p>
            <a:pPr algn="l">
              <a:lnSpc>
                <a:spcPct val="110000"/>
              </a:lnSpc>
              <a:spcAft>
                <a:spcPts val="0"/>
              </a:spcAft>
            </a:pPr>
            <a:r>
              <a:rPr sz="1500" b="0">
                <a:solidFill>
                  <a:srgbClr val="0E1022"/>
                </a:solidFill>
                <a:latin typeface="Consolas"/>
              </a:rPr>
              <a:t>cache-mode: read</a:t>
            </a:r>
          </a:p>
          <a:p>
            <a:pPr algn="l">
              <a:lnSpc>
                <a:spcPct val="110000"/>
              </a:lnSpc>
              <a:spcAft>
                <a:spcPts val="0"/>
              </a:spcAft>
            </a:pPr>
            <a:r>
              <a:rPr sz="1500" b="0">
                <a:solidFill>
                  <a:srgbClr val="0E1022"/>
                </a:solidFill>
                <a:latin typeface="Consolas"/>
              </a:rPr>
              <a:t># Restore is allowed. A new save is denied.</a:t>
            </a:r>
          </a:p>
        </p:txBody>
      </p:sp>
      <p:sp>
        <p:nvSpPr>
          <p:cNvPr id="5" name="TextBox 4"/>
          <p:cNvSpPr txBox="1"/>
          <p:nvPr/>
        </p:nvSpPr>
        <p:spPr>
          <a:xfrm>
            <a:off x="9326880" y="283464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Before</a:t>
            </a:r>
          </a:p>
        </p:txBody>
      </p:sp>
      <p:sp>
        <p:nvSpPr>
          <p:cNvPr id="6" name="TextBox 5"/>
          <p:cNvSpPr txBox="1"/>
          <p:nvPr/>
        </p:nvSpPr>
        <p:spPr>
          <a:xfrm>
            <a:off x="9326880" y="3264408"/>
            <a:ext cx="4663440" cy="612648"/>
          </a:xfrm>
          <a:prstGeom prst="rect">
            <a:avLst/>
          </a:prstGeom>
          <a:noFill/>
        </p:spPr>
        <p:txBody>
          <a:bodyPr wrap="square" lIns="18288" tIns="18288" rIns="18288" bIns="18288" anchor="t">
            <a:normAutofit lnSpcReduction="10000"/>
          </a:bodyPr>
          <a:lstStyle/>
          <a:p>
            <a:pPr algn="l">
              <a:spcAft>
                <a:spcPts val="800"/>
              </a:spcAft>
            </a:pPr>
            <a:r>
              <a:rPr sz="1900" b="0">
                <a:solidFill>
                  <a:srgbClr val="555B65"/>
                </a:solidFill>
                <a:latin typeface="Arial"/>
              </a:rPr>
              <a:t>Save a harmless text file using default access.</a:t>
            </a:r>
          </a:p>
        </p:txBody>
      </p:sp>
      <p:sp>
        <p:nvSpPr>
          <p:cNvPr id="7" name="TextBox 6"/>
          <p:cNvSpPr txBox="1"/>
          <p:nvPr/>
        </p:nvSpPr>
        <p:spPr>
          <a:xfrm>
            <a:off x="9326880" y="402336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After</a:t>
            </a:r>
          </a:p>
        </p:txBody>
      </p:sp>
      <p:sp>
        <p:nvSpPr>
          <p:cNvPr id="8" name="TextBox 7"/>
          <p:cNvSpPr txBox="1"/>
          <p:nvPr/>
        </p:nvSpPr>
        <p:spPr>
          <a:xfrm>
            <a:off x="9326880" y="4453128"/>
            <a:ext cx="4663440" cy="612648"/>
          </a:xfrm>
          <a:prstGeom prst="rect">
            <a:avLst/>
          </a:prstGeom>
          <a:noFill/>
        </p:spPr>
        <p:txBody>
          <a:bodyPr wrap="square" lIns="18288" tIns="18288" rIns="18288" bIns="18288" anchor="t">
            <a:normAutofit lnSpcReduction="10000"/>
          </a:bodyPr>
          <a:lstStyle/>
          <a:p>
            <a:pPr algn="l">
              <a:spcAft>
                <a:spcPts val="800"/>
              </a:spcAft>
            </a:pPr>
            <a:r>
              <a:rPr sz="1900" b="0">
                <a:solidFill>
                  <a:srgbClr val="555B65"/>
                </a:solidFill>
                <a:latin typeface="Arial"/>
              </a:rPr>
              <a:t>Add cache-mode: read; restore the Before cache.</a:t>
            </a:r>
          </a:p>
        </p:txBody>
      </p:sp>
      <p:sp>
        <p:nvSpPr>
          <p:cNvPr id="9" name="TextBox 8"/>
          <p:cNvSpPr txBox="1"/>
          <p:nvPr/>
        </p:nvSpPr>
        <p:spPr>
          <a:xfrm>
            <a:off x="9326880" y="521208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Visible result</a:t>
            </a:r>
          </a:p>
        </p:txBody>
      </p:sp>
      <p:sp>
        <p:nvSpPr>
          <p:cNvPr id="10" name="TextBox 9"/>
          <p:cNvSpPr txBox="1"/>
          <p:nvPr/>
        </p:nvSpPr>
        <p:spPr>
          <a:xfrm>
            <a:off x="9326880" y="5641848"/>
            <a:ext cx="4663440" cy="612648"/>
          </a:xfrm>
          <a:prstGeom prst="rect">
            <a:avLst/>
          </a:prstGeom>
          <a:noFill/>
        </p:spPr>
        <p:txBody>
          <a:bodyPr wrap="square" lIns="18288" tIns="18288" rIns="18288" bIns="18288" anchor="t">
            <a:normAutofit lnSpcReduction="10000"/>
          </a:bodyPr>
          <a:lstStyle/>
          <a:p>
            <a:pPr algn="l">
              <a:spcAft>
                <a:spcPts val="800"/>
              </a:spcAft>
            </a:pPr>
            <a:r>
              <a:rPr sz="1900" b="0">
                <a:solidFill>
                  <a:srgbClr val="555B65"/>
                </a:solidFill>
                <a:latin typeface="Arial"/>
              </a:rPr>
              <a:t>Content restores, but the candidate save is absent.</a:t>
            </a:r>
          </a:p>
        </p:txBody>
      </p:sp>
      <p:sp>
        <p:nvSpPr>
          <p:cNvPr id="11" name="TextBox 10"/>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Cache-mode release and reusable-workflow semantics</a:t>
            </a:r>
          </a:p>
        </p:txBody>
      </p:sp>
      <p:sp>
        <p:nvSpPr>
          <p:cNvPr id="12" name="TextBox 11"/>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08-10 min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Demo 1 | Implicit writes to explicit read-only</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926080"/>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1. Before</a:t>
            </a:r>
          </a:p>
        </p:txBody>
      </p:sp>
      <p:sp>
        <p:nvSpPr>
          <p:cNvPr id="7" name="TextBox 6"/>
          <p:cNvSpPr txBox="1"/>
          <p:nvPr/>
        </p:nvSpPr>
        <p:spPr>
          <a:xfrm>
            <a:off x="3657600" y="2926080"/>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Demo 1 BEFORE on main. Copy its FULL run ID from the summary.</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233672"/>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2. After</a:t>
            </a:r>
          </a:p>
        </p:txBody>
      </p:sp>
      <p:sp>
        <p:nvSpPr>
          <p:cNvPr id="10" name="TextBox 9"/>
          <p:cNvSpPr txBox="1"/>
          <p:nvPr/>
        </p:nvSpPr>
        <p:spPr>
          <a:xfrm>
            <a:off x="3657600" y="4233672"/>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Demo 1 AFTER on main with before_run_id; it validates the seed run.</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41264"/>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3. Compare</a:t>
            </a:r>
          </a:p>
        </p:txBody>
      </p:sp>
      <p:sp>
        <p:nvSpPr>
          <p:cNvPr id="13" name="TextBox 12"/>
          <p:cNvSpPr txBox="1"/>
          <p:nvPr/>
        </p:nvSpPr>
        <p:spPr>
          <a:xfrm>
            <a:off x="3657600" y="5541264"/>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Trusted text restored; candidate key absent; inspect the denied save step.</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One new setting: cache-mode: read. No extra secrets or helper scripts.</a:t>
            </a:r>
          </a:p>
        </p:txBody>
      </p:sp>
      <p:sp>
        <p:nvSpPr>
          <p:cNvPr id="18" name="TextBox 17"/>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10-15 min</a:t>
            </a:r>
          </a:p>
        </p:txBody>
      </p:sp>
      <p:sp>
        <p:nvSpPr>
          <p:cNvPr id="19" name="TextBox 18"/>
          <p:cNvSpPr txBox="1"/>
          <p:nvPr/>
        </p:nvSpPr>
        <p:spPr>
          <a:xfrm>
            <a:off x="594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3"/>
              </a:rPr>
              <a:t>Before: demo-1-before.yml</a:t>
            </a:r>
          </a:p>
        </p:txBody>
      </p:sp>
      <p:sp>
        <p:nvSpPr>
          <p:cNvPr id="20" name="TextBox 19"/>
          <p:cNvSpPr txBox="1"/>
          <p:nvPr/>
        </p:nvSpPr>
        <p:spPr>
          <a:xfrm>
            <a:off x="7452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4"/>
              </a:rPr>
              <a:t>After: demo-1-after.yml</a:t>
            </a:r>
          </a:p>
        </p:txBody>
      </p:sp>
      <p:sp>
        <p:nvSpPr>
          <p:cNvPr id="21" name="TextBox 20"/>
          <p:cNvSpPr txBox="1"/>
          <p:nvPr/>
        </p:nvSpPr>
        <p:spPr>
          <a:xfrm>
            <a:off x="10917936" y="2980944"/>
            <a:ext cx="2916936"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Inputs</a:t>
            </a:r>
          </a:p>
        </p:txBody>
      </p:sp>
      <p:sp>
        <p:nvSpPr>
          <p:cNvPr id="22" name="TextBox 21"/>
          <p:cNvSpPr txBox="1"/>
          <p:nvPr/>
        </p:nvSpPr>
        <p:spPr>
          <a:xfrm>
            <a:off x="10917936" y="3730752"/>
            <a:ext cx="2916936" cy="256946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Before: no input</a:t>
            </a:r>
          </a:p>
          <a:p>
            <a:pPr algn="l">
              <a:spcAft>
                <a:spcPts val="800"/>
              </a:spcAft>
            </a:pPr>
            <a:r>
              <a:rPr sz="2000" b="0">
                <a:solidFill>
                  <a:srgbClr val="FFFFFF"/>
                </a:solidFill>
                <a:latin typeface="Arial"/>
              </a:rPr>
              <a:t>After: full run ID</a:t>
            </a:r>
          </a:p>
          <a:p>
            <a:pPr algn="l">
              <a:spcAft>
                <a:spcPts val="800"/>
              </a:spcAft>
            </a:pPr>
            <a:r>
              <a:rPr sz="2000" b="0">
                <a:solidFill>
                  <a:srgbClr val="FFFFFF"/>
                </a:solidFill>
                <a:latin typeface="Arial"/>
              </a:rPr>
              <a:t>Key: before_run_id</a:t>
            </a:r>
          </a:p>
          <a:p>
            <a:pPr algn="l">
              <a:spcAft>
                <a:spcPts val="800"/>
              </a:spcAft>
            </a:pPr>
            <a:r>
              <a:rPr sz="2000" b="0">
                <a:solidFill>
                  <a:srgbClr val="FFFFFF"/>
                </a:solidFill>
                <a:latin typeface="Arial"/>
              </a:rPr>
              <a:t>Use main.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2 | Workflow execution protections | GA</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Execution protections now target individual workflow files</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Who</a:t>
            </a:r>
          </a:p>
        </p:txBody>
      </p:sp>
      <p:sp>
        <p:nvSpPr>
          <p:cNvPr id="6" name="TextBox 5"/>
          <p:cNvSpPr txBox="1"/>
          <p:nvPr/>
        </p:nvSpPr>
        <p:spPr>
          <a:xfrm>
            <a:off x="795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Actor rules allow selected users,</a:t>
            </a:r>
          </a:p>
          <a:p>
            <a:pPr algn="l">
              <a:spcAft>
                <a:spcPts val="800"/>
              </a:spcAft>
            </a:pPr>
            <a:r>
              <a:rPr sz="2000" b="0">
                <a:solidFill>
                  <a:srgbClr val="555B65"/>
                </a:solidFill>
                <a:latin typeface="Arial"/>
              </a:rPr>
              <a:t>roles, teams, or app identities.</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67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What</a:t>
            </a:r>
          </a:p>
        </p:txBody>
      </p:sp>
      <p:sp>
        <p:nvSpPr>
          <p:cNvPr id="9" name="TextBox 8"/>
          <p:cNvSpPr txBox="1"/>
          <p:nvPr/>
        </p:nvSpPr>
        <p:spPr>
          <a:xfrm>
            <a:off x="5367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Event rules allow selected triggers,</a:t>
            </a:r>
          </a:p>
          <a:p>
            <a:pPr algn="l">
              <a:spcAft>
                <a:spcPts val="800"/>
              </a:spcAft>
            </a:pPr>
            <a:r>
              <a:rPr sz="2000" b="0">
                <a:solidFill>
                  <a:srgbClr val="555B65"/>
                </a:solidFill>
                <a:latin typeface="Arial"/>
              </a:rPr>
              <a:t>including workflow_dispatch.</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39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Where</a:t>
            </a:r>
          </a:p>
        </p:txBody>
      </p:sp>
      <p:sp>
        <p:nvSpPr>
          <p:cNvPr id="12" name="TextBox 11"/>
          <p:cNvSpPr txBox="1"/>
          <p:nvPr/>
        </p:nvSpPr>
        <p:spPr>
          <a:xfrm>
            <a:off x="9939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Workflow-file targeting scopes policy</a:t>
            </a:r>
          </a:p>
          <a:p>
            <a:pPr algn="l">
              <a:spcAft>
                <a:spcPts val="800"/>
              </a:spcAft>
            </a:pPr>
            <a:r>
              <a:rPr sz="2000" b="0">
                <a:solidFill>
                  <a:srgbClr val="555B65"/>
                </a:solidFill>
                <a:latin typeface="Arial"/>
              </a:rPr>
              <a:t>to sensitive automation in one repo.</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GA adds file targeting, insights, and REST administration. Evaluate requires Enterprise Cloud.</a:t>
            </a:r>
          </a:p>
        </p:txBody>
      </p:sp>
      <p:sp>
        <p:nvSpPr>
          <p:cNvPr id="14" name="TextBox 13"/>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GitHub Changelog | 17 Sep 2026</a:t>
            </a:r>
          </a:p>
        </p:txBody>
      </p:sp>
      <p:sp>
        <p:nvSpPr>
          <p:cNvPr id="15" name="TextBox 14"/>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15-18 min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2 | Policy is configured centrally, not by a YAML job</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Before and after: policy targets one workflow file</a:t>
            </a:r>
          </a:p>
        </p:txBody>
      </p:sp>
      <p:sp>
        <p:nvSpPr>
          <p:cNvPr id="4" name="Rounded Rectangle 3"/>
          <p:cNvSpPr/>
          <p:nvPr/>
        </p:nvSpPr>
        <p:spPr>
          <a:xfrm>
            <a:off x="594360" y="2761488"/>
            <a:ext cx="8412480" cy="3611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a:bodyPr>
          <a:lstStyle/>
          <a:p>
            <a:pPr algn="l">
              <a:lnSpc>
                <a:spcPct val="110000"/>
              </a:lnSpc>
              <a:spcAft>
                <a:spcPts val="0"/>
              </a:spcAft>
            </a:pPr>
            <a:r>
              <a:rPr sz="1500" b="0">
                <a:solidFill>
                  <a:srgbClr val="0E1022"/>
                </a:solidFill>
                <a:latin typeface="Consolas"/>
              </a:rPr>
              <a:t>{</a:t>
            </a:r>
          </a:p>
          <a:p>
            <a:pPr algn="l">
              <a:lnSpc>
                <a:spcPct val="110000"/>
              </a:lnSpc>
              <a:spcAft>
                <a:spcPts val="0"/>
              </a:spcAft>
            </a:pPr>
            <a:r>
              <a:rPr sz="1500" b="0">
                <a:solidFill>
                  <a:srgbClr val="0E1022"/>
                </a:solidFill>
                <a:latin typeface="Consolas"/>
              </a:rPr>
              <a:t>  "name": "dxc-office-hour-demo-2",</a:t>
            </a:r>
          </a:p>
          <a:p>
            <a:pPr algn="l">
              <a:lnSpc>
                <a:spcPct val="110000"/>
              </a:lnSpc>
              <a:spcAft>
                <a:spcPts val="0"/>
              </a:spcAft>
            </a:pPr>
            <a:r>
              <a:rPr sz="1500" b="0">
                <a:solidFill>
                  <a:srgbClr val="0E1022"/>
                </a:solidFill>
                <a:latin typeface="Consolas"/>
              </a:rPr>
              <a:t>  "enforcement": "active",</a:t>
            </a:r>
          </a:p>
          <a:p>
            <a:pPr algn="l">
              <a:lnSpc>
                <a:spcPct val="110000"/>
              </a:lnSpc>
              <a:spcAft>
                <a:spcPts val="0"/>
              </a:spcAft>
            </a:pPr>
            <a:r>
              <a:rPr sz="1500" b="0">
                <a:solidFill>
                  <a:srgbClr val="0E1022"/>
                </a:solidFill>
                <a:latin typeface="Consolas"/>
              </a:rPr>
              <a:t>  "conditions": {"workflow_path": {</a:t>
            </a:r>
          </a:p>
          <a:p>
            <a:pPr algn="l">
              <a:lnSpc>
                <a:spcPct val="110000"/>
              </a:lnSpc>
              <a:spcAft>
                <a:spcPts val="0"/>
              </a:spcAft>
            </a:pPr>
            <a:r>
              <a:rPr sz="1500" b="0">
                <a:solidFill>
                  <a:srgbClr val="0E1022"/>
                </a:solidFill>
                <a:latin typeface="Consolas"/>
              </a:rPr>
              <a:t>    "include": [".github/workflows/demo-2-after.yml"],</a:t>
            </a:r>
          </a:p>
          <a:p>
            <a:pPr algn="l">
              <a:lnSpc>
                <a:spcPct val="110000"/>
              </a:lnSpc>
              <a:spcAft>
                <a:spcPts val="0"/>
              </a:spcAft>
            </a:pPr>
            <a:r>
              <a:rPr sz="1500" b="0">
                <a:solidFill>
                  <a:srgbClr val="0E1022"/>
                </a:solidFill>
                <a:latin typeface="Consolas"/>
              </a:rPr>
              <a:t>    "exclude": []</a:t>
            </a:r>
          </a:p>
          <a:p>
            <a:pPr algn="l">
              <a:lnSpc>
                <a:spcPct val="110000"/>
              </a:lnSpc>
              <a:spcAft>
                <a:spcPts val="0"/>
              </a:spcAft>
            </a:pPr>
            <a:r>
              <a:rPr sz="1500" b="0">
                <a:solidFill>
                  <a:srgbClr val="0E1022"/>
                </a:solidFill>
                <a:latin typeface="Consolas"/>
              </a:rPr>
              <a:t>  }},</a:t>
            </a:r>
          </a:p>
          <a:p>
            <a:pPr algn="l">
              <a:lnSpc>
                <a:spcPct val="110000"/>
              </a:lnSpc>
              <a:spcAft>
                <a:spcPts val="0"/>
              </a:spcAft>
            </a:pPr>
            <a:r>
              <a:rPr sz="1500" b="0">
                <a:solidFill>
                  <a:srgbClr val="0E1022"/>
                </a:solidFill>
                <a:latin typeface="Consolas"/>
              </a:rPr>
              <a:t>  "rules": [{"type": "restrict_action_events",</a:t>
            </a:r>
          </a:p>
          <a:p>
            <a:pPr algn="l">
              <a:lnSpc>
                <a:spcPct val="110000"/>
              </a:lnSpc>
              <a:spcAft>
                <a:spcPts val="0"/>
              </a:spcAft>
            </a:pPr>
            <a:r>
              <a:rPr sz="1500" b="0">
                <a:solidFill>
                  <a:srgbClr val="0E1022"/>
                </a:solidFill>
                <a:latin typeface="Consolas"/>
              </a:rPr>
              <a:t>    "parameters": {"allowed_events": ["push"]}}]</a:t>
            </a:r>
          </a:p>
          <a:p>
            <a:pPr algn="l">
              <a:lnSpc>
                <a:spcPct val="110000"/>
              </a:lnSpc>
              <a:spcAft>
                <a:spcPts val="0"/>
              </a:spcAft>
            </a:pPr>
            <a:r>
              <a:rPr sz="1500" b="0">
                <a:solidFill>
                  <a:srgbClr val="0E1022"/>
                </a:solidFill>
                <a:latin typeface="Consolas"/>
              </a:rPr>
              <a:t>}</a:t>
            </a:r>
          </a:p>
        </p:txBody>
      </p:sp>
      <p:sp>
        <p:nvSpPr>
          <p:cNvPr id="5" name="TextBox 4"/>
          <p:cNvSpPr txBox="1"/>
          <p:nvPr/>
        </p:nvSpPr>
        <p:spPr>
          <a:xfrm>
            <a:off x="9326880" y="283464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Before</a:t>
            </a:r>
          </a:p>
        </p:txBody>
      </p:sp>
      <p:sp>
        <p:nvSpPr>
          <p:cNvPr id="6" name="TextBox 5"/>
          <p:cNvSpPr txBox="1"/>
          <p:nvPr/>
        </p:nvSpPr>
        <p:spPr>
          <a:xfrm>
            <a:off x="9326880" y="3264408"/>
            <a:ext cx="4663440" cy="612648"/>
          </a:xfrm>
          <a:prstGeom prst="rect">
            <a:avLst/>
          </a:prstGeom>
          <a:noFill/>
        </p:spPr>
        <p:txBody>
          <a:bodyPr wrap="square" lIns="18288" tIns="18288" rIns="18288" bIns="18288" anchor="t">
            <a:normAutofit lnSpcReduction="10000"/>
          </a:bodyPr>
          <a:lstStyle/>
          <a:p>
            <a:pPr algn="l">
              <a:spcAft>
                <a:spcPts val="800"/>
              </a:spcAft>
            </a:pPr>
            <a:r>
              <a:rPr sz="1900" b="0">
                <a:solidFill>
                  <a:srgbClr val="555B65"/>
                </a:solidFill>
                <a:latin typeface="Arial"/>
              </a:rPr>
              <a:t>Manual workflow is outside the demo policy.</a:t>
            </a:r>
          </a:p>
        </p:txBody>
      </p:sp>
      <p:sp>
        <p:nvSpPr>
          <p:cNvPr id="7" name="TextBox 6"/>
          <p:cNvSpPr txBox="1"/>
          <p:nvPr/>
        </p:nvSpPr>
        <p:spPr>
          <a:xfrm>
            <a:off x="9326880" y="402336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After</a:t>
            </a:r>
          </a:p>
        </p:txBody>
      </p:sp>
      <p:sp>
        <p:nvSpPr>
          <p:cNvPr id="8" name="TextBox 7"/>
          <p:cNvSpPr txBox="1"/>
          <p:nvPr/>
        </p:nvSpPr>
        <p:spPr>
          <a:xfrm>
            <a:off x="9326880" y="4453128"/>
            <a:ext cx="4663440" cy="612648"/>
          </a:xfrm>
          <a:prstGeom prst="rect">
            <a:avLst/>
          </a:prstGeom>
          <a:noFill/>
        </p:spPr>
        <p:txBody>
          <a:bodyPr wrap="square" lIns="18288" tIns="18288" rIns="18288" bIns="18288" anchor="t">
            <a:normAutofit lnSpcReduction="10000"/>
          </a:bodyPr>
          <a:lstStyle/>
          <a:p>
            <a:pPr algn="l">
              <a:spcAft>
                <a:spcPts val="800"/>
              </a:spcAft>
            </a:pPr>
            <a:r>
              <a:rPr sz="1900" b="0">
                <a:solidFill>
                  <a:srgbClr val="555B65"/>
                </a:solidFill>
                <a:latin typeface="Arial"/>
              </a:rPr>
              <a:t>Manual trigger is disallowed for this exact path.</a:t>
            </a:r>
          </a:p>
        </p:txBody>
      </p:sp>
      <p:sp>
        <p:nvSpPr>
          <p:cNvPr id="9" name="TextBox 8"/>
          <p:cNvSpPr txBox="1"/>
          <p:nvPr/>
        </p:nvSpPr>
        <p:spPr>
          <a:xfrm>
            <a:off x="9326880" y="5212080"/>
            <a:ext cx="4663440" cy="320040"/>
          </a:xfrm>
          <a:prstGeom prst="rect">
            <a:avLst/>
          </a:prstGeom>
          <a:noFill/>
        </p:spPr>
        <p:txBody>
          <a:bodyPr wrap="square" lIns="18288" tIns="18288" rIns="18288" bIns="18288" anchor="t">
            <a:normAutofit lnSpcReduction="10000"/>
          </a:bodyPr>
          <a:lstStyle/>
          <a:p>
            <a:pPr algn="l">
              <a:spcAft>
                <a:spcPts val="800"/>
              </a:spcAft>
            </a:pPr>
            <a:r>
              <a:rPr sz="2000" b="1">
                <a:solidFill>
                  <a:srgbClr val="0E1022"/>
                </a:solidFill>
                <a:latin typeface="Arial"/>
              </a:rPr>
              <a:t>Keep it simple</a:t>
            </a:r>
          </a:p>
        </p:txBody>
      </p:sp>
      <p:sp>
        <p:nvSpPr>
          <p:cNvPr id="10" name="TextBox 9"/>
          <p:cNvSpPr txBox="1"/>
          <p:nvPr/>
        </p:nvSpPr>
        <p:spPr>
          <a:xfrm>
            <a:off x="9326880" y="5641848"/>
            <a:ext cx="4663440" cy="612648"/>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Set policy in Settings &gt; Actions &gt; Policies.</a:t>
            </a:r>
          </a:p>
        </p:txBody>
      </p:sp>
      <p:sp>
        <p:nvSpPr>
          <p:cNvPr id="11" name="TextBox 10"/>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Actions policies REST API</a:t>
            </a:r>
          </a:p>
        </p:txBody>
      </p:sp>
      <p:sp>
        <p:nvSpPr>
          <p:cNvPr id="12" name="TextBox 11"/>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18-20 min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Demo 2 | Before runs; policy blocks After</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926080"/>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1. Before</a:t>
            </a:r>
          </a:p>
        </p:txBody>
      </p:sp>
      <p:sp>
        <p:nvSpPr>
          <p:cNvPr id="7" name="TextBox 6"/>
          <p:cNvSpPr txBox="1"/>
          <p:nvPr/>
        </p:nvSpPr>
        <p:spPr>
          <a:xfrm>
            <a:off x="3657600" y="2926080"/>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the harmless Before workflow; observe its completed job.</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233672"/>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2. Set policy</a:t>
            </a:r>
          </a:p>
        </p:txBody>
      </p:sp>
      <p:sp>
        <p:nvSpPr>
          <p:cNvPr id="10" name="TextBox 9"/>
          <p:cNvSpPr txBox="1"/>
          <p:nvPr/>
        </p:nvSpPr>
        <p:spPr>
          <a:xfrm>
            <a:off x="3657600" y="4233672"/>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Target only demo-2-after.yml; Active; allow push, not manual dispatch.</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41264"/>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3. After</a:t>
            </a:r>
          </a:p>
        </p:txBody>
      </p:sp>
      <p:sp>
        <p:nvSpPr>
          <p:cNvPr id="13" name="TextBox 12"/>
          <p:cNvSpPr txBox="1"/>
          <p:nvPr/>
        </p:nvSpPr>
        <p:spPr>
          <a:xfrm>
            <a:off x="3657600" y="5541264"/>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Manually trigger After. Show the policy error before any job executes.</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If the After job reaches a runner, the intended policy did not block it.</a:t>
            </a:r>
          </a:p>
        </p:txBody>
      </p:sp>
      <p:sp>
        <p:nvSpPr>
          <p:cNvPr id="18" name="TextBox 17"/>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20-26 min</a:t>
            </a:r>
          </a:p>
        </p:txBody>
      </p:sp>
      <p:sp>
        <p:nvSpPr>
          <p:cNvPr id="19" name="TextBox 18"/>
          <p:cNvSpPr txBox="1"/>
          <p:nvPr/>
        </p:nvSpPr>
        <p:spPr>
          <a:xfrm>
            <a:off x="594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3"/>
              </a:rPr>
              <a:t>Before: demo-2-before.yml</a:t>
            </a:r>
          </a:p>
        </p:txBody>
      </p:sp>
      <p:sp>
        <p:nvSpPr>
          <p:cNvPr id="20" name="TextBox 19"/>
          <p:cNvSpPr txBox="1"/>
          <p:nvPr/>
        </p:nvSpPr>
        <p:spPr>
          <a:xfrm>
            <a:off x="7452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4"/>
              </a:rPr>
              <a:t>After: demo-2-after.yml</a:t>
            </a:r>
          </a:p>
        </p:txBody>
      </p:sp>
      <p:sp>
        <p:nvSpPr>
          <p:cNvPr id="21" name="TextBox 20"/>
          <p:cNvSpPr txBox="1"/>
          <p:nvPr/>
        </p:nvSpPr>
        <p:spPr>
          <a:xfrm>
            <a:off x="10917936" y="2980944"/>
            <a:ext cx="2916936"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Policy setup</a:t>
            </a:r>
          </a:p>
        </p:txBody>
      </p:sp>
      <p:sp>
        <p:nvSpPr>
          <p:cNvPr id="22" name="TextBox 21"/>
          <p:cNvSpPr txBox="1"/>
          <p:nvPr/>
        </p:nvSpPr>
        <p:spPr>
          <a:xfrm>
            <a:off x="10917936" y="3730752"/>
            <a:ext cx="2916936" cy="256946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Active policy</a:t>
            </a:r>
          </a:p>
          <a:p>
            <a:pPr algn="l">
              <a:spcAft>
                <a:spcPts val="800"/>
              </a:spcAft>
            </a:pPr>
            <a:r>
              <a:rPr sz="2000" b="0">
                <a:solidFill>
                  <a:srgbClr val="FFFFFF"/>
                </a:solidFill>
                <a:latin typeface="Arial"/>
              </a:rPr>
              <a:t>Exact After path</a:t>
            </a:r>
          </a:p>
          <a:p>
            <a:pPr algn="l">
              <a:spcAft>
                <a:spcPts val="800"/>
              </a:spcAft>
            </a:pPr>
            <a:r>
              <a:rPr sz="2000" b="0">
                <a:solidFill>
                  <a:srgbClr val="FFFFFF"/>
                </a:solidFill>
                <a:latin typeface="Arial"/>
              </a:rPr>
              <a:t>Allow push only</a:t>
            </a:r>
          </a:p>
          <a:p>
            <a:pPr algn="l">
              <a:spcAft>
                <a:spcPts val="800"/>
              </a:spcAft>
            </a:pPr>
            <a:r>
              <a:rPr sz="2000" b="0">
                <a:solidFill>
                  <a:srgbClr val="FFFFFF"/>
                </a:solidFill>
                <a:latin typeface="Arial"/>
              </a:rPr>
              <a:t>Show pre-job block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3 | Artifact visibility change | Effective</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Expired artifacts are now absent, not stale UI entries</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Previously</a:t>
            </a:r>
          </a:p>
        </p:txBody>
      </p:sp>
      <p:sp>
        <p:nvSpPr>
          <p:cNvPr id="6" name="TextBox 5"/>
          <p:cNvSpPr txBox="1"/>
          <p:nvPr/>
        </p:nvSpPr>
        <p:spPr>
          <a:xfrm>
            <a:off x="795528"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Artifact entries could remain visible.</a:t>
            </a:r>
          </a:p>
          <a:p>
            <a:pPr algn="l">
              <a:spcAft>
                <a:spcPts val="800"/>
              </a:spcAft>
            </a:pPr>
            <a:r>
              <a:rPr sz="2000" b="0">
                <a:solidFill>
                  <a:srgbClr val="555B65"/>
                </a:solidFill>
                <a:latin typeface="Arial"/>
              </a:rPr>
              <a:t>An 'Expired' status badge marked them.</a:t>
            </a:r>
          </a:p>
          <a:p>
            <a:pPr algn="l">
              <a:spcAft>
                <a:spcPts val="800"/>
              </a:spcAft>
            </a:pPr>
            <a:r>
              <a:rPr sz="2000" b="0">
                <a:solidFill>
                  <a:srgbClr val="555B65"/>
                </a:solidFill>
                <a:latin typeface="Arial"/>
              </a:rPr>
              <a:t>Their files had already been deleted.</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53527"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Now</a:t>
            </a:r>
          </a:p>
        </p:txBody>
      </p:sp>
      <p:sp>
        <p:nvSpPr>
          <p:cNvPr id="9" name="TextBox 8"/>
          <p:cNvSpPr txBox="1"/>
          <p:nvPr/>
        </p:nvSpPr>
        <p:spPr>
          <a:xfrm>
            <a:off x="7653527"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Expired artifacts disappear from the run summary.</a:t>
            </a:r>
          </a:p>
          <a:p>
            <a:pPr algn="l">
              <a:spcAft>
                <a:spcPts val="800"/>
              </a:spcAft>
            </a:pPr>
            <a:r>
              <a:rPr sz="2000" b="0">
                <a:solidFill>
                  <a:srgbClr val="FFFFFF"/>
                </a:solidFill>
                <a:latin typeface="Arial"/>
              </a:rPr>
              <a:t>REST results no longer retain expired entries.</a:t>
            </a:r>
          </a:p>
          <a:p>
            <a:pPr algn="l">
              <a:spcAft>
                <a:spcPts val="800"/>
              </a:spcAft>
            </a:pPr>
            <a:r>
              <a:rPr sz="2000" b="0">
                <a:solidFill>
                  <a:srgbClr val="FFFFFF"/>
                </a:solidFill>
                <a:latin typeface="Arial"/>
              </a:rPr>
              <a:t>Creation evidence can still be found in retained logs.</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This is a display/API change. Artifact retention settings and billing are unchanged.</a:t>
            </a:r>
          </a:p>
        </p:txBody>
      </p:sp>
      <p:sp>
        <p:nvSpPr>
          <p:cNvPr id="11" name="TextBox 10"/>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GitHub Changelog | 24 Sep 2026</a:t>
            </a:r>
          </a:p>
        </p:txBody>
      </p:sp>
      <p:sp>
        <p:nvSpPr>
          <p:cNvPr id="12" name="TextBox 11"/>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26-28 min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3 | Two simple workflows separated by real elapsed time</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Natural expiry needs a prepared evidence chain</a:t>
            </a:r>
          </a:p>
        </p:txBody>
      </p:sp>
      <p:sp>
        <p:nvSpPr>
          <p:cNvPr id="4" name="Rounded Rectangle 3"/>
          <p:cNvSpPr/>
          <p:nvPr/>
        </p:nvSpPr>
        <p:spPr>
          <a:xfrm>
            <a:off x="59436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5765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52094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8423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371475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717804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1064133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Before</a:t>
            </a:r>
          </a:p>
        </p:txBody>
      </p:sp>
      <p:sp>
        <p:nvSpPr>
          <p:cNvPr id="12" name="TextBox 11"/>
          <p:cNvSpPr txBox="1"/>
          <p:nvPr/>
        </p:nvSpPr>
        <p:spPr>
          <a:xfrm>
            <a:off x="77724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Upload one-day artifact</a:t>
            </a:r>
          </a:p>
          <a:p>
            <a:pPr algn="l">
              <a:spcAft>
                <a:spcPts val="800"/>
              </a:spcAft>
            </a:pPr>
            <a:r>
              <a:rPr sz="1900" b="0">
                <a:solidFill>
                  <a:srgbClr val="555B65"/>
                </a:solidFill>
                <a:latin typeface="Arial"/>
              </a:rPr>
              <a:t>and retain its receipt.</a:t>
            </a:r>
          </a:p>
        </p:txBody>
      </p:sp>
      <p:sp>
        <p:nvSpPr>
          <p:cNvPr id="13" name="TextBox 12"/>
          <p:cNvSpPr txBox="1"/>
          <p:nvPr/>
        </p:nvSpPr>
        <p:spPr>
          <a:xfrm>
            <a:off x="424053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Record</a:t>
            </a:r>
          </a:p>
        </p:txBody>
      </p:sp>
      <p:sp>
        <p:nvSpPr>
          <p:cNvPr id="14" name="TextBox 13"/>
          <p:cNvSpPr txBox="1"/>
          <p:nvPr/>
        </p:nvSpPr>
        <p:spPr>
          <a:xfrm>
            <a:off x="424053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Copy the Before run ID</a:t>
            </a:r>
          </a:p>
          <a:p>
            <a:pPr algn="l">
              <a:spcAft>
                <a:spcPts val="800"/>
              </a:spcAft>
            </a:pPr>
            <a:r>
              <a:rPr sz="1900" b="0">
                <a:solidFill>
                  <a:srgbClr val="555B65"/>
                </a:solidFill>
                <a:latin typeface="Arial"/>
              </a:rPr>
              <a:t>and actual expires_at.</a:t>
            </a:r>
          </a:p>
        </p:txBody>
      </p:sp>
      <p:sp>
        <p:nvSpPr>
          <p:cNvPr id="15" name="TextBox 14"/>
          <p:cNvSpPr txBox="1"/>
          <p:nvPr/>
        </p:nvSpPr>
        <p:spPr>
          <a:xfrm>
            <a:off x="7703819"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Wait</a:t>
            </a:r>
          </a:p>
        </p:txBody>
      </p:sp>
      <p:sp>
        <p:nvSpPr>
          <p:cNvPr id="16" name="TextBox 15"/>
          <p:cNvSpPr txBox="1"/>
          <p:nvPr/>
        </p:nvSpPr>
        <p:spPr>
          <a:xfrm>
            <a:off x="7703819"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Allow natural expiry</a:t>
            </a:r>
          </a:p>
          <a:p>
            <a:pPr algn="l">
              <a:spcAft>
                <a:spcPts val="800"/>
              </a:spcAft>
            </a:pPr>
            <a:r>
              <a:rPr sz="1900" b="0">
                <a:solidFill>
                  <a:srgbClr val="555B65"/>
                </a:solidFill>
                <a:latin typeface="Arial"/>
              </a:rPr>
              <a:t>and service cleanup.</a:t>
            </a:r>
          </a:p>
        </p:txBody>
      </p:sp>
      <p:sp>
        <p:nvSpPr>
          <p:cNvPr id="17" name="TextBox 16"/>
          <p:cNvSpPr txBox="1"/>
          <p:nvPr/>
        </p:nvSpPr>
        <p:spPr>
          <a:xfrm>
            <a:off x="1116711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After</a:t>
            </a:r>
          </a:p>
        </p:txBody>
      </p:sp>
      <p:sp>
        <p:nvSpPr>
          <p:cNvPr id="18" name="TextBox 17"/>
          <p:cNvSpPr txBox="1"/>
          <p:nvPr/>
        </p:nvSpPr>
        <p:spPr>
          <a:xfrm>
            <a:off x="1116711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List is empty;</a:t>
            </a:r>
          </a:p>
          <a:p>
            <a:pPr algn="l">
              <a:spcAft>
                <a:spcPts val="800"/>
              </a:spcAft>
            </a:pPr>
            <a:r>
              <a:rPr sz="1900" b="0">
                <a:solidFill>
                  <a:srgbClr val="555B65"/>
                </a:solidFill>
                <a:latin typeface="Arial"/>
              </a:rPr>
              <a:t>direct GET returns 404.</a:t>
            </a:r>
          </a:p>
        </p:txBody>
      </p:sp>
      <p:sp>
        <p:nvSpPr>
          <p:cNvPr id="19" name="Rounded Rectangle 18"/>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No manual deletion. Absence alone cannot distinguish deletion from natural expiry.</a:t>
            </a:r>
          </a:p>
        </p:txBody>
      </p:sp>
      <p:sp>
        <p:nvSpPr>
          <p:cNvPr id="20" name="TextBox 19"/>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Artifact visibility release</a:t>
            </a:r>
          </a:p>
        </p:txBody>
      </p:sp>
      <p:sp>
        <p:nvSpPr>
          <p:cNvPr id="21" name="TextBox 20"/>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28-30 min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Demo 3 | Before exists; After is absent</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926080"/>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1. Before session</a:t>
            </a:r>
          </a:p>
        </p:txBody>
      </p:sp>
      <p:sp>
        <p:nvSpPr>
          <p:cNvPr id="7" name="TextBox 6"/>
          <p:cNvSpPr txBox="1"/>
          <p:nvPr/>
        </p:nvSpPr>
        <p:spPr>
          <a:xfrm>
            <a:off x="3657600" y="2926080"/>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Before at least a day early. Keep its FULL successful run ID.</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233672"/>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2. After expiry</a:t>
            </a:r>
          </a:p>
        </p:txBody>
      </p:sp>
      <p:sp>
        <p:nvSpPr>
          <p:cNvPr id="10" name="TextBox 9"/>
          <p:cNvSpPr txBox="1"/>
          <p:nvPr/>
        </p:nvSpPr>
        <p:spPr>
          <a:xfrm>
            <a:off x="3657600" y="4233672"/>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After with before_run_id after expires_at AND service cleanup.</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41264"/>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3. Compare</a:t>
            </a:r>
          </a:p>
        </p:txBody>
      </p:sp>
      <p:sp>
        <p:nvSpPr>
          <p:cNvPr id="13" name="TextBox 12"/>
          <p:cNvSpPr txBox="1"/>
          <p:nvPr/>
        </p:nvSpPr>
        <p:spPr>
          <a:xfrm>
            <a:off x="3657600" y="5541264"/>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Original receipt and upload log vs empty list and direct GET 404.</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Do not delete the target. A fresh Before run cannot demonstrate natural expiry immediately.</a:t>
            </a:r>
          </a:p>
        </p:txBody>
      </p:sp>
      <p:sp>
        <p:nvSpPr>
          <p:cNvPr id="18" name="TextBox 17"/>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30-34 min</a:t>
            </a:r>
          </a:p>
        </p:txBody>
      </p:sp>
      <p:sp>
        <p:nvSpPr>
          <p:cNvPr id="19" name="TextBox 18"/>
          <p:cNvSpPr txBox="1"/>
          <p:nvPr/>
        </p:nvSpPr>
        <p:spPr>
          <a:xfrm>
            <a:off x="594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3"/>
              </a:rPr>
              <a:t>Before: demo-3-before.yml</a:t>
            </a:r>
          </a:p>
        </p:txBody>
      </p:sp>
      <p:sp>
        <p:nvSpPr>
          <p:cNvPr id="20" name="TextBox 19"/>
          <p:cNvSpPr txBox="1"/>
          <p:nvPr/>
        </p:nvSpPr>
        <p:spPr>
          <a:xfrm>
            <a:off x="7452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4"/>
              </a:rPr>
              <a:t>After: demo-3-after.yml</a:t>
            </a:r>
          </a:p>
        </p:txBody>
      </p:sp>
      <p:sp>
        <p:nvSpPr>
          <p:cNvPr id="21" name="TextBox 20"/>
          <p:cNvSpPr txBox="1"/>
          <p:nvPr/>
        </p:nvSpPr>
        <p:spPr>
          <a:xfrm>
            <a:off x="10917936" y="2980944"/>
            <a:ext cx="2916936"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Inputs + timing</a:t>
            </a:r>
          </a:p>
        </p:txBody>
      </p:sp>
      <p:sp>
        <p:nvSpPr>
          <p:cNvPr id="22" name="TextBox 21"/>
          <p:cNvSpPr txBox="1"/>
          <p:nvPr/>
        </p:nvSpPr>
        <p:spPr>
          <a:xfrm>
            <a:off x="10917936" y="3730752"/>
            <a:ext cx="2916936" cy="256946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Before: seed early</a:t>
            </a:r>
          </a:p>
          <a:p>
            <a:pPr algn="l">
              <a:spcAft>
                <a:spcPts val="800"/>
              </a:spcAft>
            </a:pPr>
            <a:r>
              <a:rPr sz="2000" b="0">
                <a:solidFill>
                  <a:srgbClr val="FFFFFF"/>
                </a:solidFill>
                <a:latin typeface="Arial"/>
              </a:rPr>
              <a:t>After: before_run_id</a:t>
            </a:r>
          </a:p>
          <a:p>
            <a:pPr algn="l">
              <a:spcAft>
                <a:spcPts val="800"/>
              </a:spcAft>
            </a:pPr>
            <a:r>
              <a:rPr sz="2000" b="0">
                <a:solidFill>
                  <a:srgbClr val="FFFFFF"/>
                </a:solidFill>
                <a:latin typeface="Arial"/>
              </a:rPr>
              <a:t>Wait past expires_at</a:t>
            </a:r>
          </a:p>
          <a:p>
            <a:pPr algn="l">
              <a:spcAft>
                <a:spcPts val="800"/>
              </a:spcAft>
            </a:pPr>
            <a:r>
              <a:rPr sz="2000" b="0">
                <a:solidFill>
                  <a:srgbClr val="FFFFFF"/>
                </a:solidFill>
                <a:latin typeface="Arial"/>
              </a:rPr>
              <a:t>Receipt: 14 days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4 | Count accuracy and retrieval completeness</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Two different limits affect workflow-run reporting</a:t>
            </a:r>
          </a:p>
        </p:txBody>
      </p:sp>
      <p:sp>
        <p:nvSpPr>
          <p:cNvPr id="4" name="Rounded Rectangle 3"/>
          <p:cNvSpPr/>
          <p:nvPr/>
        </p:nvSpPr>
        <p:spPr>
          <a:xfrm>
            <a:off x="594360" y="2816352"/>
            <a:ext cx="6583680" cy="3401568"/>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3063240"/>
            <a:ext cx="6035040" cy="932688"/>
          </a:xfrm>
          <a:prstGeom prst="rect">
            <a:avLst/>
          </a:prstGeom>
          <a:noFill/>
        </p:spPr>
        <p:txBody>
          <a:bodyPr wrap="square" lIns="18288" tIns="18288" rIns="18288" bIns="18288" anchor="t">
            <a:normAutofit/>
          </a:bodyPr>
          <a:lstStyle/>
          <a:p>
            <a:pPr algn="l">
              <a:spcAft>
                <a:spcPts val="800"/>
              </a:spcAft>
            </a:pPr>
            <a:r>
              <a:rPr sz="5400" b="1">
                <a:solidFill>
                  <a:srgbClr val="345282"/>
                </a:solidFill>
                <a:latin typeface="Arial"/>
              </a:rPr>
              <a:t>2,500+</a:t>
            </a:r>
          </a:p>
        </p:txBody>
      </p:sp>
      <p:sp>
        <p:nvSpPr>
          <p:cNvPr id="6" name="TextBox 5"/>
          <p:cNvSpPr txBox="1"/>
          <p:nvPr/>
        </p:nvSpPr>
        <p:spPr>
          <a:xfrm>
            <a:off x="850392" y="4242816"/>
            <a:ext cx="6035040" cy="475488"/>
          </a:xfrm>
          <a:prstGeom prst="rect">
            <a:avLst/>
          </a:prstGeom>
          <a:noFill/>
        </p:spPr>
        <p:txBody>
          <a:bodyPr wrap="square" lIns="18288" tIns="18288" rIns="18288" bIns="18288" anchor="t">
            <a:normAutofit/>
          </a:bodyPr>
          <a:lstStyle/>
          <a:p>
            <a:pPr algn="l">
              <a:spcAft>
                <a:spcPts val="800"/>
              </a:spcAft>
            </a:pPr>
            <a:r>
              <a:rPr sz="2400" b="1">
                <a:solidFill>
                  <a:srgbClr val="0E1022"/>
                </a:solidFill>
                <a:latin typeface="Arial"/>
              </a:rPr>
              <a:t>Large-count label</a:t>
            </a:r>
          </a:p>
        </p:txBody>
      </p:sp>
      <p:sp>
        <p:nvSpPr>
          <p:cNvPr id="7" name="TextBox 6"/>
          <p:cNvSpPr txBox="1"/>
          <p:nvPr/>
        </p:nvSpPr>
        <p:spPr>
          <a:xfrm>
            <a:off x="850392" y="5074920"/>
            <a:ext cx="6035040" cy="841248"/>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Counts beyond 2,500 are bounded, not exact.</a:t>
            </a:r>
          </a:p>
        </p:txBody>
      </p:sp>
      <p:sp>
        <p:nvSpPr>
          <p:cNvPr id="8" name="Rounded Rectangle 7"/>
          <p:cNvSpPr/>
          <p:nvPr/>
        </p:nvSpPr>
        <p:spPr>
          <a:xfrm>
            <a:off x="7452360" y="2816352"/>
            <a:ext cx="6583680" cy="3401568"/>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08392" y="3063240"/>
            <a:ext cx="6035040" cy="932688"/>
          </a:xfrm>
          <a:prstGeom prst="rect">
            <a:avLst/>
          </a:prstGeom>
          <a:noFill/>
        </p:spPr>
        <p:txBody>
          <a:bodyPr wrap="square" lIns="18288" tIns="18288" rIns="18288" bIns="18288" anchor="t">
            <a:normAutofit/>
          </a:bodyPr>
          <a:lstStyle/>
          <a:p>
            <a:pPr algn="l">
              <a:spcAft>
                <a:spcPts val="800"/>
              </a:spcAft>
            </a:pPr>
            <a:r>
              <a:rPr sz="5400" b="1">
                <a:solidFill>
                  <a:srgbClr val="345282"/>
                </a:solidFill>
                <a:latin typeface="Arial"/>
              </a:rPr>
              <a:t>1,000</a:t>
            </a:r>
          </a:p>
        </p:txBody>
      </p:sp>
      <p:sp>
        <p:nvSpPr>
          <p:cNvPr id="10" name="TextBox 9"/>
          <p:cNvSpPr txBox="1"/>
          <p:nvPr/>
        </p:nvSpPr>
        <p:spPr>
          <a:xfrm>
            <a:off x="7708392" y="4242816"/>
            <a:ext cx="6035040" cy="475488"/>
          </a:xfrm>
          <a:prstGeom prst="rect">
            <a:avLst/>
          </a:prstGeom>
          <a:noFill/>
        </p:spPr>
        <p:txBody>
          <a:bodyPr wrap="square" lIns="18288" tIns="18288" rIns="18288" bIns="18288" anchor="t">
            <a:normAutofit/>
          </a:bodyPr>
          <a:lstStyle/>
          <a:p>
            <a:pPr algn="l">
              <a:spcAft>
                <a:spcPts val="800"/>
              </a:spcAft>
            </a:pPr>
            <a:r>
              <a:rPr sz="2400" b="1">
                <a:solidFill>
                  <a:srgbClr val="0E1022"/>
                </a:solidFill>
                <a:latin typeface="Arial"/>
              </a:rPr>
              <a:t>Filtered retrieval cap</a:t>
            </a:r>
          </a:p>
        </p:txBody>
      </p:sp>
      <p:sp>
        <p:nvSpPr>
          <p:cNvPr id="11" name="TextBox 10"/>
          <p:cNvSpPr txBox="1"/>
          <p:nvPr/>
        </p:nvSpPr>
        <p:spPr>
          <a:xfrm>
            <a:off x="7708392" y="5074920"/>
            <a:ext cx="6035040" cy="841248"/>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A single filtered search returns up to 1,000 runs.</a:t>
            </a:r>
          </a:p>
        </p:txBody>
      </p:sp>
      <p:sp>
        <p:nvSpPr>
          <p:cNvPr id="12" name="Rounded Rectangle 11"/>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Ordinary pagination does not remove the filtered cap. Inspect actual API count values.</a:t>
            </a:r>
          </a:p>
        </p:txBody>
      </p:sp>
      <p:sp>
        <p:nvSpPr>
          <p:cNvPr id="13" name="TextBox 12"/>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GitHub Changelog | 25 Sep 2026</a:t>
            </a:r>
          </a:p>
        </p:txBody>
      </p:sp>
      <p:sp>
        <p:nvSpPr>
          <p:cNvPr id="14" name="TextBox 13"/>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34-36 min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4 | One UTC day; real API results; explicit saturation guard</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Keep reporting simple: choose a day, then follow pages</a:t>
            </a:r>
          </a:p>
        </p:txBody>
      </p:sp>
      <p:sp>
        <p:nvSpPr>
          <p:cNvPr id="4" name="Rounded Rectangle 3"/>
          <p:cNvSpPr/>
          <p:nvPr/>
        </p:nvSpPr>
        <p:spPr>
          <a:xfrm>
            <a:off x="59436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5765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52094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84230" y="3383280"/>
            <a:ext cx="3051810" cy="24688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ight Arrow 7"/>
          <p:cNvSpPr/>
          <p:nvPr/>
        </p:nvSpPr>
        <p:spPr>
          <a:xfrm>
            <a:off x="371475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717804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10641330" y="4315968"/>
            <a:ext cx="274320" cy="347472"/>
          </a:xfrm>
          <a:prstGeom prst="rightArrow">
            <a:avLst/>
          </a:prstGeom>
          <a:solidFill>
            <a:srgbClr val="34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Before</a:t>
            </a:r>
          </a:p>
        </p:txBody>
      </p:sp>
      <p:sp>
        <p:nvSpPr>
          <p:cNvPr id="12" name="TextBox 11"/>
          <p:cNvSpPr txBox="1"/>
          <p:nvPr/>
        </p:nvSpPr>
        <p:spPr>
          <a:xfrm>
            <a:off x="77724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Broad query;</a:t>
            </a:r>
          </a:p>
          <a:p>
            <a:pPr algn="l">
              <a:spcAft>
                <a:spcPts val="800"/>
              </a:spcAft>
            </a:pPr>
            <a:r>
              <a:rPr sz="1900" b="0">
                <a:solidFill>
                  <a:srgbClr val="555B65"/>
                </a:solidFill>
                <a:latin typeface="Arial"/>
              </a:rPr>
              <a:t>only the first two runs.</a:t>
            </a:r>
          </a:p>
        </p:txBody>
      </p:sp>
      <p:sp>
        <p:nvSpPr>
          <p:cNvPr id="13" name="TextBox 12"/>
          <p:cNvSpPr txBox="1"/>
          <p:nvPr/>
        </p:nvSpPr>
        <p:spPr>
          <a:xfrm>
            <a:off x="424053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Bound</a:t>
            </a:r>
          </a:p>
        </p:txBody>
      </p:sp>
      <p:sp>
        <p:nvSpPr>
          <p:cNvPr id="14" name="TextBox 13"/>
          <p:cNvSpPr txBox="1"/>
          <p:nvPr/>
        </p:nvSpPr>
        <p:spPr>
          <a:xfrm>
            <a:off x="424053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Choose a UTC day</a:t>
            </a:r>
          </a:p>
          <a:p>
            <a:pPr algn="l">
              <a:spcAft>
                <a:spcPts val="800"/>
              </a:spcAft>
            </a:pPr>
            <a:r>
              <a:rPr sz="1900" b="0">
                <a:solidFill>
                  <a:srgbClr val="555B65"/>
                </a:solidFill>
                <a:latin typeface="Arial"/>
              </a:rPr>
              <a:t>containing rehearsal runs.</a:t>
            </a:r>
          </a:p>
        </p:txBody>
      </p:sp>
      <p:sp>
        <p:nvSpPr>
          <p:cNvPr id="15" name="TextBox 14"/>
          <p:cNvSpPr txBox="1"/>
          <p:nvPr/>
        </p:nvSpPr>
        <p:spPr>
          <a:xfrm>
            <a:off x="7703819"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Guard</a:t>
            </a:r>
          </a:p>
        </p:txBody>
      </p:sp>
      <p:sp>
        <p:nvSpPr>
          <p:cNvPr id="16" name="TextBox 15"/>
          <p:cNvSpPr txBox="1"/>
          <p:nvPr/>
        </p:nvSpPr>
        <p:spPr>
          <a:xfrm>
            <a:off x="7703819"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If count reaches 1,000,</a:t>
            </a:r>
          </a:p>
          <a:p>
            <a:pPr algn="l">
              <a:spcAft>
                <a:spcPts val="800"/>
              </a:spcAft>
            </a:pPr>
            <a:r>
              <a:rPr sz="1900" b="0">
                <a:solidFill>
                  <a:srgbClr val="555B65"/>
                </a:solidFill>
                <a:latin typeface="Arial"/>
              </a:rPr>
              <a:t>stop and narrow further.</a:t>
            </a:r>
          </a:p>
        </p:txBody>
      </p:sp>
      <p:sp>
        <p:nvSpPr>
          <p:cNvPr id="17" name="TextBox 16"/>
          <p:cNvSpPr txBox="1"/>
          <p:nvPr/>
        </p:nvSpPr>
        <p:spPr>
          <a:xfrm>
            <a:off x="11167110" y="3611880"/>
            <a:ext cx="2686050" cy="502920"/>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After</a:t>
            </a:r>
          </a:p>
        </p:txBody>
      </p:sp>
      <p:sp>
        <p:nvSpPr>
          <p:cNvPr id="18" name="TextBox 17"/>
          <p:cNvSpPr txBox="1"/>
          <p:nvPr/>
        </p:nvSpPr>
        <p:spPr>
          <a:xfrm>
            <a:off x="11167110" y="4498848"/>
            <a:ext cx="2686050" cy="1033271"/>
          </a:xfrm>
          <a:prstGeom prst="rect">
            <a:avLst/>
          </a:prstGeom>
          <a:noFill/>
        </p:spPr>
        <p:txBody>
          <a:bodyPr wrap="square" lIns="18288" tIns="18288" rIns="18288" bIns="18288" anchor="t">
            <a:normAutofit/>
          </a:bodyPr>
          <a:lstStyle/>
          <a:p>
            <a:pPr algn="l">
              <a:spcAft>
                <a:spcPts val="800"/>
              </a:spcAft>
            </a:pPr>
            <a:r>
              <a:rPr sz="1900" b="0">
                <a:solidFill>
                  <a:srgbClr val="555B65"/>
                </a:solidFill>
                <a:latin typeface="Arial"/>
              </a:rPr>
              <a:t>Follow pages;</a:t>
            </a:r>
          </a:p>
          <a:p>
            <a:pPr algn="l">
              <a:spcAft>
                <a:spcPts val="800"/>
              </a:spcAft>
            </a:pPr>
            <a:r>
              <a:rPr sz="1900" b="0">
                <a:solidFill>
                  <a:srgbClr val="555B65"/>
                </a:solidFill>
                <a:latin typeface="Arial"/>
              </a:rPr>
              <a:t>show distinct run IDs.</a:t>
            </a:r>
          </a:p>
        </p:txBody>
      </p:sp>
      <p:sp>
        <p:nvSpPr>
          <p:cNvPr id="19" name="Rounded Rectangle 18"/>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API enumeration is not an atomic snapshot; concurrent record changes still matter.</a:t>
            </a:r>
          </a:p>
        </p:txBody>
      </p:sp>
      <p:sp>
        <p:nvSpPr>
          <p:cNvPr id="20" name="TextBox 19"/>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Workflow runs REST reference</a:t>
            </a:r>
          </a:p>
        </p:txBody>
      </p:sp>
      <p:sp>
        <p:nvSpPr>
          <p:cNvPr id="21" name="TextBox 20"/>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36-37 min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Demo 4 | One broad page vs date-bounded pages</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926080"/>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1. Before</a:t>
            </a:r>
          </a:p>
        </p:txBody>
      </p:sp>
      <p:sp>
        <p:nvSpPr>
          <p:cNvPr id="7" name="TextBox 6"/>
          <p:cNvSpPr txBox="1"/>
          <p:nvPr/>
        </p:nvSpPr>
        <p:spPr>
          <a:xfrm>
            <a:off x="3657600" y="2926080"/>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Run the broad two-record query; inspect returned count vs records shown.</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233672"/>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2. After</a:t>
            </a:r>
          </a:p>
        </p:txBody>
      </p:sp>
      <p:sp>
        <p:nvSpPr>
          <p:cNvPr id="10" name="TextBox 9"/>
          <p:cNvSpPr txBox="1"/>
          <p:nvPr/>
        </p:nvSpPr>
        <p:spPr>
          <a:xfrm>
            <a:off x="3657600" y="4233672"/>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Set utc_date to the rehearsal UTC day; follow all below-cap pages.</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41264"/>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3. Compare</a:t>
            </a:r>
          </a:p>
        </p:txBody>
      </p:sp>
      <p:sp>
        <p:nvSpPr>
          <p:cNvPr id="13" name="TextBox 12"/>
          <p:cNvSpPr txBox="1"/>
          <p:nvPr/>
        </p:nvSpPr>
        <p:spPr>
          <a:xfrm>
            <a:off x="3657600" y="5541264"/>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Actual run IDs and query scope, not an invented large-volume result.</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Both workflows use today's API. No claim of live proof of the 2,500+ threshold.</a:t>
            </a:r>
          </a:p>
        </p:txBody>
      </p:sp>
      <p:sp>
        <p:nvSpPr>
          <p:cNvPr id="18" name="TextBox 17"/>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37-40 min</a:t>
            </a:r>
          </a:p>
        </p:txBody>
      </p:sp>
      <p:sp>
        <p:nvSpPr>
          <p:cNvPr id="19" name="TextBox 18"/>
          <p:cNvSpPr txBox="1"/>
          <p:nvPr/>
        </p:nvSpPr>
        <p:spPr>
          <a:xfrm>
            <a:off x="594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3"/>
              </a:rPr>
              <a:t>Before: demo-4-before.yml</a:t>
            </a:r>
          </a:p>
        </p:txBody>
      </p:sp>
      <p:sp>
        <p:nvSpPr>
          <p:cNvPr id="20" name="TextBox 19"/>
          <p:cNvSpPr txBox="1"/>
          <p:nvPr/>
        </p:nvSpPr>
        <p:spPr>
          <a:xfrm>
            <a:off x="7452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4"/>
              </a:rPr>
              <a:t>After: demo-4-after.yml</a:t>
            </a:r>
          </a:p>
        </p:txBody>
      </p:sp>
      <p:sp>
        <p:nvSpPr>
          <p:cNvPr id="21" name="TextBox 20"/>
          <p:cNvSpPr txBox="1"/>
          <p:nvPr/>
        </p:nvSpPr>
        <p:spPr>
          <a:xfrm>
            <a:off x="10917936" y="2980944"/>
            <a:ext cx="2916936"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After input</a:t>
            </a:r>
          </a:p>
        </p:txBody>
      </p:sp>
      <p:sp>
        <p:nvSpPr>
          <p:cNvPr id="22" name="TextBox 21"/>
          <p:cNvSpPr txBox="1"/>
          <p:nvPr/>
        </p:nvSpPr>
        <p:spPr>
          <a:xfrm>
            <a:off x="10917936" y="3730752"/>
            <a:ext cx="2916936" cy="256946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utc_date</a:t>
            </a:r>
          </a:p>
          <a:p>
            <a:pPr algn="l">
              <a:spcAft>
                <a:spcPts val="800"/>
              </a:spcAft>
            </a:pPr>
            <a:r>
              <a:rPr sz="2000" b="0">
                <a:solidFill>
                  <a:srgbClr val="FFFFFF"/>
                </a:solidFill>
                <a:latin typeface="Arial"/>
              </a:rPr>
              <a:t>YYYY-MM-DD</a:t>
            </a:r>
          </a:p>
          <a:p>
            <a:pPr algn="l">
              <a:spcAft>
                <a:spcPts val="800"/>
              </a:spcAft>
            </a:pPr>
            <a:r>
              <a:rPr sz="2000" b="0">
                <a:solidFill>
                  <a:srgbClr val="FFFFFF"/>
                </a:solidFill>
                <a:latin typeface="Arial"/>
              </a:rPr>
              <a:t>Use rehearsal day.</a:t>
            </a:r>
          </a:p>
          <a:p>
            <a:pPr algn="l">
              <a:spcAft>
                <a:spcPts val="800"/>
              </a:spcAft>
            </a:pPr>
            <a:r>
              <a:rPr sz="2000" b="0">
                <a:solidFill>
                  <a:srgbClr val="FFFFFF"/>
                </a:solidFill>
                <a:latin typeface="Arial"/>
              </a:rPr>
              <a:t>UTC, not local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5 | Enterprise Cloud enforcement begins 29 Sep 2026</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Runner registration and job runtime have separate deadlines</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Registration</a:t>
            </a:r>
          </a:p>
        </p:txBody>
      </p:sp>
      <p:sp>
        <p:nvSpPr>
          <p:cNvPr id="6" name="TextBox 5"/>
          <p:cNvSpPr txBox="1"/>
          <p:nvPr/>
        </p:nvSpPr>
        <p:spPr>
          <a:xfrm>
            <a:off x="795528"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Below 2.329.0 cannot register or reregister.</a:t>
            </a:r>
          </a:p>
          <a:p>
            <a:pPr algn="l">
              <a:spcAft>
                <a:spcPts val="800"/>
              </a:spcAft>
            </a:pPr>
            <a:r>
              <a:rPr sz="2000" b="0">
                <a:solidFill>
                  <a:srgbClr val="555B65"/>
                </a:solidFill>
                <a:latin typeface="Arial"/>
              </a:rPr>
              <a:t>Registration minimum is not the runtime minimum.</a:t>
            </a:r>
          </a:p>
          <a:p>
            <a:pPr algn="l">
              <a:spcAft>
                <a:spcPts val="800"/>
              </a:spcAft>
            </a:pPr>
            <a:r>
              <a:rPr sz="2000" b="0">
                <a:solidFill>
                  <a:srgbClr val="555B65"/>
                </a:solidFill>
                <a:latin typeface="Arial"/>
              </a:rPr>
              <a:t>Inspect registration_deprecates_at.</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53527"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Runtime</a:t>
            </a:r>
          </a:p>
        </p:txBody>
      </p:sp>
      <p:sp>
        <p:nvSpPr>
          <p:cNvPr id="9" name="TextBox 8"/>
          <p:cNvSpPr txBox="1"/>
          <p:nvPr/>
        </p:nvSpPr>
        <p:spPr>
          <a:xfrm>
            <a:off x="7653527"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A higher minimum governs job execution.</a:t>
            </a:r>
          </a:p>
          <a:p>
            <a:pPr algn="l">
              <a:spcAft>
                <a:spcPts val="800"/>
              </a:spcAft>
            </a:pPr>
            <a:r>
              <a:rPr sz="2000" b="0">
                <a:solidFill>
                  <a:srgbClr val="FFFFFF"/>
                </a:solidFill>
                <a:latin typeface="Arial"/>
              </a:rPr>
              <a:t>Existing registration is not a support guarantee.</a:t>
            </a:r>
          </a:p>
          <a:p>
            <a:pPr algn="l">
              <a:spcAft>
                <a:spcPts val="800"/>
              </a:spcAft>
            </a:pPr>
            <a:r>
              <a:rPr sz="2000" b="0">
                <a:solidFill>
                  <a:srgbClr val="FFFFFF"/>
                </a:solidFill>
                <a:latin typeface="Arial"/>
              </a:rPr>
              <a:t>Inspect runtime_deprecates_at.</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Enterprise Server is unaffected by this notice. Data Residency enforcement began 31 July.</a:t>
            </a:r>
          </a:p>
        </p:txBody>
      </p:sp>
      <p:sp>
        <p:nvSpPr>
          <p:cNvPr id="11" name="TextBox 10"/>
          <p:cNvSpPr txBox="1"/>
          <p:nvPr/>
        </p:nvSpPr>
        <p:spPr>
          <a:xfrm>
            <a:off x="594360" y="7406640"/>
            <a:ext cx="9601200" cy="228600"/>
          </a:xfrm>
          <a:prstGeom prst="rect">
            <a:avLst/>
          </a:prstGeom>
          <a:noFill/>
        </p:spPr>
        <p:txBody>
          <a:bodyPr wrap="square" lIns="18288" tIns="18288" rIns="18288" bIns="18288" anchor="t">
            <a:normAutofit/>
          </a:bodyPr>
          <a:lstStyle/>
          <a:p>
            <a:pPr algn="l">
              <a:spcAft>
                <a:spcPts val="800"/>
              </a:spcAft>
            </a:pPr>
            <a:r>
              <a:rPr sz="1100" b="0">
                <a:solidFill>
                  <a:srgbClr val="345282"/>
                </a:solidFill>
                <a:latin typeface="Arial"/>
                <a:hlinkClick r:id="rId3"/>
              </a:rPr>
              <a:t>GitHub Changelog | 28 Sep 2026</a:t>
            </a:r>
          </a:p>
        </p:txBody>
      </p:sp>
      <p:sp>
        <p:nvSpPr>
          <p:cNvPr id="12" name="TextBox 11"/>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40-42 min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Demo 5 | Registration-only check vs two live dates</a:t>
            </a:r>
          </a:p>
        </p:txBody>
      </p:sp>
      <p:sp>
        <p:nvSpPr>
          <p:cNvPr id="5" name="Rounded Rectangle 4"/>
          <p:cNvSpPr/>
          <p:nvPr/>
        </p:nvSpPr>
        <p:spPr>
          <a:xfrm>
            <a:off x="594360" y="2798064"/>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926080"/>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1. Before</a:t>
            </a:r>
          </a:p>
        </p:txBody>
      </p:sp>
      <p:sp>
        <p:nvSpPr>
          <p:cNvPr id="7" name="TextBox 6"/>
          <p:cNvSpPr txBox="1"/>
          <p:nvPr/>
        </p:nvSpPr>
        <p:spPr>
          <a:xfrm>
            <a:off x="3657600" y="2926080"/>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Use version=2.329.0 for the local registration-floor comparison.</a:t>
            </a:r>
          </a:p>
        </p:txBody>
      </p:sp>
      <p:sp>
        <p:nvSpPr>
          <p:cNvPr id="8" name="Rounded Rectangle 7"/>
          <p:cNvSpPr/>
          <p:nvPr/>
        </p:nvSpPr>
        <p:spPr>
          <a:xfrm>
            <a:off x="594360" y="4105656"/>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4233672"/>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2. After</a:t>
            </a:r>
          </a:p>
        </p:txBody>
      </p:sp>
      <p:sp>
        <p:nvSpPr>
          <p:cNvPr id="10" name="TextBox 9"/>
          <p:cNvSpPr txBox="1"/>
          <p:nvPr/>
        </p:nvSpPr>
        <p:spPr>
          <a:xfrm>
            <a:off x="3657600" y="4233672"/>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Use the same version; read registration and runtime deprecation dates.</a:t>
            </a:r>
          </a:p>
        </p:txBody>
      </p:sp>
      <p:sp>
        <p:nvSpPr>
          <p:cNvPr id="11" name="Rounded Rectangle 10"/>
          <p:cNvSpPr/>
          <p:nvPr/>
        </p:nvSpPr>
        <p:spPr>
          <a:xfrm>
            <a:off x="594360" y="5413248"/>
            <a:ext cx="9829800" cy="1078992"/>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5541264"/>
            <a:ext cx="2743200" cy="749808"/>
          </a:xfrm>
          <a:prstGeom prst="rect">
            <a:avLst/>
          </a:prstGeom>
          <a:noFill/>
        </p:spPr>
        <p:txBody>
          <a:bodyPr wrap="square" lIns="18288" tIns="18288" rIns="18288" bIns="18288" anchor="t">
            <a:normAutofit/>
          </a:bodyPr>
          <a:lstStyle/>
          <a:p>
            <a:pPr algn="l">
              <a:spcAft>
                <a:spcPts val="800"/>
              </a:spcAft>
            </a:pPr>
            <a:r>
              <a:rPr sz="2100" b="1">
                <a:solidFill>
                  <a:srgbClr val="0E1022"/>
                </a:solidFill>
                <a:latin typeface="Arial"/>
              </a:rPr>
              <a:t>3. Compare</a:t>
            </a:r>
          </a:p>
        </p:txBody>
      </p:sp>
      <p:sp>
        <p:nvSpPr>
          <p:cNvPr id="13" name="TextBox 12"/>
          <p:cNvSpPr txBox="1"/>
          <p:nvPr/>
        </p:nvSpPr>
        <p:spPr>
          <a:xfrm>
            <a:off x="3657600" y="5541264"/>
            <a:ext cx="6537960" cy="813816"/>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Treat a missing date as unknown, not a support guarantee.</a:t>
            </a:r>
          </a:p>
        </p:txBody>
      </p:sp>
      <p:sp>
        <p:nvSpPr>
          <p:cNvPr id="14" name="Rounded Rectangle 13"/>
          <p:cNvSpPr/>
          <p:nvPr/>
        </p:nvSpPr>
        <p:spPr>
          <a:xfrm>
            <a:off x="10716768" y="2798064"/>
            <a:ext cx="3319272" cy="370332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After needs an approved RUNNER_READ_TOKEN. No runner is registered, stopped, or changed.</a:t>
            </a:r>
          </a:p>
        </p:txBody>
      </p:sp>
      <p:sp>
        <p:nvSpPr>
          <p:cNvPr id="18" name="TextBox 17"/>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42-45 min</a:t>
            </a:r>
          </a:p>
        </p:txBody>
      </p:sp>
      <p:sp>
        <p:nvSpPr>
          <p:cNvPr id="19" name="TextBox 18"/>
          <p:cNvSpPr txBox="1"/>
          <p:nvPr/>
        </p:nvSpPr>
        <p:spPr>
          <a:xfrm>
            <a:off x="594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3"/>
              </a:rPr>
              <a:t>Before: demo-5-before.yml</a:t>
            </a:r>
          </a:p>
        </p:txBody>
      </p:sp>
      <p:sp>
        <p:nvSpPr>
          <p:cNvPr id="20" name="TextBox 19"/>
          <p:cNvSpPr txBox="1"/>
          <p:nvPr/>
        </p:nvSpPr>
        <p:spPr>
          <a:xfrm>
            <a:off x="7452360" y="2395728"/>
            <a:ext cx="6583680" cy="237744"/>
          </a:xfrm>
          <a:prstGeom prst="rect">
            <a:avLst/>
          </a:prstGeom>
          <a:noFill/>
        </p:spPr>
        <p:txBody>
          <a:bodyPr wrap="square" lIns="18288" tIns="18288" rIns="18288" bIns="18288" anchor="t">
            <a:normAutofit lnSpcReduction="10000"/>
          </a:bodyPr>
          <a:lstStyle/>
          <a:p>
            <a:pPr algn="l">
              <a:lnSpc>
                <a:spcPct val="110000"/>
              </a:lnSpc>
              <a:spcAft>
                <a:spcPts val="0"/>
              </a:spcAft>
            </a:pPr>
            <a:r>
              <a:rPr sz="1300" b="0">
                <a:solidFill>
                  <a:srgbClr val="345282"/>
                </a:solidFill>
                <a:latin typeface="Consolas"/>
                <a:hlinkClick r:id="rId4"/>
              </a:rPr>
              <a:t>After: demo-5-after.yml</a:t>
            </a:r>
          </a:p>
        </p:txBody>
      </p:sp>
      <p:sp>
        <p:nvSpPr>
          <p:cNvPr id="21" name="TextBox 20"/>
          <p:cNvSpPr txBox="1"/>
          <p:nvPr/>
        </p:nvSpPr>
        <p:spPr>
          <a:xfrm>
            <a:off x="10917936" y="2980944"/>
            <a:ext cx="2916936"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Setup + input</a:t>
            </a:r>
          </a:p>
        </p:txBody>
      </p:sp>
      <p:sp>
        <p:nvSpPr>
          <p:cNvPr id="22" name="TextBox 21"/>
          <p:cNvSpPr txBox="1"/>
          <p:nvPr/>
        </p:nvSpPr>
        <p:spPr>
          <a:xfrm>
            <a:off x="10917936" y="3730752"/>
            <a:ext cx="2916936" cy="2569464"/>
          </a:xfrm>
          <a:prstGeom prst="rect">
            <a:avLst/>
          </a:prstGeom>
          <a:noFill/>
        </p:spPr>
        <p:txBody>
          <a:bodyPr wrap="square" lIns="18288" tIns="18288" rIns="18288" bIns="18288" anchor="t">
            <a:normAutofit/>
          </a:bodyPr>
          <a:lstStyle/>
          <a:p>
            <a:pPr algn="l">
              <a:spcAft>
                <a:spcPts val="800"/>
              </a:spcAft>
            </a:pPr>
            <a:r>
              <a:rPr sz="1800" b="0">
                <a:solidFill>
                  <a:srgbClr val="FFFFFF"/>
                </a:solidFill>
                <a:latin typeface="Arial"/>
              </a:rPr>
              <a:t>version</a:t>
            </a:r>
          </a:p>
          <a:p>
            <a:pPr algn="l">
              <a:spcAft>
                <a:spcPts val="800"/>
              </a:spcAft>
            </a:pPr>
            <a:r>
              <a:rPr sz="1800" b="0">
                <a:solidFill>
                  <a:srgbClr val="FFFFFF"/>
                </a:solidFill>
                <a:latin typeface="Arial"/>
              </a:rPr>
              <a:t>Same for both files.</a:t>
            </a:r>
          </a:p>
          <a:p>
            <a:pPr algn="l">
              <a:spcAft>
                <a:spcPts val="800"/>
              </a:spcAft>
            </a:pPr>
            <a:r>
              <a:rPr sz="1800" b="0">
                <a:solidFill>
                  <a:srgbClr val="FFFFFF"/>
                </a:solidFill>
                <a:latin typeface="Arial"/>
              </a:rPr>
              <a:t>demo-admin</a:t>
            </a:r>
          </a:p>
          <a:p>
            <a:pPr algn="l">
              <a:spcAft>
                <a:spcPts val="800"/>
              </a:spcAft>
            </a:pPr>
            <a:r>
              <a:rPr sz="1800" b="0">
                <a:solidFill>
                  <a:srgbClr val="FFFFFF"/>
                </a:solidFill>
                <a:latin typeface="Arial"/>
              </a:rPr>
              <a:t>RUNNER_READ_TOKEN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Turn the updates into five DXC adoption actions</a:t>
            </a:r>
          </a:p>
        </p:txBody>
      </p:sp>
      <p:graphicFrame>
        <p:nvGraphicFramePr>
          <p:cNvPr id="4" name="Table 3"/>
          <p:cNvGraphicFramePr>
            <a:graphicFrameLocks noGrp="1"/>
          </p:cNvGraphicFramePr>
          <p:nvPr/>
        </p:nvGraphicFramePr>
        <p:xfrm>
          <a:off x="594360" y="2697480"/>
          <a:ext cx="13441680" cy="3749039"/>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624839">
                <a:tc>
                  <a:txBody>
                    <a:bodyPr/>
                    <a:lstStyle/>
                    <a:p>
                      <a:pPr>
                        <a:lnSpc>
                          <a:spcPct val="100000"/>
                        </a:lnSpc>
                      </a:pPr>
                      <a:r>
                        <a:rPr sz="1800" b="1">
                          <a:solidFill>
                            <a:srgbClr val="FFFFFF"/>
                          </a:solidFill>
                          <a:latin typeface="Arial"/>
                        </a:rPr>
                        <a:t>Owner role</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Recommended next action</a:t>
                      </a:r>
                    </a:p>
                  </a:txBody>
                  <a:tcPr marL="137160" marR="137160" marT="59436" marB="59436" anchor="ctr">
                    <a:solidFill>
                      <a:srgbClr val="0E1022"/>
                    </a:solidFill>
                  </a:tcPr>
                </a:tc>
                <a:tc>
                  <a:txBody>
                    <a:bodyPr/>
                    <a:lstStyle/>
                    <a:p>
                      <a:pPr>
                        <a:lnSpc>
                          <a:spcPct val="100000"/>
                        </a:lnSpc>
                      </a:pPr>
                      <a:r>
                        <a:rPr sz="1800" b="1">
                          <a:solidFill>
                            <a:srgbClr val="FFFFFF"/>
                          </a:solidFill>
                          <a:latin typeface="Arial"/>
                        </a:rPr>
                        <a:t>Evidence to review</a:t>
                      </a:r>
                    </a:p>
                  </a:txBody>
                  <a:tcPr marL="137160" marR="137160" marT="59436" marB="59436" anchor="ctr">
                    <a:solidFill>
                      <a:srgbClr val="0E1022"/>
                    </a:solidFill>
                  </a:tcPr>
                </a:tc>
                <a:extLst>
                  <a:ext uri="{0D108BD9-81ED-4DB2-BD59-A6C34878D82A}">
                    <a16:rowId xmlns:a16="http://schemas.microsoft.com/office/drawing/2014/main" val="10000"/>
                  </a:ext>
                </a:extLst>
              </a:tr>
              <a:tr h="624839">
                <a:tc>
                  <a:txBody>
                    <a:bodyPr/>
                    <a:lstStyle/>
                    <a:p>
                      <a:pPr>
                        <a:lnSpc>
                          <a:spcPct val="100000"/>
                        </a:lnSpc>
                      </a:pPr>
                      <a:r>
                        <a:rPr sz="1800" b="0">
                          <a:solidFill>
                            <a:srgbClr val="0E1022"/>
                          </a:solidFill>
                          <a:latin typeface="Arial"/>
                        </a:rPr>
                        <a:t>CI maintainers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Choose explicit cache access by trust boundary</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Before save vs After restore-only result</a:t>
                      </a:r>
                    </a:p>
                  </a:txBody>
                  <a:tcPr marL="137160" marR="137160" marT="59436" marB="59436" anchor="ctr">
                    <a:solidFill>
                      <a:srgbClr val="F2F4F7"/>
                    </a:solidFill>
                  </a:tcPr>
                </a:tc>
                <a:extLst>
                  <a:ext uri="{0D108BD9-81ED-4DB2-BD59-A6C34878D82A}">
                    <a16:rowId xmlns:a16="http://schemas.microsoft.com/office/drawing/2014/main" val="10001"/>
                  </a:ext>
                </a:extLst>
              </a:tr>
              <a:tr h="624839">
                <a:tc>
                  <a:txBody>
                    <a:bodyPr/>
                    <a:lstStyle/>
                    <a:p>
                      <a:pPr>
                        <a:lnSpc>
                          <a:spcPct val="100000"/>
                        </a:lnSpc>
                      </a:pPr>
                      <a:r>
                        <a:rPr sz="1800" b="0">
                          <a:solidFill>
                            <a:srgbClr val="0E1022"/>
                          </a:solidFill>
                          <a:latin typeface="Arial"/>
                        </a:rPr>
                        <a:t>Platform governance</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Pilot a narrowly targeted execution policy</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Actual pre-job block for the After file</a:t>
                      </a:r>
                    </a:p>
                  </a:txBody>
                  <a:tcPr marL="137160" marR="137160" marT="59436" marB="59436" anchor="ctr">
                    <a:solidFill>
                      <a:srgbClr val="FFFFFF"/>
                    </a:solidFill>
                  </a:tcPr>
                </a:tc>
                <a:extLst>
                  <a:ext uri="{0D108BD9-81ED-4DB2-BD59-A6C34878D82A}">
                    <a16:rowId xmlns:a16="http://schemas.microsoft.com/office/drawing/2014/main" val="10002"/>
                  </a:ext>
                </a:extLst>
              </a:tr>
              <a:tr h="624839">
                <a:tc>
                  <a:txBody>
                    <a:bodyPr/>
                    <a:lstStyle/>
                    <a:p>
                      <a:pPr>
                        <a:lnSpc>
                          <a:spcPct val="100000"/>
                        </a:lnSpc>
                      </a:pPr>
                      <a:r>
                        <a:rPr sz="1800" b="0">
                          <a:solidFill>
                            <a:srgbClr val="0E1022"/>
                          </a:solidFill>
                          <a:latin typeface="Arial"/>
                        </a:rPr>
                        <a:t>Delivery integration owners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Handle absent expired artifacts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Before receipt vs After API absence</a:t>
                      </a:r>
                    </a:p>
                  </a:txBody>
                  <a:tcPr marL="137160" marR="137160" marT="59436" marB="59436" anchor="ctr">
                    <a:solidFill>
                      <a:srgbClr val="F2F4F7"/>
                    </a:solidFill>
                  </a:tcPr>
                </a:tc>
                <a:extLst>
                  <a:ext uri="{0D108BD9-81ED-4DB2-BD59-A6C34878D82A}">
                    <a16:rowId xmlns:a16="http://schemas.microsoft.com/office/drawing/2014/main" val="10003"/>
                  </a:ext>
                </a:extLst>
              </a:tr>
              <a:tr h="624839">
                <a:tc>
                  <a:txBody>
                    <a:bodyPr/>
                    <a:lstStyle/>
                    <a:p>
                      <a:pPr>
                        <a:lnSpc>
                          <a:spcPct val="100000"/>
                        </a:lnSpc>
                      </a:pPr>
                      <a:r>
                        <a:rPr sz="1800" b="0">
                          <a:solidFill>
                            <a:srgbClr val="0E1022"/>
                          </a:solidFill>
                          <a:latin typeface="Arial"/>
                        </a:rPr>
                        <a:t>Reporting engineers</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Bound time windows and follow pages</a:t>
                      </a:r>
                    </a:p>
                  </a:txBody>
                  <a:tcPr marL="137160" marR="137160" marT="59436" marB="59436" anchor="ctr">
                    <a:solidFill>
                      <a:srgbClr val="FFFFFF"/>
                    </a:solidFill>
                  </a:tcPr>
                </a:tc>
                <a:tc>
                  <a:txBody>
                    <a:bodyPr/>
                    <a:lstStyle/>
                    <a:p>
                      <a:pPr>
                        <a:lnSpc>
                          <a:spcPct val="100000"/>
                        </a:lnSpc>
                      </a:pPr>
                      <a:r>
                        <a:rPr sz="1800" b="0">
                          <a:solidFill>
                            <a:srgbClr val="0E1022"/>
                          </a:solidFill>
                          <a:latin typeface="Arial"/>
                        </a:rPr>
                        <a:t>Actual returned IDs and cap guard</a:t>
                      </a:r>
                    </a:p>
                  </a:txBody>
                  <a:tcPr marL="137160" marR="137160" marT="59436" marB="59436" anchor="ctr">
                    <a:solidFill>
                      <a:srgbClr val="FFFFFF"/>
                    </a:solidFill>
                  </a:tcPr>
                </a:tc>
                <a:extLst>
                  <a:ext uri="{0D108BD9-81ED-4DB2-BD59-A6C34878D82A}">
                    <a16:rowId xmlns:a16="http://schemas.microsoft.com/office/drawing/2014/main" val="10004"/>
                  </a:ext>
                </a:extLst>
              </a:tr>
              <a:tr h="624844">
                <a:tc>
                  <a:txBody>
                    <a:bodyPr/>
                    <a:lstStyle/>
                    <a:p>
                      <a:pPr>
                        <a:lnSpc>
                          <a:spcPct val="100000"/>
                        </a:lnSpc>
                      </a:pPr>
                      <a:r>
                        <a:rPr sz="1800" b="0">
                          <a:solidFill>
                            <a:srgbClr val="0E1022"/>
                          </a:solidFill>
                          <a:latin typeface="Arial"/>
                        </a:rPr>
                        <a:t>Runner operations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Check registration AND runtime dates</a:t>
                      </a:r>
                    </a:p>
                  </a:txBody>
                  <a:tcPr marL="137160" marR="137160" marT="59436" marB="59436" anchor="ctr">
                    <a:solidFill>
                      <a:srgbClr val="F2F4F7"/>
                    </a:solidFill>
                  </a:tcPr>
                </a:tc>
                <a:tc>
                  <a:txBody>
                    <a:bodyPr/>
                    <a:lstStyle/>
                    <a:p>
                      <a:pPr>
                        <a:lnSpc>
                          <a:spcPct val="100000"/>
                        </a:lnSpc>
                      </a:pPr>
                      <a:r>
                        <a:rPr sz="1800" b="0">
                          <a:solidFill>
                            <a:srgbClr val="0E1022"/>
                          </a:solidFill>
                          <a:latin typeface="Arial"/>
                        </a:rPr>
                        <a:t>Local assumption vs live API dates</a:t>
                      </a:r>
                    </a:p>
                  </a:txBody>
                  <a:tcPr marL="137160" marR="137160" marT="59436" marB="59436" anchor="ctr">
                    <a:solidFill>
                      <a:srgbClr val="F2F4F7"/>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Pilot in a disposable repository. Review scope and privileges before broader rollout.</a:t>
            </a:r>
          </a:p>
        </p:txBody>
      </p:sp>
      <p:sp>
        <p:nvSpPr>
          <p:cNvPr id="6" name="TextBox 5"/>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45-47 min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DXC | GitHub Actions Office Hour</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The takeaway: control execution, preserve meaning</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Least privilege</a:t>
            </a:r>
          </a:p>
        </p:txBody>
      </p:sp>
      <p:sp>
        <p:nvSpPr>
          <p:cNvPr id="6" name="TextBox 5"/>
          <p:cNvSpPr txBox="1"/>
          <p:nvPr/>
        </p:nvSpPr>
        <p:spPr>
          <a:xfrm>
            <a:off x="795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Choose explicit cache access.</a:t>
            </a:r>
          </a:p>
          <a:p>
            <a:pPr algn="l">
              <a:spcAft>
                <a:spcPts val="800"/>
              </a:spcAft>
            </a:pPr>
            <a:r>
              <a:rPr sz="2000" b="0">
                <a:solidFill>
                  <a:srgbClr val="555B65"/>
                </a:solidFill>
                <a:latin typeface="Arial"/>
              </a:rPr>
              <a:t>Scope policy to one workflow.</a:t>
            </a:r>
          </a:p>
          <a:p>
            <a:pPr algn="l">
              <a:spcAft>
                <a:spcPts val="800"/>
              </a:spcAft>
            </a:pPr>
            <a:r>
              <a:rPr sz="2000" b="0">
                <a:solidFill>
                  <a:srgbClr val="555B65"/>
                </a:solidFill>
                <a:latin typeface="Arial"/>
              </a:rPr>
              <a:t>Keep administrator credentials separate.</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67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Reliable evidence</a:t>
            </a:r>
          </a:p>
        </p:txBody>
      </p:sp>
      <p:sp>
        <p:nvSpPr>
          <p:cNvPr id="9" name="TextBox 8"/>
          <p:cNvSpPr txBox="1"/>
          <p:nvPr/>
        </p:nvSpPr>
        <p:spPr>
          <a:xfrm>
            <a:off x="5367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Compare real Before and After results.</a:t>
            </a:r>
          </a:p>
          <a:p>
            <a:pPr algn="l">
              <a:spcAft>
                <a:spcPts val="800"/>
              </a:spcAft>
            </a:pPr>
            <a:r>
              <a:rPr sz="2000" b="0">
                <a:solidFill>
                  <a:srgbClr val="555B65"/>
                </a:solidFill>
                <a:latin typeface="Arial"/>
              </a:rPr>
              <a:t>Handle absence and bounded counts.</a:t>
            </a:r>
          </a:p>
          <a:p>
            <a:pPr algn="l">
              <a:spcAft>
                <a:spcPts val="800"/>
              </a:spcAft>
            </a:pPr>
            <a:r>
              <a:rPr sz="2000" b="0">
                <a:solidFill>
                  <a:srgbClr val="555B65"/>
                </a:solidFill>
                <a:latin typeface="Arial"/>
              </a:rPr>
              <a:t>Keep assumptions separate from evidence.</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39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Operational readiness</a:t>
            </a:r>
          </a:p>
        </p:txBody>
      </p:sp>
      <p:sp>
        <p:nvSpPr>
          <p:cNvPr id="12" name="TextBox 11"/>
          <p:cNvSpPr txBox="1"/>
          <p:nvPr/>
        </p:nvSpPr>
        <p:spPr>
          <a:xfrm>
            <a:off x="9939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Seed the expiry example early.</a:t>
            </a:r>
          </a:p>
          <a:p>
            <a:pPr algn="l">
              <a:spcAft>
                <a:spcPts val="800"/>
              </a:spcAft>
            </a:pPr>
            <a:r>
              <a:rPr sz="2000" b="0">
                <a:solidFill>
                  <a:srgbClr val="555B65"/>
                </a:solidFill>
                <a:latin typeface="Arial"/>
              </a:rPr>
              <a:t>Check the two runner dates.</a:t>
            </a:r>
          </a:p>
          <a:p>
            <a:pPr algn="l">
              <a:spcAft>
                <a:spcPts val="800"/>
              </a:spcAft>
            </a:pPr>
            <a:r>
              <a:rPr sz="2000" b="0">
                <a:solidFill>
                  <a:srgbClr val="555B65"/>
                </a:solidFill>
                <a:latin typeface="Arial"/>
              </a:rPr>
              <a:t>Keep setup and cleanup explicit.</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At minute 50, stop presenting. Upcoming: affected public pull_request_target default enforcement on 2 Nov.</a:t>
            </a:r>
          </a:p>
        </p:txBody>
      </p:sp>
      <p:sp>
        <p:nvSpPr>
          <p:cNvPr id="14" name="TextBox 13"/>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47-50 min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4632" y="3182112"/>
            <a:ext cx="10698480" cy="914400"/>
          </a:xfrm>
          <a:prstGeom prst="rect">
            <a:avLst/>
          </a:prstGeom>
          <a:noFill/>
        </p:spPr>
        <p:txBody>
          <a:bodyPr wrap="square" lIns="18288" tIns="18288" rIns="18288" bIns="18288" anchor="t">
            <a:normAutofit/>
          </a:bodyPr>
          <a:lstStyle/>
          <a:p>
            <a:pPr algn="l">
              <a:spcAft>
                <a:spcPts val="800"/>
              </a:spcAft>
            </a:pPr>
            <a:r>
              <a:rPr sz="5400" b="1">
                <a:solidFill>
                  <a:srgbClr val="0E1022"/>
                </a:solidFill>
                <a:latin typeface="Arial"/>
              </a:rPr>
              <a:t>Q &amp; A</a:t>
            </a:r>
          </a:p>
        </p:txBody>
      </p:sp>
      <p:sp>
        <p:nvSpPr>
          <p:cNvPr id="3" name="TextBox 2"/>
          <p:cNvSpPr txBox="1"/>
          <p:nvPr/>
        </p:nvSpPr>
        <p:spPr>
          <a:xfrm>
            <a:off x="548640" y="4700016"/>
            <a:ext cx="10332720" cy="594360"/>
          </a:xfrm>
          <a:prstGeom prst="rect">
            <a:avLst/>
          </a:prstGeom>
          <a:noFill/>
        </p:spPr>
        <p:txBody>
          <a:bodyPr wrap="square" lIns="18288" tIns="18288" rIns="18288" bIns="18288" anchor="t">
            <a:normAutofit/>
          </a:bodyPr>
          <a:lstStyle/>
          <a:p>
            <a:pPr algn="l">
              <a:spcAft>
                <a:spcPts val="800"/>
              </a:spcAft>
            </a:pPr>
            <a:r>
              <a:rPr sz="2400" b="0">
                <a:solidFill>
                  <a:srgbClr val="0E1022"/>
                </a:solidFill>
                <a:latin typeface="Arial"/>
              </a:rPr>
              <a:t>10 minutes | Presentation and demos stop at minute 50</a:t>
            </a:r>
          </a:p>
        </p:txBody>
      </p:sp>
      <p:sp>
        <p:nvSpPr>
          <p:cNvPr id="4" name="TextBox 3"/>
          <p:cNvSpPr txBox="1"/>
          <p:nvPr/>
        </p:nvSpPr>
        <p:spPr>
          <a:xfrm>
            <a:off x="548640" y="5596128"/>
            <a:ext cx="10332720" cy="841248"/>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Trust boundaries | Evidence retention | Reporting scale | Runner operations</a:t>
            </a:r>
          </a:p>
        </p:txBody>
      </p:sp>
      <p:sp>
        <p:nvSpPr>
          <p:cNvPr id="5" name="TextBox 4"/>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50-60 min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Appendix | Publication dates, not inferred availability</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Sources | Selected releases in the 30-day window</a:t>
            </a:r>
          </a:p>
        </p:txBody>
      </p:sp>
      <p:sp>
        <p:nvSpPr>
          <p:cNvPr id="4" name="TextBox 3"/>
          <p:cNvSpPr txBox="1"/>
          <p:nvPr/>
        </p:nvSpPr>
        <p:spPr>
          <a:xfrm>
            <a:off x="777240" y="2679192"/>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3"/>
              </a:rPr>
              <a:t>10 Sep | Cache access control</a:t>
            </a:r>
          </a:p>
        </p:txBody>
      </p:sp>
      <p:sp>
        <p:nvSpPr>
          <p:cNvPr id="5" name="TextBox 4"/>
          <p:cNvSpPr txBox="1"/>
          <p:nvPr/>
        </p:nvSpPr>
        <p:spPr>
          <a:xfrm>
            <a:off x="777240" y="3346704"/>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4"/>
              </a:rPr>
              <a:t>17 Sep | Workflow execution protections GA</a:t>
            </a:r>
          </a:p>
        </p:txBody>
      </p:sp>
      <p:sp>
        <p:nvSpPr>
          <p:cNvPr id="6" name="TextBox 5"/>
          <p:cNvSpPr txBox="1"/>
          <p:nvPr/>
        </p:nvSpPr>
        <p:spPr>
          <a:xfrm>
            <a:off x="777240" y="4014216"/>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5"/>
              </a:rPr>
              <a:t>24 Sep | Expired artifact visibility</a:t>
            </a:r>
          </a:p>
        </p:txBody>
      </p:sp>
      <p:sp>
        <p:nvSpPr>
          <p:cNvPr id="7" name="TextBox 6"/>
          <p:cNvSpPr txBox="1"/>
          <p:nvPr/>
        </p:nvSpPr>
        <p:spPr>
          <a:xfrm>
            <a:off x="777240" y="4681728"/>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6"/>
              </a:rPr>
              <a:t>25 Sep | Workflow-run query results</a:t>
            </a:r>
          </a:p>
        </p:txBody>
      </p:sp>
      <p:sp>
        <p:nvSpPr>
          <p:cNvPr id="8" name="TextBox 7"/>
          <p:cNvSpPr txBox="1"/>
          <p:nvPr/>
        </p:nvSpPr>
        <p:spPr>
          <a:xfrm>
            <a:off x="777240" y="5349240"/>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7"/>
              </a:rPr>
              <a:t>28 Sep | Self-hosted runner enforcement</a:t>
            </a:r>
          </a:p>
        </p:txBody>
      </p:sp>
      <p:sp>
        <p:nvSpPr>
          <p:cNvPr id="9" name="TextBox 8"/>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Appendix | Keep supporting functionality separate from new releases</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Sources | Implementation references and earlier supporting API</a:t>
            </a:r>
          </a:p>
        </p:txBody>
      </p:sp>
      <p:sp>
        <p:nvSpPr>
          <p:cNvPr id="4" name="TextBox 3"/>
          <p:cNvSpPr txBox="1"/>
          <p:nvPr/>
        </p:nvSpPr>
        <p:spPr>
          <a:xfrm>
            <a:off x="777240" y="2679192"/>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3"/>
              </a:rPr>
              <a:t>Cache-mode workflow syntax</a:t>
            </a:r>
          </a:p>
        </p:txBody>
      </p:sp>
      <p:sp>
        <p:nvSpPr>
          <p:cNvPr id="5" name="TextBox 4"/>
          <p:cNvSpPr txBox="1"/>
          <p:nvPr/>
        </p:nvSpPr>
        <p:spPr>
          <a:xfrm>
            <a:off x="777240" y="3346704"/>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4"/>
              </a:rPr>
              <a:t>Actions policy concepts</a:t>
            </a:r>
          </a:p>
        </p:txBody>
      </p:sp>
      <p:sp>
        <p:nvSpPr>
          <p:cNvPr id="6" name="TextBox 5"/>
          <p:cNvSpPr txBox="1"/>
          <p:nvPr/>
        </p:nvSpPr>
        <p:spPr>
          <a:xfrm>
            <a:off x="777240" y="4014216"/>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5"/>
              </a:rPr>
              <a:t>Execution protection setup</a:t>
            </a:r>
          </a:p>
        </p:txBody>
      </p:sp>
      <p:sp>
        <p:nvSpPr>
          <p:cNvPr id="7" name="TextBox 6"/>
          <p:cNvSpPr txBox="1"/>
          <p:nvPr/>
        </p:nvSpPr>
        <p:spPr>
          <a:xfrm>
            <a:off x="777240" y="4681728"/>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6"/>
              </a:rPr>
              <a:t>Actions policies REST API</a:t>
            </a:r>
          </a:p>
        </p:txBody>
      </p:sp>
      <p:sp>
        <p:nvSpPr>
          <p:cNvPr id="8" name="TextBox 7"/>
          <p:cNvSpPr txBox="1"/>
          <p:nvPr/>
        </p:nvSpPr>
        <p:spPr>
          <a:xfrm>
            <a:off x="777240" y="5349240"/>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7"/>
              </a:rPr>
              <a:t>Workflow runs REST API</a:t>
            </a:r>
          </a:p>
        </p:txBody>
      </p:sp>
      <p:sp>
        <p:nvSpPr>
          <p:cNvPr id="9" name="TextBox 8"/>
          <p:cNvSpPr txBox="1"/>
          <p:nvPr/>
        </p:nvSpPr>
        <p:spPr>
          <a:xfrm>
            <a:off x="777240" y="6016752"/>
            <a:ext cx="12893040" cy="438912"/>
          </a:xfrm>
          <a:prstGeom prst="rect">
            <a:avLst/>
          </a:prstGeom>
          <a:noFill/>
        </p:spPr>
        <p:txBody>
          <a:bodyPr wrap="square" lIns="18288" tIns="18288" rIns="18288" bIns="18288" anchor="t">
            <a:normAutofit/>
          </a:bodyPr>
          <a:lstStyle/>
          <a:p>
            <a:pPr algn="l">
              <a:spcAft>
                <a:spcPts val="800"/>
              </a:spcAft>
            </a:pPr>
            <a:r>
              <a:rPr sz="2200" b="1">
                <a:solidFill>
                  <a:srgbClr val="345282"/>
                </a:solidFill>
                <a:latin typeface="Arial"/>
                <a:hlinkClick r:id="rId8"/>
              </a:rPr>
              <a:t>Runner deprecation API: earlier 3 Sep announcement</a:t>
            </a:r>
          </a:p>
        </p:txBody>
      </p:sp>
      <p:sp>
        <p:nvSpPr>
          <p:cNvPr id="10" name="TextBox 9"/>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EF75B591-4611-0C59-1599-D8CE2117F19B}"/>
              </a:ext>
            </a:extLst>
          </p:cNvPr>
          <p:cNvGrpSpPr/>
          <p:nvPr/>
        </p:nvGrpSpPr>
        <p:grpSpPr>
          <a:xfrm>
            <a:off x="11117381" y="5094782"/>
            <a:ext cx="2137166" cy="1207985"/>
            <a:chOff x="5303696" y="1829807"/>
            <a:chExt cx="2436102" cy="1461661"/>
          </a:xfrm>
        </p:grpSpPr>
        <p:sp>
          <p:nvSpPr>
            <p:cNvPr id="65" name="Rectangle: Rounded Corners 64">
              <a:extLst>
                <a:ext uri="{FF2B5EF4-FFF2-40B4-BE49-F238E27FC236}">
                  <a16:creationId xmlns:a16="http://schemas.microsoft.com/office/drawing/2014/main" id="{4F9BEA9F-FB9E-B507-05ED-B4AE3D3A7C16}"/>
                </a:ext>
              </a:extLst>
            </p:cNvPr>
            <p:cNvSpPr/>
            <p:nvPr/>
          </p:nvSpPr>
          <p:spPr>
            <a:xfrm>
              <a:off x="5303696" y="1829807"/>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a:lstStyle/>
            <a:p>
              <a:endParaRPr lang="en-DE">
                <a:latin typeface="Inter Regular" panose="020B0604020202020204" charset="0"/>
                <a:cs typeface="Inter Regular" panose="020B0604020202020204" charset="0"/>
              </a:endParaRPr>
            </a:p>
          </p:txBody>
        </p:sp>
        <p:sp>
          <p:nvSpPr>
            <p:cNvPr id="66" name="Rectangle: Rounded Corners 10">
              <a:extLst>
                <a:ext uri="{FF2B5EF4-FFF2-40B4-BE49-F238E27FC236}">
                  <a16:creationId xmlns:a16="http://schemas.microsoft.com/office/drawing/2014/main" id="{B9A04071-E687-B5D0-C6F5-999E7F077E0A}"/>
                </a:ext>
              </a:extLst>
            </p:cNvPr>
            <p:cNvSpPr txBox="1"/>
            <p:nvPr/>
          </p:nvSpPr>
          <p:spPr>
            <a:xfrm>
              <a:off x="5346507" y="1872618"/>
              <a:ext cx="2350480"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rId2">
                    <a:extLst>
                      <a:ext uri="{A12FA001-AC4F-418D-AE19-62706E023703}">
                        <ahyp:hlinkClr xmlns:ahyp="http://schemas.microsoft.com/office/drawing/2018/hyperlinkcolor" val="tx"/>
                      </a:ext>
                    </a:extLst>
                  </a:hlinkClick>
                </a:rPr>
                <a:t>EDGE Video Library</a:t>
              </a:r>
              <a:endParaRPr lang="en-US" i="1">
                <a:latin typeface="Inter Regular" panose="020B0604020202020204" charset="0"/>
                <a:cs typeface="Inter Regular" panose="020B0604020202020204" charset="0"/>
                <a:hlinkClick r:id="rId3">
                  <a:extLst>
                    <a:ext uri="{A12FA001-AC4F-418D-AE19-62706E023703}">
                      <ahyp:hlinkClr xmlns:ahyp="http://schemas.microsoft.com/office/drawing/2018/hyperlinkcolor" val="tx"/>
                    </a:ext>
                  </a:extLst>
                </a:hlinkClick>
              </a:endParaRPr>
            </a:p>
          </p:txBody>
        </p:sp>
      </p:grpSp>
      <p:sp>
        <p:nvSpPr>
          <p:cNvPr id="5" name="Title 4">
            <a:extLst>
              <a:ext uri="{FF2B5EF4-FFF2-40B4-BE49-F238E27FC236}">
                <a16:creationId xmlns:a16="http://schemas.microsoft.com/office/drawing/2014/main" id="{3DE4500F-3F09-43F5-B5AE-8958EF245A1C}"/>
              </a:ext>
            </a:extLst>
          </p:cNvPr>
          <p:cNvSpPr>
            <a:spLocks noGrp="1"/>
          </p:cNvSpPr>
          <p:nvPr>
            <p:ph type="title"/>
          </p:nvPr>
        </p:nvSpPr>
        <p:spPr>
          <a:xfrm>
            <a:off x="809290" y="868637"/>
            <a:ext cx="13258800" cy="976481"/>
          </a:xfrm>
        </p:spPr>
        <p:txBody>
          <a:bodyPr>
            <a:normAutofit fontScale="90000"/>
          </a:bodyPr>
          <a:lstStyle/>
          <a:p>
            <a:r>
              <a:rPr lang="en-PH" sz="4000"/>
              <a:t>Additional information sources on EDGE and its content</a:t>
            </a:r>
            <a:br>
              <a:rPr lang="en-PH">
                <a:solidFill>
                  <a:srgbClr val="00B0F0"/>
                </a:solidFill>
              </a:rPr>
            </a:br>
            <a:endParaRPr lang="en-DE"/>
          </a:p>
        </p:txBody>
      </p:sp>
      <p:grpSp>
        <p:nvGrpSpPr>
          <p:cNvPr id="3" name="Group 2">
            <a:extLst>
              <a:ext uri="{FF2B5EF4-FFF2-40B4-BE49-F238E27FC236}">
                <a16:creationId xmlns:a16="http://schemas.microsoft.com/office/drawing/2014/main" id="{2DA79622-D506-452D-F217-981A818EE936}"/>
              </a:ext>
            </a:extLst>
          </p:cNvPr>
          <p:cNvGrpSpPr/>
          <p:nvPr/>
        </p:nvGrpSpPr>
        <p:grpSpPr>
          <a:xfrm>
            <a:off x="4103644" y="1948624"/>
            <a:ext cx="2137166" cy="1207985"/>
            <a:chOff x="2063681" y="2730"/>
            <a:chExt cx="2436102" cy="1461661"/>
          </a:xfrm>
        </p:grpSpPr>
        <p:sp>
          <p:nvSpPr>
            <p:cNvPr id="4" name="Rectangle: Rounded Corners 3">
              <a:extLst>
                <a:ext uri="{FF2B5EF4-FFF2-40B4-BE49-F238E27FC236}">
                  <a16:creationId xmlns:a16="http://schemas.microsoft.com/office/drawing/2014/main" id="{6DBDD8CC-7E3C-2F7C-D70F-4D42F8B0CF6F}"/>
                </a:ext>
              </a:extLst>
            </p:cNvPr>
            <p:cNvSpPr/>
            <p:nvPr/>
          </p:nvSpPr>
          <p:spPr>
            <a:xfrm>
              <a:off x="2063681" y="2730"/>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7" name="Rectangle: Rounded Corners 4">
              <a:extLst>
                <a:ext uri="{FF2B5EF4-FFF2-40B4-BE49-F238E27FC236}">
                  <a16:creationId xmlns:a16="http://schemas.microsoft.com/office/drawing/2014/main" id="{6FD6A142-CA36-5DEE-0AE0-B4E4C222DCDA}"/>
                </a:ext>
              </a:extLst>
            </p:cNvPr>
            <p:cNvSpPr txBox="1"/>
            <p:nvPr/>
          </p:nvSpPr>
          <p:spPr>
            <a:xfrm>
              <a:off x="2106492" y="45541"/>
              <a:ext cx="2350480"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rId4">
                    <a:extLst>
                      <a:ext uri="{A12FA001-AC4F-418D-AE19-62706E023703}">
                        <ahyp:hlinkClr xmlns:ahyp="http://schemas.microsoft.com/office/drawing/2018/hyperlinkcolor" val="tx"/>
                      </a:ext>
                    </a:extLst>
                  </a:hlinkClick>
                </a:rPr>
                <a:t>EDGE Connect</a:t>
              </a:r>
              <a:r>
                <a:rPr lang="en-PH" i="1">
                  <a:latin typeface="Inter Regular" panose="020B0604020202020204" charset="0"/>
                  <a:cs typeface="Inter Regular" panose="020B0604020202020204" charset="0"/>
                </a:rPr>
                <a:t> </a:t>
              </a:r>
            </a:p>
            <a:p>
              <a:r>
                <a:rPr lang="en-PH" i="1">
                  <a:latin typeface="Inter Regular" panose="020B0604020202020204" charset="0"/>
                  <a:cs typeface="Inter Regular" panose="020B0604020202020204" charset="0"/>
                </a:rPr>
                <a:t>@ Viva Engage</a:t>
              </a:r>
              <a:endParaRPr lang="en-US" i="1">
                <a:latin typeface="Inter Regular" panose="020B0604020202020204" charset="0"/>
                <a:cs typeface="Inter Regular" panose="020B0604020202020204" charset="0"/>
              </a:endParaRPr>
            </a:p>
          </p:txBody>
        </p:sp>
      </p:grpSp>
      <p:grpSp>
        <p:nvGrpSpPr>
          <p:cNvPr id="20" name="Group 19">
            <a:extLst>
              <a:ext uri="{FF2B5EF4-FFF2-40B4-BE49-F238E27FC236}">
                <a16:creationId xmlns:a16="http://schemas.microsoft.com/office/drawing/2014/main" id="{280B0625-1741-108C-81D1-0D90C219355D}"/>
              </a:ext>
            </a:extLst>
          </p:cNvPr>
          <p:cNvGrpSpPr/>
          <p:nvPr/>
        </p:nvGrpSpPr>
        <p:grpSpPr>
          <a:xfrm>
            <a:off x="6410876" y="5094782"/>
            <a:ext cx="2137166" cy="1207985"/>
            <a:chOff x="5303696" y="3656883"/>
            <a:chExt cx="2436102" cy="1461661"/>
          </a:xfrm>
        </p:grpSpPr>
        <p:sp>
          <p:nvSpPr>
            <p:cNvPr id="21" name="Rectangle: Rounded Corners 20">
              <a:extLst>
                <a:ext uri="{FF2B5EF4-FFF2-40B4-BE49-F238E27FC236}">
                  <a16:creationId xmlns:a16="http://schemas.microsoft.com/office/drawing/2014/main" id="{25086939-9794-05AE-9420-B134650D5153}"/>
                </a:ext>
              </a:extLst>
            </p:cNvPr>
            <p:cNvSpPr/>
            <p:nvPr/>
          </p:nvSpPr>
          <p:spPr>
            <a:xfrm>
              <a:off x="5303696" y="3656883"/>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28" name="Rectangle: Rounded Corners 8">
              <a:extLst>
                <a:ext uri="{FF2B5EF4-FFF2-40B4-BE49-F238E27FC236}">
                  <a16:creationId xmlns:a16="http://schemas.microsoft.com/office/drawing/2014/main" id="{00899419-B957-577E-C6E0-143D83B50962}"/>
                </a:ext>
              </a:extLst>
            </p:cNvPr>
            <p:cNvSpPr txBox="1"/>
            <p:nvPr/>
          </p:nvSpPr>
          <p:spPr>
            <a:xfrm>
              <a:off x="5346507" y="3699693"/>
              <a:ext cx="2350479"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
                    <a:extLst>
                      <a:ext uri="{A12FA001-AC4F-418D-AE19-62706E023703}">
                        <ahyp:hlinkClr xmlns:ahyp="http://schemas.microsoft.com/office/drawing/2018/hyperlinkcolor" val="tx"/>
                      </a:ext>
                    </a:extLst>
                  </a:hlinkClick>
                </a:rPr>
                <a:t>Guilds @ DXC </a:t>
              </a:r>
            </a:p>
            <a:p>
              <a:r>
                <a:rPr lang="en-PH" i="1">
                  <a:latin typeface="Inter Regular" panose="020B0604020202020204" charset="0"/>
                  <a:cs typeface="Inter Regular" panose="020B0604020202020204" charset="0"/>
                  <a:hlinkClick r:id="">
                    <a:extLst>
                      <a:ext uri="{A12FA001-AC4F-418D-AE19-62706E023703}">
                        <ahyp:hlinkClr xmlns:ahyp="http://schemas.microsoft.com/office/drawing/2018/hyperlinkcolor" val="tx"/>
                      </a:ext>
                    </a:extLst>
                  </a:hlinkClick>
                </a:rPr>
                <a:t>&amp; </a:t>
              </a:r>
              <a:r>
                <a:rPr lang="en-PH" i="1" u="sng">
                  <a:latin typeface="Inter Regular" panose="020B0604020202020204" charset="0"/>
                  <a:cs typeface="Inter Regular" panose="020B0604020202020204" charset="0"/>
                  <a:hlinkClick r:id="rId5">
                    <a:extLst>
                      <a:ext uri="{A12FA001-AC4F-418D-AE19-62706E023703}">
                        <ahyp:hlinkClr xmlns:ahyp="http://schemas.microsoft.com/office/drawing/2018/hyperlinkcolor" val="tx"/>
                      </a:ext>
                    </a:extLst>
                  </a:hlinkClick>
                </a:rPr>
                <a:t>Communities of Practice</a:t>
              </a:r>
              <a:endParaRPr lang="en-PH" i="1" u="sng">
                <a:latin typeface="Inter Regular" panose="020B0604020202020204" charset="0"/>
                <a:cs typeface="Inter Regular" panose="020B0604020202020204" charset="0"/>
              </a:endParaRPr>
            </a:p>
          </p:txBody>
        </p:sp>
      </p:grpSp>
      <p:grpSp>
        <p:nvGrpSpPr>
          <p:cNvPr id="29" name="Group 28">
            <a:extLst>
              <a:ext uri="{FF2B5EF4-FFF2-40B4-BE49-F238E27FC236}">
                <a16:creationId xmlns:a16="http://schemas.microsoft.com/office/drawing/2014/main" id="{7D6A38E7-6751-9F8D-2FC6-6BDF8A46261C}"/>
              </a:ext>
            </a:extLst>
          </p:cNvPr>
          <p:cNvGrpSpPr/>
          <p:nvPr/>
        </p:nvGrpSpPr>
        <p:grpSpPr>
          <a:xfrm>
            <a:off x="4103644" y="5085152"/>
            <a:ext cx="2137166" cy="1207985"/>
            <a:chOff x="5303696" y="1829807"/>
            <a:chExt cx="2436102" cy="1461661"/>
          </a:xfrm>
        </p:grpSpPr>
        <p:sp>
          <p:nvSpPr>
            <p:cNvPr id="30" name="Rectangle: Rounded Corners 29">
              <a:extLst>
                <a:ext uri="{FF2B5EF4-FFF2-40B4-BE49-F238E27FC236}">
                  <a16:creationId xmlns:a16="http://schemas.microsoft.com/office/drawing/2014/main" id="{BD0B3120-ABB1-58EA-3BAF-E9EEFE93895A}"/>
                </a:ext>
              </a:extLst>
            </p:cNvPr>
            <p:cNvSpPr/>
            <p:nvPr/>
          </p:nvSpPr>
          <p:spPr>
            <a:xfrm>
              <a:off x="5303696" y="1829807"/>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34" name="Rectangle: Rounded Corners 10">
              <a:extLst>
                <a:ext uri="{FF2B5EF4-FFF2-40B4-BE49-F238E27FC236}">
                  <a16:creationId xmlns:a16="http://schemas.microsoft.com/office/drawing/2014/main" id="{D257E7D3-DADD-F10B-EA8A-67D99AE618AF}"/>
                </a:ext>
              </a:extLst>
            </p:cNvPr>
            <p:cNvSpPr txBox="1"/>
            <p:nvPr/>
          </p:nvSpPr>
          <p:spPr>
            <a:xfrm>
              <a:off x="5346507" y="1872618"/>
              <a:ext cx="2350480"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rId6">
                    <a:extLst>
                      <a:ext uri="{A12FA001-AC4F-418D-AE19-62706E023703}">
                        <ahyp:hlinkClr xmlns:ahyp="http://schemas.microsoft.com/office/drawing/2018/hyperlinkcolor" val="tx"/>
                      </a:ext>
                    </a:extLst>
                  </a:hlinkClick>
                </a:rPr>
                <a:t>EDGE Global </a:t>
              </a:r>
              <a:br>
                <a:rPr lang="en-PH" i="1">
                  <a:latin typeface="Inter Regular" panose="020B0604020202020204" charset="0"/>
                  <a:cs typeface="Inter Regular" panose="020B0604020202020204" charset="0"/>
                  <a:hlinkClick r:id="rId6">
                    <a:extLst>
                      <a:ext uri="{A12FA001-AC4F-418D-AE19-62706E023703}">
                        <ahyp:hlinkClr xmlns:ahyp="http://schemas.microsoft.com/office/drawing/2018/hyperlinkcolor" val="tx"/>
                      </a:ext>
                    </a:extLst>
                  </a:hlinkClick>
                </a:rPr>
              </a:br>
              <a:r>
                <a:rPr lang="en-PH" i="1">
                  <a:latin typeface="Inter Regular" panose="020B0604020202020204" charset="0"/>
                  <a:cs typeface="Inter Regular" panose="020B0604020202020204" charset="0"/>
                  <a:hlinkClick r:id="rId6">
                    <a:extLst>
                      <a:ext uri="{A12FA001-AC4F-418D-AE19-62706E023703}">
                        <ahyp:hlinkClr xmlns:ahyp="http://schemas.microsoft.com/office/drawing/2018/hyperlinkcolor" val="tx"/>
                      </a:ext>
                    </a:extLst>
                  </a:hlinkClick>
                </a:rPr>
                <a:t>SME Sessions Catalog </a:t>
              </a:r>
              <a:endParaRPr lang="en-US" i="1">
                <a:latin typeface="Inter Regular" panose="020B0604020202020204" charset="0"/>
                <a:cs typeface="Inter Regular" panose="020B0604020202020204" charset="0"/>
              </a:endParaRPr>
            </a:p>
          </p:txBody>
        </p:sp>
      </p:grpSp>
      <p:grpSp>
        <p:nvGrpSpPr>
          <p:cNvPr id="8" name="Group 7">
            <a:extLst>
              <a:ext uri="{FF2B5EF4-FFF2-40B4-BE49-F238E27FC236}">
                <a16:creationId xmlns:a16="http://schemas.microsoft.com/office/drawing/2014/main" id="{1EAC8174-AC90-B4A7-F2A5-893FC1B954E6}"/>
              </a:ext>
            </a:extLst>
          </p:cNvPr>
          <p:cNvGrpSpPr/>
          <p:nvPr/>
        </p:nvGrpSpPr>
        <p:grpSpPr>
          <a:xfrm>
            <a:off x="4091543" y="3445820"/>
            <a:ext cx="4406840" cy="1207985"/>
            <a:chOff x="6539546" y="1448024"/>
            <a:chExt cx="4406840" cy="1207985"/>
          </a:xfrm>
        </p:grpSpPr>
        <p:sp>
          <p:nvSpPr>
            <p:cNvPr id="36" name="Rectangle: Rounded Corners 35">
              <a:extLst>
                <a:ext uri="{FF2B5EF4-FFF2-40B4-BE49-F238E27FC236}">
                  <a16:creationId xmlns:a16="http://schemas.microsoft.com/office/drawing/2014/main" id="{4C50AE3D-D4CF-45DB-F1F9-01CF0420363A}"/>
                </a:ext>
              </a:extLst>
            </p:cNvPr>
            <p:cNvSpPr/>
            <p:nvPr/>
          </p:nvSpPr>
          <p:spPr>
            <a:xfrm>
              <a:off x="6539546" y="1448024"/>
              <a:ext cx="4406840" cy="1207985"/>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38" name="Rectangle: Rounded Corners 12">
              <a:extLst>
                <a:ext uri="{FF2B5EF4-FFF2-40B4-BE49-F238E27FC236}">
                  <a16:creationId xmlns:a16="http://schemas.microsoft.com/office/drawing/2014/main" id="{B6F55C97-4731-B150-FB32-F1AC26BDA5B7}"/>
                </a:ext>
              </a:extLst>
            </p:cNvPr>
            <p:cNvSpPr txBox="1"/>
            <p:nvPr/>
          </p:nvSpPr>
          <p:spPr>
            <a:xfrm>
              <a:off x="6690776" y="1463682"/>
              <a:ext cx="2022165" cy="113722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0" rIns="0"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rPr>
                <a:t>EDGE Global SMEs </a:t>
              </a:r>
              <a:br>
                <a:rPr lang="en-PH" i="1">
                  <a:latin typeface="Inter Regular" panose="020B0604020202020204" charset="0"/>
                  <a:cs typeface="Inter Regular" panose="020B0604020202020204" charset="0"/>
                </a:rPr>
              </a:br>
              <a:r>
                <a:rPr lang="en-PH" i="1">
                  <a:latin typeface="Inter Regular" panose="020B0604020202020204" charset="0"/>
                  <a:cs typeface="Inter Regular" panose="020B0604020202020204" charset="0"/>
                </a:rPr>
                <a:t>Session Mailer</a:t>
              </a:r>
            </a:p>
            <a:p>
              <a:endParaRPr lang="en-PH" i="1">
                <a:latin typeface="Inter Regular" panose="020B0604020202020204" charset="0"/>
                <a:cs typeface="Inter Regular" panose="020B0604020202020204" charset="0"/>
              </a:endParaRPr>
            </a:p>
          </p:txBody>
        </p:sp>
      </p:grpSp>
      <p:sp>
        <p:nvSpPr>
          <p:cNvPr id="56" name="Rectangle: Rounded Corners 4">
            <a:extLst>
              <a:ext uri="{FF2B5EF4-FFF2-40B4-BE49-F238E27FC236}">
                <a16:creationId xmlns:a16="http://schemas.microsoft.com/office/drawing/2014/main" id="{EEB7E2A2-E37D-9B42-4453-28640CF447F6}"/>
              </a:ext>
            </a:extLst>
          </p:cNvPr>
          <p:cNvSpPr txBox="1"/>
          <p:nvPr/>
        </p:nvSpPr>
        <p:spPr>
          <a:xfrm>
            <a:off x="6407665" y="3436615"/>
            <a:ext cx="2062050" cy="113722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0" rIns="0"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rPr>
              <a:t>EDGE Bytes Newsletter</a:t>
            </a:r>
          </a:p>
          <a:p>
            <a:endParaRPr lang="en-PH" i="1">
              <a:latin typeface="Inter Regular" panose="020B0604020202020204" charset="0"/>
              <a:cs typeface="Inter Regular" panose="020B0604020202020204" charset="0"/>
            </a:endParaRPr>
          </a:p>
        </p:txBody>
      </p:sp>
      <p:sp>
        <p:nvSpPr>
          <p:cNvPr id="57" name="TextBox 56">
            <a:extLst>
              <a:ext uri="{FF2B5EF4-FFF2-40B4-BE49-F238E27FC236}">
                <a16:creationId xmlns:a16="http://schemas.microsoft.com/office/drawing/2014/main" id="{82D72A64-3BA2-5643-9D08-AAA0B0253E8F}"/>
              </a:ext>
            </a:extLst>
          </p:cNvPr>
          <p:cNvSpPr txBox="1"/>
          <p:nvPr/>
        </p:nvSpPr>
        <p:spPr>
          <a:xfrm>
            <a:off x="1203160" y="2147765"/>
            <a:ext cx="2457925" cy="840230"/>
          </a:xfrm>
          <a:prstGeom prst="rect">
            <a:avLst/>
          </a:prstGeom>
          <a:noFill/>
        </p:spPr>
        <p:txBody>
          <a:bodyPr wrap="square" rtlCol="0">
            <a:spAutoFit/>
          </a:bodyPr>
          <a:lstStyle/>
          <a:p>
            <a:pPr algn="ctr">
              <a:lnSpc>
                <a:spcPct val="90000"/>
              </a:lnSpc>
              <a:spcAft>
                <a:spcPts val="400"/>
              </a:spcAft>
            </a:pPr>
            <a:r>
              <a:rPr lang="en-US" b="1">
                <a:latin typeface="Inter Medium" panose="02000603000000020004" pitchFamily="50" charset="0"/>
                <a:ea typeface="Inter Medium" panose="02000603000000020004" pitchFamily="50" charset="0"/>
                <a:cs typeface="Inter Medium" panose="02000603000000020004" pitchFamily="50" charset="0"/>
              </a:rPr>
              <a:t>Connect with the EDGE Team and its Community</a:t>
            </a:r>
            <a:endParaRPr lang="en-DE" b="1">
              <a:latin typeface="Inter Medium" panose="02000603000000020004" pitchFamily="50" charset="0"/>
              <a:ea typeface="Inter Medium" panose="02000603000000020004" pitchFamily="50" charset="0"/>
              <a:cs typeface="Inter Medium" panose="02000603000000020004" pitchFamily="50" charset="0"/>
            </a:endParaRPr>
          </a:p>
        </p:txBody>
      </p:sp>
      <p:sp>
        <p:nvSpPr>
          <p:cNvPr id="58" name="TextBox 57">
            <a:extLst>
              <a:ext uri="{FF2B5EF4-FFF2-40B4-BE49-F238E27FC236}">
                <a16:creationId xmlns:a16="http://schemas.microsoft.com/office/drawing/2014/main" id="{E6815A64-1C79-8CA7-2668-206D898CB024}"/>
              </a:ext>
            </a:extLst>
          </p:cNvPr>
          <p:cNvSpPr txBox="1"/>
          <p:nvPr/>
        </p:nvSpPr>
        <p:spPr>
          <a:xfrm>
            <a:off x="1108556" y="3730278"/>
            <a:ext cx="2457925" cy="590931"/>
          </a:xfrm>
          <a:prstGeom prst="rect">
            <a:avLst/>
          </a:prstGeom>
          <a:noFill/>
        </p:spPr>
        <p:txBody>
          <a:bodyPr wrap="square" rtlCol="0">
            <a:spAutoFit/>
          </a:bodyPr>
          <a:lstStyle/>
          <a:p>
            <a:pPr algn="ctr">
              <a:lnSpc>
                <a:spcPct val="90000"/>
              </a:lnSpc>
              <a:spcAft>
                <a:spcPts val="400"/>
              </a:spcAft>
            </a:pPr>
            <a:r>
              <a:rPr lang="en-US" b="1">
                <a:latin typeface="Inter Medium" panose="02000603000000020004" pitchFamily="50" charset="0"/>
                <a:ea typeface="Inter Medium" panose="02000603000000020004" pitchFamily="50" charset="0"/>
                <a:cs typeface="Inter Medium" panose="02000603000000020004" pitchFamily="50" charset="0"/>
              </a:rPr>
              <a:t>Stay updated about EDGE</a:t>
            </a:r>
            <a:endParaRPr lang="en-DE" b="1">
              <a:latin typeface="Inter Medium" panose="02000603000000020004" pitchFamily="50" charset="0"/>
              <a:ea typeface="Inter Medium" panose="02000603000000020004" pitchFamily="50" charset="0"/>
              <a:cs typeface="Inter Medium" panose="02000603000000020004" pitchFamily="50" charset="0"/>
            </a:endParaRPr>
          </a:p>
        </p:txBody>
      </p:sp>
      <p:sp>
        <p:nvSpPr>
          <p:cNvPr id="59" name="TextBox 58">
            <a:extLst>
              <a:ext uri="{FF2B5EF4-FFF2-40B4-BE49-F238E27FC236}">
                <a16:creationId xmlns:a16="http://schemas.microsoft.com/office/drawing/2014/main" id="{D7BE4259-6D3D-3461-2B16-12782F3109AC}"/>
              </a:ext>
            </a:extLst>
          </p:cNvPr>
          <p:cNvSpPr txBox="1"/>
          <p:nvPr/>
        </p:nvSpPr>
        <p:spPr>
          <a:xfrm>
            <a:off x="1064683" y="5201642"/>
            <a:ext cx="2742356" cy="840230"/>
          </a:xfrm>
          <a:prstGeom prst="rect">
            <a:avLst/>
          </a:prstGeom>
          <a:noFill/>
        </p:spPr>
        <p:txBody>
          <a:bodyPr wrap="square" rtlCol="0">
            <a:spAutoFit/>
          </a:bodyPr>
          <a:lstStyle/>
          <a:p>
            <a:pPr algn="ctr">
              <a:lnSpc>
                <a:spcPct val="90000"/>
              </a:lnSpc>
              <a:spcAft>
                <a:spcPts val="400"/>
              </a:spcAft>
            </a:pPr>
            <a:r>
              <a:rPr lang="en-US" b="1">
                <a:latin typeface="Inter Medium" panose="02000603000000020004" pitchFamily="50" charset="0"/>
                <a:ea typeface="Inter Medium" panose="02000603000000020004" pitchFamily="50" charset="0"/>
                <a:cs typeface="Inter Medium" panose="02000603000000020004" pitchFamily="50" charset="0"/>
              </a:rPr>
              <a:t>Interact with and learn from Process and Tool experts</a:t>
            </a:r>
            <a:endParaRPr lang="en-DE" b="1">
              <a:latin typeface="Inter Medium" panose="02000603000000020004" pitchFamily="50" charset="0"/>
              <a:ea typeface="Inter Medium" panose="02000603000000020004" pitchFamily="50" charset="0"/>
              <a:cs typeface="Inter Medium" panose="02000603000000020004" pitchFamily="50" charset="0"/>
            </a:endParaRPr>
          </a:p>
        </p:txBody>
      </p:sp>
      <p:sp>
        <p:nvSpPr>
          <p:cNvPr id="60" name="Content Placeholder 3">
            <a:extLst>
              <a:ext uri="{FF2B5EF4-FFF2-40B4-BE49-F238E27FC236}">
                <a16:creationId xmlns:a16="http://schemas.microsoft.com/office/drawing/2014/main" id="{F856771D-CE24-E7D4-CBB7-8F0F2A8AEE59}"/>
              </a:ext>
            </a:extLst>
          </p:cNvPr>
          <p:cNvSpPr txBox="1">
            <a:spLocks/>
          </p:cNvSpPr>
          <p:nvPr/>
        </p:nvSpPr>
        <p:spPr>
          <a:xfrm>
            <a:off x="1191463" y="6721833"/>
            <a:ext cx="12084408" cy="822538"/>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ctr">
              <a:defRPr sz="14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spcAft>
                <a:spcPts val="600"/>
              </a:spcAft>
            </a:pPr>
            <a:r>
              <a:rPr lang="en-US" sz="1700">
                <a:latin typeface="Inter Regular" panose="020B0604020202020204" charset="0"/>
                <a:cs typeface="Inter Regular" panose="020B0604020202020204" charset="0"/>
              </a:rPr>
              <a:t>For any questions, please consult the EDGE Framework </a:t>
            </a:r>
            <a:r>
              <a:rPr lang="en-US" sz="1700">
                <a:latin typeface="Inter Regular" panose="020B0604020202020204" charset="0"/>
                <a:cs typeface="Inter Regular" panose="020B0604020202020204" charset="0"/>
                <a:hlinkClick r:id="rId7">
                  <a:extLst>
                    <a:ext uri="{A12FA001-AC4F-418D-AE19-62706E023703}">
                      <ahyp:hlinkClr xmlns:ahyp="http://schemas.microsoft.com/office/drawing/2018/hyperlinkcolor" val="tx"/>
                    </a:ext>
                  </a:extLst>
                </a:hlinkClick>
              </a:rPr>
              <a:t>Frequently Asked Questions</a:t>
            </a:r>
            <a:r>
              <a:rPr lang="en-US" sz="1700">
                <a:latin typeface="Inter Regular" panose="020B0604020202020204" charset="0"/>
                <a:cs typeface="Inter Regular" panose="020B0604020202020204" charset="0"/>
              </a:rPr>
              <a:t> or contact the </a:t>
            </a:r>
            <a:r>
              <a:rPr lang="en-US" sz="1700">
                <a:latin typeface="Inter Regular" panose="020B0604020202020204" charset="0"/>
                <a:cs typeface="Inter Regular" panose="020B0604020202020204" charset="0"/>
                <a:hlinkClick r:id="rId8">
                  <a:extLst>
                    <a:ext uri="{A12FA001-AC4F-418D-AE19-62706E023703}">
                      <ahyp:hlinkClr xmlns:ahyp="http://schemas.microsoft.com/office/drawing/2018/hyperlinkcolor" val="tx"/>
                    </a:ext>
                  </a:extLst>
                </a:hlinkClick>
              </a:rPr>
              <a:t>EDGE Team</a:t>
            </a:r>
            <a:r>
              <a:rPr lang="en-US" sz="1700">
                <a:latin typeface="Inter Regular" panose="020B0604020202020204" charset="0"/>
                <a:cs typeface="Inter Regular" panose="020B0604020202020204" charset="0"/>
              </a:rPr>
              <a:t>. </a:t>
            </a:r>
          </a:p>
        </p:txBody>
      </p:sp>
      <p:grpSp>
        <p:nvGrpSpPr>
          <p:cNvPr id="61" name="Group 60">
            <a:extLst>
              <a:ext uri="{FF2B5EF4-FFF2-40B4-BE49-F238E27FC236}">
                <a16:creationId xmlns:a16="http://schemas.microsoft.com/office/drawing/2014/main" id="{1DCB33EC-F918-D4EF-A778-8C3612407001}"/>
              </a:ext>
            </a:extLst>
          </p:cNvPr>
          <p:cNvGrpSpPr/>
          <p:nvPr/>
        </p:nvGrpSpPr>
        <p:grpSpPr>
          <a:xfrm>
            <a:off x="8718108" y="5077958"/>
            <a:ext cx="2137166" cy="1207985"/>
            <a:chOff x="5303696" y="1829807"/>
            <a:chExt cx="2436102" cy="1461661"/>
          </a:xfrm>
        </p:grpSpPr>
        <p:sp>
          <p:nvSpPr>
            <p:cNvPr id="62" name="Rectangle: Rounded Corners 61">
              <a:extLst>
                <a:ext uri="{FF2B5EF4-FFF2-40B4-BE49-F238E27FC236}">
                  <a16:creationId xmlns:a16="http://schemas.microsoft.com/office/drawing/2014/main" id="{CB871D9B-7C96-CAA8-EE05-046B12BD702E}"/>
                </a:ext>
              </a:extLst>
            </p:cNvPr>
            <p:cNvSpPr/>
            <p:nvPr/>
          </p:nvSpPr>
          <p:spPr>
            <a:xfrm>
              <a:off x="5303696" y="1829807"/>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63" name="Rectangle: Rounded Corners 10">
              <a:extLst>
                <a:ext uri="{FF2B5EF4-FFF2-40B4-BE49-F238E27FC236}">
                  <a16:creationId xmlns:a16="http://schemas.microsoft.com/office/drawing/2014/main" id="{C613F546-FFC1-3566-D001-C38505D340C1}"/>
                </a:ext>
              </a:extLst>
            </p:cNvPr>
            <p:cNvSpPr txBox="1"/>
            <p:nvPr/>
          </p:nvSpPr>
          <p:spPr>
            <a:xfrm>
              <a:off x="5346507" y="1872618"/>
              <a:ext cx="2350480"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rId9">
                    <a:extLst>
                      <a:ext uri="{A12FA001-AC4F-418D-AE19-62706E023703}">
                        <ahyp:hlinkClr xmlns:ahyp="http://schemas.microsoft.com/office/drawing/2018/hyperlinkcolor" val="tx"/>
                      </a:ext>
                    </a:extLst>
                  </a:hlinkClick>
                </a:rPr>
                <a:t>EDGE Framework Training</a:t>
              </a:r>
              <a:r>
                <a:rPr lang="en-PH" i="1">
                  <a:latin typeface="Inter Regular" panose="020B0604020202020204" charset="0"/>
                  <a:cs typeface="Inter Regular" panose="020B0604020202020204" charset="0"/>
                </a:rPr>
                <a:t> </a:t>
              </a:r>
              <a:endParaRPr lang="en-US" i="1">
                <a:latin typeface="Inter Regular" panose="020B0604020202020204" charset="0"/>
                <a:cs typeface="Inter Regular" panose="020B0604020202020204" charset="0"/>
              </a:endParaRPr>
            </a:p>
          </p:txBody>
        </p:sp>
      </p:grpSp>
      <p:grpSp>
        <p:nvGrpSpPr>
          <p:cNvPr id="67" name="Group 66">
            <a:extLst>
              <a:ext uri="{FF2B5EF4-FFF2-40B4-BE49-F238E27FC236}">
                <a16:creationId xmlns:a16="http://schemas.microsoft.com/office/drawing/2014/main" id="{477D01D5-E610-1AF2-F69C-290A51648FA0}"/>
              </a:ext>
            </a:extLst>
          </p:cNvPr>
          <p:cNvGrpSpPr/>
          <p:nvPr/>
        </p:nvGrpSpPr>
        <p:grpSpPr>
          <a:xfrm>
            <a:off x="8669562" y="3390069"/>
            <a:ext cx="2137166" cy="1207985"/>
            <a:chOff x="5303696" y="2730"/>
            <a:chExt cx="2436102" cy="1461661"/>
          </a:xfrm>
        </p:grpSpPr>
        <p:sp>
          <p:nvSpPr>
            <p:cNvPr id="68" name="Rectangle: Rounded Corners 67">
              <a:extLst>
                <a:ext uri="{FF2B5EF4-FFF2-40B4-BE49-F238E27FC236}">
                  <a16:creationId xmlns:a16="http://schemas.microsoft.com/office/drawing/2014/main" id="{69596D43-EB51-86E6-6997-70CF181F5711}"/>
                </a:ext>
              </a:extLst>
            </p:cNvPr>
            <p:cNvSpPr/>
            <p:nvPr/>
          </p:nvSpPr>
          <p:spPr>
            <a:xfrm>
              <a:off x="5303696" y="2730"/>
              <a:ext cx="2436102" cy="1461661"/>
            </a:xfrm>
            <a:prstGeom prst="roundRect">
              <a:avLst>
                <a:gd name="adj" fmla="val 10000"/>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endParaRPr lang="en-DE" i="1">
                <a:latin typeface="Inter Regular" panose="020B0604020202020204" charset="0"/>
                <a:cs typeface="Inter Regular" panose="020B0604020202020204" charset="0"/>
              </a:endParaRPr>
            </a:p>
          </p:txBody>
        </p:sp>
        <p:sp>
          <p:nvSpPr>
            <p:cNvPr id="69" name="Rectangle: Rounded Corners 4">
              <a:extLst>
                <a:ext uri="{FF2B5EF4-FFF2-40B4-BE49-F238E27FC236}">
                  <a16:creationId xmlns:a16="http://schemas.microsoft.com/office/drawing/2014/main" id="{249209BE-39E3-6C21-2128-932AB3E7FEB5}"/>
                </a:ext>
              </a:extLst>
            </p:cNvPr>
            <p:cNvSpPr txBox="1"/>
            <p:nvPr/>
          </p:nvSpPr>
          <p:spPr>
            <a:xfrm>
              <a:off x="5346507" y="45541"/>
              <a:ext cx="2350480" cy="137603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algn="ctr">
                <a:spcAft>
                  <a:spcPts val="600"/>
                </a:spcAft>
                <a:defRPr sz="1600" b="1">
                  <a:solidFill>
                    <a:schemeClr val="bg1"/>
                  </a:solidFill>
                </a:defRPr>
              </a:lvl1pPr>
            </a:lstStyle>
            <a:p>
              <a:r>
                <a:rPr lang="en-PH" i="1">
                  <a:latin typeface="Inter Regular" panose="020B0604020202020204" charset="0"/>
                  <a:cs typeface="Inter Regular" panose="020B0604020202020204" charset="0"/>
                  <a:hlinkClick r:id="rId10">
                    <a:extLst>
                      <a:ext uri="{A12FA001-AC4F-418D-AE19-62706E023703}">
                        <ahyp:hlinkClr xmlns:ahyp="http://schemas.microsoft.com/office/drawing/2018/hyperlinkcolor" val="tx"/>
                      </a:ext>
                    </a:extLst>
                  </a:hlinkClick>
                </a:rPr>
                <a:t>EDGE Sessions Calendar</a:t>
              </a:r>
              <a:endParaRPr lang="en-US" i="1">
                <a:latin typeface="Inter Regular" panose="020B0604020202020204" charset="0"/>
                <a:cs typeface="Inter Regular" panose="020B0604020202020204" charset="0"/>
              </a:endParaRPr>
            </a:p>
          </p:txBody>
        </p:sp>
      </p:grpSp>
      <p:sp>
        <p:nvSpPr>
          <p:cNvPr id="71" name="Arrow: Up-Down 70">
            <a:extLst>
              <a:ext uri="{FF2B5EF4-FFF2-40B4-BE49-F238E27FC236}">
                <a16:creationId xmlns:a16="http://schemas.microsoft.com/office/drawing/2014/main" id="{E27368B9-2546-B6F5-E766-6D3CDA45226C}"/>
              </a:ext>
            </a:extLst>
          </p:cNvPr>
          <p:cNvSpPr/>
          <p:nvPr/>
        </p:nvSpPr>
        <p:spPr>
          <a:xfrm rot="16200000">
            <a:off x="10820528" y="5420836"/>
            <a:ext cx="424688" cy="615376"/>
          </a:xfrm>
          <a:prstGeom prst="upDownArrow">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rtlCol="0" anchor="ctr"/>
          <a:lstStyle/>
          <a:p>
            <a:pPr algn="ctr">
              <a:spcAft>
                <a:spcPts val="600"/>
              </a:spcAft>
            </a:pPr>
            <a:endParaRPr lang="en-DE" sz="1600" b="1" i="1">
              <a:solidFill>
                <a:schemeClr val="bg1"/>
              </a:solidFill>
              <a:latin typeface="Inter Regular" panose="020B0604020202020204" charset="0"/>
              <a:cs typeface="Inter Regular" panose="020B0604020202020204" charset="0"/>
            </a:endParaRPr>
          </a:p>
        </p:txBody>
      </p:sp>
      <p:sp>
        <p:nvSpPr>
          <p:cNvPr id="6" name="Rectangle: Rounded Corners 12">
            <a:extLst>
              <a:ext uri="{FF2B5EF4-FFF2-40B4-BE49-F238E27FC236}">
                <a16:creationId xmlns:a16="http://schemas.microsoft.com/office/drawing/2014/main" id="{CBDAA640-3DDA-3E9F-D462-380D55A5C5F4}"/>
              </a:ext>
            </a:extLst>
          </p:cNvPr>
          <p:cNvSpPr txBox="1"/>
          <p:nvPr/>
        </p:nvSpPr>
        <p:spPr>
          <a:xfrm>
            <a:off x="4227129" y="4173570"/>
            <a:ext cx="4242586" cy="38910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1"/>
          </a:lnRef>
          <a:fillRef idx="1">
            <a:schemeClr val="accent1"/>
          </a:fillRef>
          <a:effectRef idx="0">
            <a:schemeClr val="accent1"/>
          </a:effectRef>
          <a:fontRef idx="minor">
            <a:schemeClr val="lt1"/>
          </a:fontRef>
        </p:style>
        <p:txBody>
          <a:bodyPr lIns="0" rIns="0" rtlCol="0" anchor="ctr"/>
          <a:lstStyle>
            <a:defPPr>
              <a:defRPr lang="en-US"/>
            </a:defPPr>
            <a:lvl1pPr algn="ctr">
              <a:spcAft>
                <a:spcPts val="600"/>
              </a:spcAft>
              <a:defRPr sz="1600" b="1">
                <a:solidFill>
                  <a:schemeClr val="bg1"/>
                </a:solidFill>
              </a:defRPr>
            </a:lvl1pPr>
          </a:lstStyle>
          <a:p>
            <a:pPr marL="285750" indent="-285750">
              <a:buFont typeface="Wingdings" panose="05000000000000000000" pitchFamily="2" charset="2"/>
              <a:buChar char="à"/>
            </a:pPr>
            <a:r>
              <a:rPr lang="en-PH" i="1">
                <a:latin typeface="Inter Regular" panose="020B0604020202020204" charset="0"/>
                <a:cs typeface="Inter Regular" panose="020B0604020202020204" charset="0"/>
                <a:sym typeface="Wingdings" panose="05000000000000000000" pitchFamily="2" charset="2"/>
                <a:hlinkClick r:id="rId11">
                  <a:extLst>
                    <a:ext uri="{A12FA001-AC4F-418D-AE19-62706E023703}">
                      <ahyp:hlinkClr xmlns:ahyp="http://schemas.microsoft.com/office/drawing/2018/hyperlinkcolor" val="tx"/>
                    </a:ext>
                  </a:extLst>
                </a:hlinkClick>
              </a:rPr>
              <a:t>Subscribe and access the libraries</a:t>
            </a:r>
            <a:endParaRPr lang="en-PH" i="1">
              <a:latin typeface="Inter Regular" panose="020B0604020202020204" charset="0"/>
              <a:cs typeface="Inter Regular" panose="020B0604020202020204" charset="0"/>
              <a:sym typeface="Wingdings" panose="05000000000000000000" pitchFamily="2" charset="2"/>
            </a:endParaRPr>
          </a:p>
        </p:txBody>
      </p:sp>
    </p:spTree>
    <p:extLst>
      <p:ext uri="{BB962C8B-B14F-4D97-AF65-F5344CB8AC3E}">
        <p14:creationId xmlns:p14="http://schemas.microsoft.com/office/powerpoint/2010/main" val="167152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Appendix | Setup and speaking cues are in this deck</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Setup | Keep the simple comparisons ready</a:t>
            </a:r>
          </a:p>
        </p:txBody>
      </p:sp>
      <p:sp>
        <p:nvSpPr>
          <p:cNvPr id="4" name="Rounded Rectangle 3"/>
          <p:cNvSpPr/>
          <p:nvPr/>
        </p:nvSpPr>
        <p:spPr>
          <a:xfrm>
            <a:off x="594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Repository</a:t>
            </a:r>
          </a:p>
        </p:txBody>
      </p:sp>
      <p:sp>
        <p:nvSpPr>
          <p:cNvPr id="6" name="TextBox 5"/>
          <p:cNvSpPr txBox="1"/>
          <p:nvPr/>
        </p:nvSpPr>
        <p:spPr>
          <a:xfrm>
            <a:off x="795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Root deck, README, and ten workflows.</a:t>
            </a:r>
          </a:p>
          <a:p>
            <a:pPr algn="l">
              <a:spcAft>
                <a:spcPts val="800"/>
              </a:spcAft>
            </a:pPr>
            <a:r>
              <a:rPr sz="2000" b="0">
                <a:solidFill>
                  <a:srgbClr val="555B65"/>
                </a:solidFill>
                <a:latin typeface="Arial"/>
              </a:rPr>
              <a:t>Actions tab &gt; Run workflow.</a:t>
            </a:r>
          </a:p>
          <a:p>
            <a:pPr algn="l">
              <a:spcAft>
                <a:spcPts val="800"/>
              </a:spcAft>
            </a:pPr>
            <a:r>
              <a:rPr sz="2000" b="0">
                <a:solidFill>
                  <a:srgbClr val="555B65"/>
                </a:solidFill>
                <a:latin typeface="Arial"/>
              </a:rPr>
              <a:t>No helper scripts or package installs.</a:t>
            </a:r>
          </a:p>
        </p:txBody>
      </p:sp>
      <p:sp>
        <p:nvSpPr>
          <p:cNvPr id="7" name="Rounded Rectangle 6"/>
          <p:cNvSpPr/>
          <p:nvPr/>
        </p:nvSpPr>
        <p:spPr>
          <a:xfrm>
            <a:off x="5166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67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Permissions</a:t>
            </a:r>
          </a:p>
        </p:txBody>
      </p:sp>
      <p:sp>
        <p:nvSpPr>
          <p:cNvPr id="9" name="TextBox 8"/>
          <p:cNvSpPr txBox="1"/>
          <p:nvPr/>
        </p:nvSpPr>
        <p:spPr>
          <a:xfrm>
            <a:off x="5367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Demo 2: administrator sets one policy.</a:t>
            </a:r>
          </a:p>
          <a:p>
            <a:pPr algn="l">
              <a:spcAft>
                <a:spcPts val="800"/>
              </a:spcAft>
            </a:pPr>
            <a:r>
              <a:rPr sz="2000" b="0">
                <a:solidFill>
                  <a:srgbClr val="555B65"/>
                </a:solidFill>
                <a:latin typeface="Arial"/>
              </a:rPr>
              <a:t>Demo 5: demo-admin + RUNNER_READ_TOKEN.</a:t>
            </a:r>
          </a:p>
          <a:p>
            <a:pPr algn="l">
              <a:spcAft>
                <a:spcPts val="800"/>
              </a:spcAft>
            </a:pPr>
            <a:r>
              <a:rPr sz="2000" b="0">
                <a:solidFill>
                  <a:srgbClr val="555B65"/>
                </a:solidFill>
                <a:latin typeface="Arial"/>
              </a:rPr>
              <a:t>Use the default branch for rehearsal.</a:t>
            </a:r>
          </a:p>
        </p:txBody>
      </p:sp>
      <p:sp>
        <p:nvSpPr>
          <p:cNvPr id="10" name="Rounded Rectangle 9"/>
          <p:cNvSpPr/>
          <p:nvPr/>
        </p:nvSpPr>
        <p:spPr>
          <a:xfrm>
            <a:off x="9738360" y="2834640"/>
            <a:ext cx="4297680"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39528" y="3017520"/>
            <a:ext cx="3895344"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Preparation</a:t>
            </a:r>
          </a:p>
        </p:txBody>
      </p:sp>
      <p:sp>
        <p:nvSpPr>
          <p:cNvPr id="12" name="TextBox 11"/>
          <p:cNvSpPr txBox="1"/>
          <p:nvPr/>
        </p:nvSpPr>
        <p:spPr>
          <a:xfrm>
            <a:off x="9939528" y="3767328"/>
            <a:ext cx="3895344"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Demo 1: record the Before run ID.</a:t>
            </a:r>
          </a:p>
          <a:p>
            <a:pPr algn="l">
              <a:spcAft>
                <a:spcPts val="800"/>
              </a:spcAft>
            </a:pPr>
            <a:r>
              <a:rPr sz="2000" b="0">
                <a:solidFill>
                  <a:srgbClr val="555B65"/>
                </a:solidFill>
                <a:latin typeface="Arial"/>
              </a:rPr>
              <a:t>Demo 3: seed at least a day early.</a:t>
            </a:r>
          </a:p>
          <a:p>
            <a:pPr algn="l">
              <a:spcAft>
                <a:spcPts val="800"/>
              </a:spcAft>
            </a:pPr>
            <a:r>
              <a:rPr sz="2000" b="0">
                <a:solidFill>
                  <a:srgbClr val="555B65"/>
                </a:solidFill>
                <a:latin typeface="Arial"/>
              </a:rPr>
              <a:t>Demo 4: choose the rehearsal UTC day.</a:t>
            </a:r>
          </a:p>
        </p:txBody>
      </p:sp>
      <p:sp>
        <p:nvSpPr>
          <p:cNvPr id="13" name="Rounded Rectangle 12"/>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Open PowerPoint Presenter View to read the full speaking notes and demo instructions.</a:t>
            </a:r>
          </a:p>
        </p:txBody>
      </p:sp>
      <p:sp>
        <p:nvSpPr>
          <p:cNvPr id="14" name="TextBox 13"/>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94360" y="886968"/>
            <a:ext cx="13441680" cy="237744"/>
          </a:xfrm>
          <a:prstGeom prst="rect">
            <a:avLst/>
          </a:prstGeom>
          <a:noFill/>
        </p:spPr>
        <p:txBody>
          <a:bodyPr wrap="square" lIns="18288" tIns="18288" rIns="18288" bIns="18288" anchor="t">
            <a:normAutofit/>
          </a:bodyPr>
          <a:lstStyle/>
          <a:p>
            <a:pPr algn="l">
              <a:spcAft>
                <a:spcPts val="800"/>
              </a:spcAft>
            </a:pPr>
            <a:r>
              <a:rPr sz="1100" b="0">
                <a:solidFill>
                  <a:srgbClr val="555B65"/>
                </a:solidFill>
                <a:latin typeface="Arial"/>
              </a:rPr>
              <a:t>Appendix | Preserve production policies, caches, and fleets</a:t>
            </a:r>
          </a:p>
        </p:txBody>
      </p:sp>
      <p:sp>
        <p:nvSpPr>
          <p:cNvPr id="3" name="TextBox 2"/>
          <p:cNvSpPr txBox="1"/>
          <p:nvPr/>
        </p:nvSpPr>
        <p:spPr>
          <a:xfrm>
            <a:off x="484632" y="1261872"/>
            <a:ext cx="13670280" cy="987552"/>
          </a:xfrm>
          <a:prstGeom prst="rect">
            <a:avLst/>
          </a:prstGeom>
          <a:noFill/>
        </p:spPr>
        <p:txBody>
          <a:bodyPr wrap="square" lIns="18288" tIns="18288" rIns="18288" bIns="18288" anchor="t">
            <a:normAutofit/>
          </a:bodyPr>
          <a:lstStyle/>
          <a:p>
            <a:pPr algn="l">
              <a:spcAft>
                <a:spcPts val="800"/>
              </a:spcAft>
            </a:pPr>
            <a:r>
              <a:rPr sz="3200" b="1">
                <a:solidFill>
                  <a:srgbClr val="0E1022"/>
                </a:solidFill>
                <a:latin typeface="Arial"/>
              </a:rPr>
              <a:t>Cleanup | Remove only what this demonstration created</a:t>
            </a:r>
          </a:p>
        </p:txBody>
      </p:sp>
      <p:sp>
        <p:nvSpPr>
          <p:cNvPr id="4" name="Rounded Rectangle 3"/>
          <p:cNvSpPr/>
          <p:nvPr/>
        </p:nvSpPr>
        <p:spPr>
          <a:xfrm>
            <a:off x="594360" y="2834640"/>
            <a:ext cx="6583679" cy="33375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0E1022"/>
                </a:solidFill>
                <a:latin typeface="Arial"/>
              </a:rPr>
              <a:t>Explicit cleanup</a:t>
            </a:r>
          </a:p>
        </p:txBody>
      </p:sp>
      <p:sp>
        <p:nvSpPr>
          <p:cNvPr id="6" name="TextBox 5"/>
          <p:cNvSpPr txBox="1"/>
          <p:nvPr/>
        </p:nvSpPr>
        <p:spPr>
          <a:xfrm>
            <a:off x="795528"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555B65"/>
                </a:solidFill>
                <a:latin typeface="Arial"/>
              </a:rPr>
              <a:t>Delete only dxc-office-hour-demo-2 policy.</a:t>
            </a:r>
          </a:p>
          <a:p>
            <a:pPr algn="l">
              <a:spcAft>
                <a:spcPts val="800"/>
              </a:spcAft>
            </a:pPr>
            <a:r>
              <a:rPr sz="2000" b="0">
                <a:solidFill>
                  <a:srgbClr val="555B65"/>
                </a:solidFill>
                <a:latin typeface="Arial"/>
              </a:rPr>
              <a:t>Revoke the temporary runner-read token.</a:t>
            </a:r>
          </a:p>
          <a:p>
            <a:pPr algn="l">
              <a:spcAft>
                <a:spcPts val="800"/>
              </a:spcAft>
            </a:pPr>
            <a:r>
              <a:rPr sz="2000" b="0">
                <a:solidFill>
                  <a:srgbClr val="555B65"/>
                </a:solidFill>
                <a:latin typeface="Arial"/>
              </a:rPr>
              <a:t>Optionally remove specific demo cache keys.</a:t>
            </a:r>
          </a:p>
        </p:txBody>
      </p:sp>
      <p:sp>
        <p:nvSpPr>
          <p:cNvPr id="7" name="Rounded Rectangle 6"/>
          <p:cNvSpPr/>
          <p:nvPr/>
        </p:nvSpPr>
        <p:spPr>
          <a:xfrm>
            <a:off x="7452359" y="2834640"/>
            <a:ext cx="6583679" cy="3337560"/>
          </a:xfrm>
          <a:prstGeom prst="roundRect">
            <a:avLst/>
          </a:prstGeom>
          <a:solidFill>
            <a:srgbClr val="0E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53527" y="3017520"/>
            <a:ext cx="6181343" cy="530352"/>
          </a:xfrm>
          <a:prstGeom prst="rect">
            <a:avLst/>
          </a:prstGeom>
          <a:noFill/>
        </p:spPr>
        <p:txBody>
          <a:bodyPr wrap="square" lIns="18288" tIns="18288" rIns="18288" bIns="18288" anchor="t">
            <a:normAutofit/>
          </a:bodyPr>
          <a:lstStyle/>
          <a:p>
            <a:pPr algn="l">
              <a:spcAft>
                <a:spcPts val="800"/>
              </a:spcAft>
            </a:pPr>
            <a:r>
              <a:rPr sz="2300" b="1">
                <a:solidFill>
                  <a:srgbClr val="FFFFFF"/>
                </a:solidFill>
                <a:latin typeface="Arial"/>
              </a:rPr>
              <a:t>Natural lifecycle</a:t>
            </a:r>
          </a:p>
        </p:txBody>
      </p:sp>
      <p:sp>
        <p:nvSpPr>
          <p:cNvPr id="9" name="TextBox 8"/>
          <p:cNvSpPr txBox="1"/>
          <p:nvPr/>
        </p:nvSpPr>
        <p:spPr>
          <a:xfrm>
            <a:off x="7653527" y="3767328"/>
            <a:ext cx="6181343" cy="2203704"/>
          </a:xfrm>
          <a:prstGeom prst="rect">
            <a:avLst/>
          </a:prstGeom>
          <a:noFill/>
        </p:spPr>
        <p:txBody>
          <a:bodyPr wrap="square" lIns="18288" tIns="18288" rIns="18288" bIns="18288" anchor="t">
            <a:normAutofit/>
          </a:bodyPr>
          <a:lstStyle/>
          <a:p>
            <a:pPr algn="l">
              <a:spcAft>
                <a:spcPts val="800"/>
              </a:spcAft>
            </a:pPr>
            <a:r>
              <a:rPr sz="2000" b="0">
                <a:solidFill>
                  <a:srgbClr val="FFFFFF"/>
                </a:solidFill>
                <a:latin typeface="Arial"/>
              </a:rPr>
              <a:t>Do not delete the expiry target early.</a:t>
            </a:r>
          </a:p>
          <a:p>
            <a:pPr algn="l">
              <a:spcAft>
                <a:spcPts val="800"/>
              </a:spcAft>
            </a:pPr>
            <a:r>
              <a:rPr sz="2000" b="0">
                <a:solidFill>
                  <a:srgbClr val="FFFFFF"/>
                </a:solidFill>
                <a:latin typeface="Arial"/>
              </a:rPr>
              <a:t>Its receipt lasts 14 days, subject to caps.</a:t>
            </a:r>
          </a:p>
          <a:p>
            <a:pPr algn="l">
              <a:spcAft>
                <a:spcPts val="800"/>
              </a:spcAft>
            </a:pPr>
            <a:r>
              <a:rPr sz="2000" b="0">
                <a:solidFill>
                  <a:srgbClr val="FFFFFF"/>
                </a:solidFill>
                <a:latin typeface="Arial"/>
              </a:rPr>
              <a:t>Reporting and runner examples are read-only.</a:t>
            </a:r>
          </a:p>
        </p:txBody>
      </p:sp>
      <p:sp>
        <p:nvSpPr>
          <p:cNvPr id="10" name="Rounded Rectangle 9"/>
          <p:cNvSpPr/>
          <p:nvPr/>
        </p:nvSpPr>
        <p:spPr>
          <a:xfrm>
            <a:off x="594360" y="6748272"/>
            <a:ext cx="13441680" cy="5486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lIns="146304" tIns="118872" rIns="146304" bIns="118872" rtlCol="0" anchor="t">
            <a:normAutofit lnSpcReduction="10000"/>
          </a:bodyPr>
          <a:lstStyle/>
          <a:p>
            <a:pPr algn="l">
              <a:spcAft>
                <a:spcPts val="800"/>
              </a:spcAft>
            </a:pPr>
            <a:r>
              <a:rPr sz="1700" b="0">
                <a:solidFill>
                  <a:srgbClr val="0E1022"/>
                </a:solidFill>
                <a:latin typeface="Arial"/>
              </a:rPr>
              <a:t>Keep DXC Internal materials and runner reports in an appropriately restricted repository.</a:t>
            </a:r>
          </a:p>
        </p:txBody>
      </p:sp>
      <p:sp>
        <p:nvSpPr>
          <p:cNvPr id="11" name="TextBox 10"/>
          <p:cNvSpPr txBox="1"/>
          <p:nvPr/>
        </p:nvSpPr>
        <p:spPr>
          <a:xfrm>
            <a:off x="10972800" y="7406640"/>
            <a:ext cx="3063240" cy="228600"/>
          </a:xfrm>
          <a:prstGeom prst="rect">
            <a:avLst/>
          </a:prstGeom>
          <a:noFill/>
        </p:spPr>
        <p:txBody>
          <a:bodyPr wrap="square" lIns="18288" tIns="18288" rIns="18288" bIns="18288" anchor="t">
            <a:normAutofit/>
          </a:bodyPr>
          <a:lstStyle/>
          <a:p>
            <a:pPr algn="r">
              <a:spcAft>
                <a:spcPts val="800"/>
              </a:spcAft>
            </a:pPr>
            <a:r>
              <a:rPr sz="1100" b="0">
                <a:solidFill>
                  <a:srgbClr val="555B65"/>
                </a:solidFill>
                <a:latin typeface="Arial"/>
              </a:rPr>
              <a:t>Appendix</a:t>
            </a:r>
          </a:p>
        </p:txBody>
      </p:sp>
    </p:spTree>
  </p:cSld>
  <p:clrMapOvr>
    <a:masterClrMapping/>
  </p:clrMapOvr>
</p:sld>
</file>

<file path=ppt/theme/theme1.xml><?xml version="1.0" encoding="utf-8"?>
<a:theme xmlns:a="http://schemas.openxmlformats.org/drawingml/2006/main" name="DXC">
  <a:themeElements>
    <a:clrScheme name="DXC New Brand">
      <a:dk1>
        <a:srgbClr val="0E1020"/>
      </a:dk1>
      <a:lt1>
        <a:sysClr val="window" lastClr="FFFFFF"/>
      </a:lt1>
      <a:dk2>
        <a:srgbClr val="FFC982"/>
      </a:dk2>
      <a:lt2>
        <a:srgbClr val="F6F3F0"/>
      </a:lt2>
      <a:accent1>
        <a:srgbClr val="FFAE41"/>
      </a:accent1>
      <a:accent2>
        <a:srgbClr val="FF7E51"/>
      </a:accent2>
      <a:accent3>
        <a:srgbClr val="D14600"/>
      </a:accent3>
      <a:accent4>
        <a:srgbClr val="004AAC"/>
      </a:accent4>
      <a:accent5>
        <a:srgbClr val="4995FF"/>
      </a:accent5>
      <a:accent6>
        <a:srgbClr val="A1E6FF"/>
      </a:accent6>
      <a:hlink>
        <a:srgbClr val="0E1020"/>
      </a:hlink>
      <a:folHlink>
        <a:srgbClr val="0E102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latin typeface="Inter Light" panose="02000403000000020004" pitchFamily="50" charset="0"/>
            <a:ea typeface="Inter Light" panose="02000403000000020004" pitchFamily="50" charset="0"/>
            <a:cs typeface="Inter Light" panose="02000403000000020004" pitchFamily="50"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spcAft>
            <a:spcPts val="600"/>
          </a:spcAft>
          <a:defRPr sz="1600" dirty="0" smtClean="0">
            <a:latin typeface="Inter Light" panose="02000403000000020004" pitchFamily="50" charset="0"/>
            <a:ea typeface="Inter Light" panose="02000403000000020004" pitchFamily="50" charset="0"/>
            <a:cs typeface="Inter Light" panose="02000403000000020004" pitchFamily="50" charset="0"/>
          </a:defRPr>
        </a:defPPr>
      </a:lstStyle>
    </a:txDef>
  </a:objectDefaults>
  <a:extraClrSchemeLst/>
  <a:extLst>
    <a:ext uri="{05A4C25C-085E-4340-85A3-A5531E510DB2}">
      <thm15:themeFamily xmlns:thm15="http://schemas.microsoft.com/office/thememl/2012/main" name="DXC Powerpoint Template - EDGE Version Dec 2025.potx" id="{61945F86-E151-46FE-A875-B07C892BF8D7}" vid="{778ADB60-8027-4677-A601-F4F1930BE3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68e0357-5b39-4600-91c2-bfff6e896513" xsi:nil="true"/>
    <lcf76f155ced4ddcb4097134ff3c332f xmlns="45f08240-a8f6-4c12-92e3-a27e2ce9cc0c">
      <Terms xmlns="http://schemas.microsoft.com/office/infopath/2007/PartnerControls"/>
    </lcf76f155ced4ddcb4097134ff3c332f>
    <Topic xmlns="45f08240-a8f6-4c12-92e3-a27e2ce9cc0c" xsi:nil="true"/>
    <RefMaterialURL xmlns="45f08240-a8f6-4c12-92e3-a27e2ce9cc0c">
      <Url xsi:nil="true"/>
      <Description xsi:nil="true"/>
    </RefMaterial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B67C9B768FF7B40B5BEA13AB0116710" ma:contentTypeVersion="23" ma:contentTypeDescription="Create a new document." ma:contentTypeScope="" ma:versionID="ff729ae16a928d9885d0dfd4194ac92e">
  <xsd:schema xmlns:xsd="http://www.w3.org/2001/XMLSchema" xmlns:xs="http://www.w3.org/2001/XMLSchema" xmlns:p="http://schemas.microsoft.com/office/2006/metadata/properties" xmlns:ns2="45f08240-a8f6-4c12-92e3-a27e2ce9cc0c" xmlns:ns3="8e8908b5-9629-4e23-a531-2fa681483e2f" xmlns:ns4="168e0357-5b39-4600-91c2-bfff6e896513" targetNamespace="http://schemas.microsoft.com/office/2006/metadata/properties" ma:root="true" ma:fieldsID="c5bd53491f3520f9bc852f253cf636b6" ns2:_="" ns3:_="" ns4:_="">
    <xsd:import namespace="45f08240-a8f6-4c12-92e3-a27e2ce9cc0c"/>
    <xsd:import namespace="8e8908b5-9629-4e23-a531-2fa681483e2f"/>
    <xsd:import namespace="168e0357-5b39-4600-91c2-bfff6e8965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2:Topic" minOccurs="0"/>
                <xsd:element ref="ns2:lcf76f155ced4ddcb4097134ff3c332f" minOccurs="0"/>
                <xsd:element ref="ns4:TaxCatchAll" minOccurs="0"/>
                <xsd:element ref="ns2:MediaServiceObjectDetectorVersions" minOccurs="0"/>
                <xsd:element ref="ns2:MediaServiceSearchProperties" minOccurs="0"/>
                <xsd:element ref="ns2:RefMaterialUR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f08240-a8f6-4c12-92e3-a27e2ce9cc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Topic" ma:index="21" nillable="true" ma:displayName="Topic" ma:list="{4857a410-6a3d-44e2-a8d9-0b7d4c7f006a}" ma:internalName="Topic" ma:showField="Title">
      <xsd:simpleType>
        <xsd:restriction base="dms:Lookup"/>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18f211cb-e08d-4e65-a875-32590ca7bb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fMaterialURL" ma:index="27" nillable="true" ma:displayName="RefMaterialURL" ma:description="Session Presentation Deck" ma:format="Hyperlink" ma:internalName="RefMaterial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e8908b5-9629-4e23-a531-2fa681483e2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8e0357-5b39-4600-91c2-bfff6e896513"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76749bb3-364f-4c46-ac5a-3dd088b8aad4}" ma:internalName="TaxCatchAll" ma:showField="CatchAllData" ma:web="8e8908b5-9629-4e23-a531-2fa681483e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EC627E-4F52-48DC-9182-37FBD4CDB51A}">
  <ds:schemaRefs>
    <ds:schemaRef ds:uri="http://schemas.microsoft.com/office/2006/metadata/properties"/>
    <ds:schemaRef ds:uri="http://schemas.openxmlformats.org/package/2006/metadata/core-properties"/>
    <ds:schemaRef ds:uri="http://purl.org/dc/elements/1.1/"/>
    <ds:schemaRef ds:uri="168e0357-5b39-4600-91c2-bfff6e896513"/>
    <ds:schemaRef ds:uri="http://purl.org/dc/dcmitype/"/>
    <ds:schemaRef ds:uri="http://www.w3.org/XML/1998/namespace"/>
    <ds:schemaRef ds:uri="8e8908b5-9629-4e23-a531-2fa681483e2f"/>
    <ds:schemaRef ds:uri="http://schemas.microsoft.com/office/2006/documentManagement/types"/>
    <ds:schemaRef ds:uri="http://purl.org/dc/terms/"/>
    <ds:schemaRef ds:uri="http://schemas.microsoft.com/office/infopath/2007/PartnerControls"/>
    <ds:schemaRef ds:uri="45f08240-a8f6-4c12-92e3-a27e2ce9cc0c"/>
  </ds:schemaRefs>
</ds:datastoreItem>
</file>

<file path=customXml/itemProps2.xml><?xml version="1.0" encoding="utf-8"?>
<ds:datastoreItem xmlns:ds="http://schemas.openxmlformats.org/officeDocument/2006/customXml" ds:itemID="{A1873E1C-0950-409D-8C50-97DF03B1AF46}">
  <ds:schemaRefs>
    <ds:schemaRef ds:uri="168e0357-5b39-4600-91c2-bfff6e896513"/>
    <ds:schemaRef ds:uri="45f08240-a8f6-4c12-92e3-a27e2ce9cc0c"/>
    <ds:schemaRef ds:uri="8e8908b5-9629-4e23-a531-2fa681483e2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F13F52-7890-44FA-B079-813F1CB64902}">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DXC New Brand PPT Template Dec 2025 - EDGE Version</Template>
  <TotalTime>10</TotalTime>
  <Words>5906</Words>
  <Application>Microsoft Office PowerPoint</Application>
  <PresentationFormat>Custom</PresentationFormat>
  <Paragraphs>407</Paragraphs>
  <Slides>25</Slides>
  <Notes>24</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Consolas</vt:lpstr>
      <vt:lpstr>GT Standard L Extended</vt:lpstr>
      <vt:lpstr>Inter</vt:lpstr>
      <vt:lpstr>Inter Bold</vt:lpstr>
      <vt:lpstr>Inter Light</vt:lpstr>
      <vt:lpstr>Inter Medium</vt:lpstr>
      <vt:lpstr>Inter Regular</vt:lpstr>
      <vt:lpstr>Inter SemiBold</vt:lpstr>
      <vt:lpstr>Wingdings</vt:lpstr>
      <vt:lpstr>DXC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Additional information sources on EDGE and its content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DXC GitHub Actions Office Hour</dc:title>
  <dc:subject>Simple before/after workflows | 50-minute presentation and 10-minute Q&amp;A</dc:subject>
  <dc:creator>DXC GitHub Actions Office Hour</dc:creator>
  <cp:keywords/>
  <dc:description/>
  <cp:lastModifiedBy>Sean Dorsett</cp:lastModifiedBy>
  <cp:revision>3</cp:revision>
  <dcterms:created xsi:type="dcterms:W3CDTF">2024-10-15T11:25:31Z</dcterms:created>
  <dcterms:modified xsi:type="dcterms:W3CDTF">2026-10-13T02:10:46Z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94ae5-69af-439d-af88-cb521c31c0c5_Enabled">
    <vt:lpwstr>true</vt:lpwstr>
  </property>
  <property fmtid="{D5CDD505-2E9C-101B-9397-08002B2CF9AE}" pid="3" name="MSIP_Label_15394ae5-69af-439d-af88-cb521c31c0c5_SetDate">
    <vt:lpwstr>2024-03-07T16:54:23Z</vt:lpwstr>
  </property>
  <property fmtid="{D5CDD505-2E9C-101B-9397-08002B2CF9AE}" pid="4" name="MSIP_Label_15394ae5-69af-439d-af88-cb521c31c0c5_Method">
    <vt:lpwstr>Privileged</vt:lpwstr>
  </property>
  <property fmtid="{D5CDD505-2E9C-101B-9397-08002B2CF9AE}" pid="5" name="MSIP_Label_15394ae5-69af-439d-af88-cb521c31c0c5_Name">
    <vt:lpwstr>DXC Internal</vt:lpwstr>
  </property>
  <property fmtid="{D5CDD505-2E9C-101B-9397-08002B2CF9AE}" pid="6" name="MSIP_Label_15394ae5-69af-439d-af88-cb521c31c0c5_SiteId">
    <vt:lpwstr>93f33571-550f-43cf-b09f-cd331338d086</vt:lpwstr>
  </property>
  <property fmtid="{D5CDD505-2E9C-101B-9397-08002B2CF9AE}" pid="7" name="MSIP_Label_15394ae5-69af-439d-af88-cb521c31c0c5_ActionId">
    <vt:lpwstr>3fce2177-fe14-4b00-8482-061a0c70a587</vt:lpwstr>
  </property>
  <property fmtid="{D5CDD505-2E9C-101B-9397-08002B2CF9AE}" pid="8" name="MSIP_Label_15394ae5-69af-439d-af88-cb521c31c0c5_ContentBits">
    <vt:lpwstr>0</vt:lpwstr>
  </property>
  <property fmtid="{D5CDD505-2E9C-101B-9397-08002B2CF9AE}" pid="9" name="ContentTypeId">
    <vt:lpwstr>0x010100CB67C9B768FF7B40B5BEA13AB0116710</vt:lpwstr>
  </property>
  <property fmtid="{D5CDD505-2E9C-101B-9397-08002B2CF9AE}" pid="10" name="MediaServiceImageTags">
    <vt:lpwstr/>
  </property>
</Properties>
</file>